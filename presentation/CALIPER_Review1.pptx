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ogo" descr="PES University - Logo 2.png"/>
          <p:cNvPicPr>
            <a:picLocks noChangeAspect="1"/>
          </p:cNvPicPr>
          <p:nvPr/>
        </p:nvPicPr>
        <p:blipFill>
          <a:blip r:embed="rId2"/>
          <a:stretch>
            <a:fillRect/>
          </a:stretch>
        </p:blipFill>
        <p:spPr>
          <a:xfrm>
            <a:off x="10533888" y="146304"/>
            <a:ext cx="1298448" cy="591337"/>
          </a:xfrm>
          <a:prstGeom prst="rect">
            <a:avLst/>
          </a:prstGeom>
        </p:spPr>
      </p:pic>
      <p:sp>
        <p:nvSpPr>
          <p:cNvPr id="3" name="course"/>
          <p:cNvSpPr txBox="1"/>
          <p:nvPr/>
        </p:nvSpPr>
        <p:spPr>
          <a:xfrm>
            <a:off x="822960" y="658368"/>
            <a:ext cx="9418320" cy="548640"/>
          </a:xfrm>
          <a:prstGeom prst="rect">
            <a:avLst/>
          </a:prstGeom>
          <a:noFill/>
        </p:spPr>
        <p:txBody>
          <a:bodyPr wrap="square" lIns="0" rIns="0" tIns="0" bIns="0" anchor="t">
            <a:spAutoFit/>
          </a:bodyPr>
          <a:lstStyle/>
          <a:p>
            <a:pPr algn="ctr">
              <a:lnSpc>
                <a:spcPct val="100000"/>
              </a:lnSpc>
            </a:pPr>
            <a:r>
              <a:rPr sz="2600" b="1" i="0">
                <a:solidFill>
                  <a:srgbClr val="1A1A1A"/>
                </a:solidFill>
                <a:latin typeface="Calibri"/>
              </a:rPr>
              <a:t>UE23CS320A – Capstone Project Approval</a:t>
            </a:r>
          </a:p>
        </p:txBody>
      </p:sp>
      <p:sp>
        <p:nvSpPr>
          <p:cNvPr id="4" name="Rectangle 3"/>
          <p:cNvSpPr/>
          <p:nvPr/>
        </p:nvSpPr>
        <p:spPr>
          <a:xfrm>
            <a:off x="822960" y="1389888"/>
            <a:ext cx="10515600" cy="7315"/>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17320" y="2103120"/>
            <a:ext cx="2103120" cy="365760"/>
          </a:xfrm>
          <a:prstGeom prst="rect">
            <a:avLst/>
          </a:prstGeom>
          <a:noFill/>
        </p:spPr>
        <p:txBody>
          <a:bodyPr wrap="square" lIns="0" rIns="0" tIns="0" bIns="0" anchor="t">
            <a:spAutoFit/>
          </a:bodyPr>
          <a:lstStyle/>
          <a:p>
            <a:pPr algn="l">
              <a:lnSpc>
                <a:spcPct val="100000"/>
              </a:lnSpc>
            </a:pPr>
            <a:r>
              <a:rPr sz="1900" b="0" i="0">
                <a:solidFill>
                  <a:srgbClr val="BD582B"/>
                </a:solidFill>
                <a:latin typeface="Calibri"/>
              </a:rPr>
              <a:t>Project Title</a:t>
            </a:r>
          </a:p>
        </p:txBody>
      </p:sp>
      <p:sp>
        <p:nvSpPr>
          <p:cNvPr id="6" name="TextBox 5"/>
          <p:cNvSpPr txBox="1"/>
          <p:nvPr/>
        </p:nvSpPr>
        <p:spPr>
          <a:xfrm>
            <a:off x="3429000" y="2103120"/>
            <a:ext cx="182880" cy="365760"/>
          </a:xfrm>
          <a:prstGeom prst="rect">
            <a:avLst/>
          </a:prstGeom>
          <a:noFill/>
        </p:spPr>
        <p:txBody>
          <a:bodyPr wrap="square" lIns="0" rIns="0" tIns="0" bIns="0" anchor="t">
            <a:spAutoFit/>
          </a:bodyPr>
          <a:lstStyle/>
          <a:p>
            <a:pPr algn="l">
              <a:lnSpc>
                <a:spcPct val="100000"/>
              </a:lnSpc>
            </a:pPr>
            <a:r>
              <a:rPr sz="1900" b="0" i="0">
                <a:solidFill>
                  <a:srgbClr val="1A1A1A"/>
                </a:solidFill>
                <a:latin typeface="Calibri"/>
              </a:rPr>
              <a:t>:</a:t>
            </a:r>
          </a:p>
        </p:txBody>
      </p:sp>
      <p:sp>
        <p:nvSpPr>
          <p:cNvPr id="7" name="TextBox 6"/>
          <p:cNvSpPr txBox="1"/>
          <p:nvPr/>
        </p:nvSpPr>
        <p:spPr>
          <a:xfrm>
            <a:off x="3703320" y="2103120"/>
            <a:ext cx="7498079" cy="731520"/>
          </a:xfrm>
          <a:prstGeom prst="rect">
            <a:avLst/>
          </a:prstGeom>
          <a:noFill/>
        </p:spPr>
        <p:txBody>
          <a:bodyPr wrap="square" lIns="0" rIns="0" tIns="0" bIns="0" anchor="t">
            <a:spAutoFit/>
          </a:bodyPr>
          <a:lstStyle/>
          <a:p>
            <a:pPr algn="l">
              <a:lnSpc>
                <a:spcPct val="100000"/>
              </a:lnSpc>
            </a:pPr>
            <a:r>
              <a:rPr sz="1900" b="0" i="0">
                <a:solidFill>
                  <a:srgbClr val="1A1A1A"/>
                </a:solidFill>
                <a:latin typeface="Calibri"/>
              </a:rPr>
              <a:t>CALIPER: Calibrating Interpretability Readouts for Language Models</a:t>
            </a:r>
          </a:p>
        </p:txBody>
      </p:sp>
      <p:sp>
        <p:nvSpPr>
          <p:cNvPr id="8" name="TextBox 7"/>
          <p:cNvSpPr txBox="1"/>
          <p:nvPr/>
        </p:nvSpPr>
        <p:spPr>
          <a:xfrm>
            <a:off x="1417320" y="2971800"/>
            <a:ext cx="2103120" cy="365760"/>
          </a:xfrm>
          <a:prstGeom prst="rect">
            <a:avLst/>
          </a:prstGeom>
          <a:noFill/>
        </p:spPr>
        <p:txBody>
          <a:bodyPr wrap="square" lIns="0" rIns="0" tIns="0" bIns="0" anchor="t">
            <a:spAutoFit/>
          </a:bodyPr>
          <a:lstStyle/>
          <a:p>
            <a:pPr algn="l">
              <a:lnSpc>
                <a:spcPct val="100000"/>
              </a:lnSpc>
            </a:pPr>
            <a:r>
              <a:rPr sz="1900" b="0" i="0">
                <a:solidFill>
                  <a:srgbClr val="BD582B"/>
                </a:solidFill>
                <a:latin typeface="Calibri"/>
              </a:rPr>
              <a:t>Project ID</a:t>
            </a:r>
          </a:p>
        </p:txBody>
      </p:sp>
      <p:sp>
        <p:nvSpPr>
          <p:cNvPr id="9" name="TextBox 8"/>
          <p:cNvSpPr txBox="1"/>
          <p:nvPr/>
        </p:nvSpPr>
        <p:spPr>
          <a:xfrm>
            <a:off x="3429000" y="2971800"/>
            <a:ext cx="182880" cy="365760"/>
          </a:xfrm>
          <a:prstGeom prst="rect">
            <a:avLst/>
          </a:prstGeom>
          <a:noFill/>
        </p:spPr>
        <p:txBody>
          <a:bodyPr wrap="square" lIns="0" rIns="0" tIns="0" bIns="0" anchor="t">
            <a:spAutoFit/>
          </a:bodyPr>
          <a:lstStyle/>
          <a:p>
            <a:pPr algn="l">
              <a:lnSpc>
                <a:spcPct val="100000"/>
              </a:lnSpc>
            </a:pPr>
            <a:r>
              <a:rPr sz="1900" b="0" i="0">
                <a:solidFill>
                  <a:srgbClr val="1A1A1A"/>
                </a:solidFill>
                <a:latin typeface="Calibri"/>
              </a:rPr>
              <a:t>:</a:t>
            </a:r>
          </a:p>
        </p:txBody>
      </p:sp>
      <p:sp>
        <p:nvSpPr>
          <p:cNvPr id="10" name="TextBox 9"/>
          <p:cNvSpPr txBox="1"/>
          <p:nvPr/>
        </p:nvSpPr>
        <p:spPr>
          <a:xfrm>
            <a:off x="3703320" y="2971800"/>
            <a:ext cx="7498079" cy="731520"/>
          </a:xfrm>
          <a:prstGeom prst="rect">
            <a:avLst/>
          </a:prstGeom>
          <a:noFill/>
        </p:spPr>
        <p:txBody>
          <a:bodyPr wrap="square" lIns="0" rIns="0" tIns="0" bIns="0" anchor="t">
            <a:spAutoFit/>
          </a:bodyPr>
          <a:lstStyle/>
          <a:p>
            <a:pPr algn="l">
              <a:lnSpc>
                <a:spcPct val="100000"/>
              </a:lnSpc>
            </a:pPr>
            <a:r>
              <a:rPr sz="1900" b="0" i="0">
                <a:solidFill>
                  <a:srgbClr val="1A1A1A"/>
                </a:solidFill>
                <a:latin typeface="Calibri"/>
              </a:rPr>
              <a:t>[PROJECT ID]</a:t>
            </a:r>
          </a:p>
        </p:txBody>
      </p:sp>
      <p:sp>
        <p:nvSpPr>
          <p:cNvPr id="11" name="TextBox 10"/>
          <p:cNvSpPr txBox="1"/>
          <p:nvPr/>
        </p:nvSpPr>
        <p:spPr>
          <a:xfrm>
            <a:off x="1417320" y="3538728"/>
            <a:ext cx="2103120" cy="365760"/>
          </a:xfrm>
          <a:prstGeom prst="rect">
            <a:avLst/>
          </a:prstGeom>
          <a:noFill/>
        </p:spPr>
        <p:txBody>
          <a:bodyPr wrap="square" lIns="0" rIns="0" tIns="0" bIns="0" anchor="t">
            <a:spAutoFit/>
          </a:bodyPr>
          <a:lstStyle/>
          <a:p>
            <a:pPr algn="l">
              <a:lnSpc>
                <a:spcPct val="100000"/>
              </a:lnSpc>
            </a:pPr>
            <a:r>
              <a:rPr sz="1900" b="0" i="0">
                <a:solidFill>
                  <a:srgbClr val="BD582B"/>
                </a:solidFill>
                <a:latin typeface="Calibri"/>
              </a:rPr>
              <a:t>Project Guide</a:t>
            </a:r>
          </a:p>
        </p:txBody>
      </p:sp>
      <p:sp>
        <p:nvSpPr>
          <p:cNvPr id="12" name="TextBox 11"/>
          <p:cNvSpPr txBox="1"/>
          <p:nvPr/>
        </p:nvSpPr>
        <p:spPr>
          <a:xfrm>
            <a:off x="3429000" y="3538728"/>
            <a:ext cx="182880" cy="365760"/>
          </a:xfrm>
          <a:prstGeom prst="rect">
            <a:avLst/>
          </a:prstGeom>
          <a:noFill/>
        </p:spPr>
        <p:txBody>
          <a:bodyPr wrap="square" lIns="0" rIns="0" tIns="0" bIns="0" anchor="t">
            <a:spAutoFit/>
          </a:bodyPr>
          <a:lstStyle/>
          <a:p>
            <a:pPr algn="l">
              <a:lnSpc>
                <a:spcPct val="100000"/>
              </a:lnSpc>
            </a:pPr>
            <a:r>
              <a:rPr sz="1900" b="0" i="0">
                <a:solidFill>
                  <a:srgbClr val="1A1A1A"/>
                </a:solidFill>
                <a:latin typeface="Calibri"/>
              </a:rPr>
              <a:t>:</a:t>
            </a:r>
          </a:p>
        </p:txBody>
      </p:sp>
      <p:sp>
        <p:nvSpPr>
          <p:cNvPr id="13" name="TextBox 12"/>
          <p:cNvSpPr txBox="1"/>
          <p:nvPr/>
        </p:nvSpPr>
        <p:spPr>
          <a:xfrm>
            <a:off x="3703320" y="3538728"/>
            <a:ext cx="7498079" cy="731520"/>
          </a:xfrm>
          <a:prstGeom prst="rect">
            <a:avLst/>
          </a:prstGeom>
          <a:noFill/>
        </p:spPr>
        <p:txBody>
          <a:bodyPr wrap="square" lIns="0" rIns="0" tIns="0" bIns="0" anchor="t">
            <a:spAutoFit/>
          </a:bodyPr>
          <a:lstStyle/>
          <a:p>
            <a:pPr algn="l">
              <a:lnSpc>
                <a:spcPct val="100000"/>
              </a:lnSpc>
            </a:pPr>
            <a:r>
              <a:rPr sz="1900" b="0" i="0">
                <a:solidFill>
                  <a:srgbClr val="1A1A1A"/>
                </a:solidFill>
                <a:latin typeface="Calibri"/>
              </a:rPr>
              <a:t>[GUIDE NAME]</a:t>
            </a:r>
          </a:p>
        </p:txBody>
      </p:sp>
      <p:sp>
        <p:nvSpPr>
          <p:cNvPr id="14" name="TextBox 13"/>
          <p:cNvSpPr txBox="1"/>
          <p:nvPr/>
        </p:nvSpPr>
        <p:spPr>
          <a:xfrm>
            <a:off x="1417320" y="4151376"/>
            <a:ext cx="2103120" cy="365760"/>
          </a:xfrm>
          <a:prstGeom prst="rect">
            <a:avLst/>
          </a:prstGeom>
          <a:noFill/>
        </p:spPr>
        <p:txBody>
          <a:bodyPr wrap="square" lIns="0" rIns="0" tIns="0" bIns="0" anchor="t">
            <a:spAutoFit/>
          </a:bodyPr>
          <a:lstStyle/>
          <a:p>
            <a:pPr algn="l">
              <a:lnSpc>
                <a:spcPct val="100000"/>
              </a:lnSpc>
            </a:pPr>
            <a:r>
              <a:rPr sz="1900" b="0" i="0">
                <a:solidFill>
                  <a:srgbClr val="BD582B"/>
                </a:solidFill>
                <a:latin typeface="Calibri"/>
              </a:rPr>
              <a:t>Project Team</a:t>
            </a:r>
          </a:p>
        </p:txBody>
      </p:sp>
      <p:sp>
        <p:nvSpPr>
          <p:cNvPr id="15" name="TextBox 14"/>
          <p:cNvSpPr txBox="1"/>
          <p:nvPr/>
        </p:nvSpPr>
        <p:spPr>
          <a:xfrm>
            <a:off x="3429000" y="4151376"/>
            <a:ext cx="182880" cy="365760"/>
          </a:xfrm>
          <a:prstGeom prst="rect">
            <a:avLst/>
          </a:prstGeom>
          <a:noFill/>
        </p:spPr>
        <p:txBody>
          <a:bodyPr wrap="square" lIns="0" rIns="0" tIns="0" bIns="0" anchor="t">
            <a:spAutoFit/>
          </a:bodyPr>
          <a:lstStyle/>
          <a:p>
            <a:pPr algn="l">
              <a:lnSpc>
                <a:spcPct val="100000"/>
              </a:lnSpc>
            </a:pPr>
            <a:r>
              <a:rPr sz="1900" b="0" i="0">
                <a:solidFill>
                  <a:srgbClr val="1A1A1A"/>
                </a:solidFill>
                <a:latin typeface="Calibri"/>
              </a:rPr>
              <a:t>:</a:t>
            </a:r>
          </a:p>
        </p:txBody>
      </p:sp>
      <p:sp>
        <p:nvSpPr>
          <p:cNvPr id="16" name="TextBox 15"/>
          <p:cNvSpPr txBox="1"/>
          <p:nvPr/>
        </p:nvSpPr>
        <p:spPr>
          <a:xfrm>
            <a:off x="3703320" y="4151376"/>
            <a:ext cx="4572000" cy="310896"/>
          </a:xfrm>
          <a:prstGeom prst="rect">
            <a:avLst/>
          </a:prstGeom>
          <a:noFill/>
        </p:spPr>
        <p:txBody>
          <a:bodyPr wrap="square" lIns="0" rIns="0" tIns="0" bIns="0" anchor="t">
            <a:spAutoFit/>
          </a:bodyPr>
          <a:lstStyle/>
          <a:p>
            <a:pPr algn="l">
              <a:lnSpc>
                <a:spcPct val="100000"/>
              </a:lnSpc>
            </a:pPr>
            <a:r>
              <a:rPr sz="1600" b="0" i="0">
                <a:solidFill>
                  <a:srgbClr val="1A1A1A"/>
                </a:solidFill>
                <a:latin typeface="Calibri"/>
              </a:rPr>
              <a:t>SANTOSH CHEETHIRALA</a:t>
            </a:r>
          </a:p>
        </p:txBody>
      </p:sp>
      <p:sp>
        <p:nvSpPr>
          <p:cNvPr id="17" name="TextBox 16"/>
          <p:cNvSpPr txBox="1"/>
          <p:nvPr/>
        </p:nvSpPr>
        <p:spPr>
          <a:xfrm>
            <a:off x="7863840" y="4151376"/>
            <a:ext cx="2377440" cy="310896"/>
          </a:xfrm>
          <a:prstGeom prst="rect">
            <a:avLst/>
          </a:prstGeom>
          <a:noFill/>
        </p:spPr>
        <p:txBody>
          <a:bodyPr wrap="square" lIns="0" rIns="0" tIns="0" bIns="0" anchor="t">
            <a:spAutoFit/>
          </a:bodyPr>
          <a:lstStyle/>
          <a:p>
            <a:pPr algn="l">
              <a:lnSpc>
                <a:spcPct val="100000"/>
              </a:lnSpc>
            </a:pPr>
            <a:r>
              <a:rPr sz="1300" b="0" i="0">
                <a:solidFill>
                  <a:srgbClr val="7F7F7F"/>
                </a:solidFill>
                <a:latin typeface="Calibri"/>
              </a:rPr>
              <a:t>PES1UG24CS127</a:t>
            </a:r>
          </a:p>
        </p:txBody>
      </p:sp>
      <p:sp>
        <p:nvSpPr>
          <p:cNvPr id="18" name="TextBox 17"/>
          <p:cNvSpPr txBox="1"/>
          <p:nvPr/>
        </p:nvSpPr>
        <p:spPr>
          <a:xfrm>
            <a:off x="3703320" y="4480560"/>
            <a:ext cx="4572000" cy="310896"/>
          </a:xfrm>
          <a:prstGeom prst="rect">
            <a:avLst/>
          </a:prstGeom>
          <a:noFill/>
        </p:spPr>
        <p:txBody>
          <a:bodyPr wrap="square" lIns="0" rIns="0" tIns="0" bIns="0" anchor="t">
            <a:spAutoFit/>
          </a:bodyPr>
          <a:lstStyle/>
          <a:p>
            <a:pPr algn="l">
              <a:lnSpc>
                <a:spcPct val="100000"/>
              </a:lnSpc>
            </a:pPr>
            <a:r>
              <a:rPr sz="1600" b="0" i="0">
                <a:solidFill>
                  <a:srgbClr val="1A1A1A"/>
                </a:solidFill>
                <a:latin typeface="Calibri"/>
              </a:rPr>
              <a:t>NIVAS REDDY DANDU</a:t>
            </a:r>
          </a:p>
        </p:txBody>
      </p:sp>
      <p:sp>
        <p:nvSpPr>
          <p:cNvPr id="19" name="TextBox 18"/>
          <p:cNvSpPr txBox="1"/>
          <p:nvPr/>
        </p:nvSpPr>
        <p:spPr>
          <a:xfrm>
            <a:off x="7863840" y="4480560"/>
            <a:ext cx="2377440" cy="310896"/>
          </a:xfrm>
          <a:prstGeom prst="rect">
            <a:avLst/>
          </a:prstGeom>
          <a:noFill/>
        </p:spPr>
        <p:txBody>
          <a:bodyPr wrap="square" lIns="0" rIns="0" tIns="0" bIns="0" anchor="t">
            <a:spAutoFit/>
          </a:bodyPr>
          <a:lstStyle/>
          <a:p>
            <a:pPr algn="l">
              <a:lnSpc>
                <a:spcPct val="100000"/>
              </a:lnSpc>
            </a:pPr>
            <a:r>
              <a:rPr sz="1300" b="0" i="0">
                <a:solidFill>
                  <a:srgbClr val="7F7F7F"/>
                </a:solidFill>
                <a:latin typeface="Calibri"/>
              </a:rPr>
              <a:t>PES1UG24AM075</a:t>
            </a:r>
          </a:p>
        </p:txBody>
      </p:sp>
      <p:sp>
        <p:nvSpPr>
          <p:cNvPr id="20" name="TextBox 19"/>
          <p:cNvSpPr txBox="1"/>
          <p:nvPr/>
        </p:nvSpPr>
        <p:spPr>
          <a:xfrm>
            <a:off x="3703320" y="4809744"/>
            <a:ext cx="4572000" cy="310896"/>
          </a:xfrm>
          <a:prstGeom prst="rect">
            <a:avLst/>
          </a:prstGeom>
          <a:noFill/>
        </p:spPr>
        <p:txBody>
          <a:bodyPr wrap="square" lIns="0" rIns="0" tIns="0" bIns="0" anchor="t">
            <a:spAutoFit/>
          </a:bodyPr>
          <a:lstStyle/>
          <a:p>
            <a:pPr algn="l">
              <a:lnSpc>
                <a:spcPct val="100000"/>
              </a:lnSpc>
            </a:pPr>
            <a:r>
              <a:rPr sz="1600" b="0" i="0">
                <a:solidFill>
                  <a:srgbClr val="1A1A1A"/>
                </a:solidFill>
                <a:latin typeface="Calibri"/>
              </a:rPr>
              <a:t>C. SREE KRISHNA KOUSHIK</a:t>
            </a:r>
          </a:p>
        </p:txBody>
      </p:sp>
      <p:sp>
        <p:nvSpPr>
          <p:cNvPr id="21" name="TextBox 20"/>
          <p:cNvSpPr txBox="1"/>
          <p:nvPr/>
        </p:nvSpPr>
        <p:spPr>
          <a:xfrm>
            <a:off x="7863840" y="4809744"/>
            <a:ext cx="2377440" cy="310896"/>
          </a:xfrm>
          <a:prstGeom prst="rect">
            <a:avLst/>
          </a:prstGeom>
          <a:noFill/>
        </p:spPr>
        <p:txBody>
          <a:bodyPr wrap="square" lIns="0" rIns="0" tIns="0" bIns="0" anchor="t">
            <a:spAutoFit/>
          </a:bodyPr>
          <a:lstStyle/>
          <a:p>
            <a:pPr algn="l">
              <a:lnSpc>
                <a:spcPct val="100000"/>
              </a:lnSpc>
            </a:pPr>
            <a:r>
              <a:rPr sz="1300" b="0" i="0">
                <a:solidFill>
                  <a:srgbClr val="7F7F7F"/>
                </a:solidFill>
                <a:latin typeface="Calibri"/>
              </a:rPr>
              <a:t>PES1UG24CS128</a:t>
            </a:r>
          </a:p>
        </p:txBody>
      </p:sp>
      <p:sp>
        <p:nvSpPr>
          <p:cNvPr id="22" name="TextBox 21"/>
          <p:cNvSpPr txBox="1"/>
          <p:nvPr/>
        </p:nvSpPr>
        <p:spPr>
          <a:xfrm>
            <a:off x="3703320" y="5138928"/>
            <a:ext cx="4572000" cy="310896"/>
          </a:xfrm>
          <a:prstGeom prst="rect">
            <a:avLst/>
          </a:prstGeom>
          <a:noFill/>
        </p:spPr>
        <p:txBody>
          <a:bodyPr wrap="square" lIns="0" rIns="0" tIns="0" bIns="0" anchor="t">
            <a:spAutoFit/>
          </a:bodyPr>
          <a:lstStyle/>
          <a:p>
            <a:pPr algn="l">
              <a:lnSpc>
                <a:spcPct val="100000"/>
              </a:lnSpc>
            </a:pPr>
            <a:r>
              <a:rPr sz="1600" b="0" i="0">
                <a:solidFill>
                  <a:srgbClr val="1A1A1A"/>
                </a:solidFill>
                <a:latin typeface="Calibri"/>
              </a:rPr>
              <a:t>MARREDDY RUSHI ESWAR REDDY</a:t>
            </a:r>
          </a:p>
        </p:txBody>
      </p:sp>
      <p:sp>
        <p:nvSpPr>
          <p:cNvPr id="23" name="TextBox 22"/>
          <p:cNvSpPr txBox="1"/>
          <p:nvPr/>
        </p:nvSpPr>
        <p:spPr>
          <a:xfrm>
            <a:off x="7863840" y="5138928"/>
            <a:ext cx="2377440" cy="310896"/>
          </a:xfrm>
          <a:prstGeom prst="rect">
            <a:avLst/>
          </a:prstGeom>
          <a:noFill/>
        </p:spPr>
        <p:txBody>
          <a:bodyPr wrap="square" lIns="0" rIns="0" tIns="0" bIns="0" anchor="t">
            <a:spAutoFit/>
          </a:bodyPr>
          <a:lstStyle/>
          <a:p>
            <a:pPr algn="l">
              <a:lnSpc>
                <a:spcPct val="100000"/>
              </a:lnSpc>
            </a:pPr>
            <a:r>
              <a:rPr sz="1300" b="0" i="0">
                <a:solidFill>
                  <a:srgbClr val="7F7F7F"/>
                </a:solidFill>
                <a:latin typeface="Calibri"/>
              </a:rPr>
              <a:t>PES1UG24AM158</a:t>
            </a:r>
          </a:p>
        </p:txBody>
      </p:sp>
      <p:sp>
        <p:nvSpPr>
          <p:cNvPr id="24" name="Rectangle 23"/>
          <p:cNvSpPr/>
          <p:nvPr/>
        </p:nvSpPr>
        <p:spPr>
          <a:xfrm>
            <a:off x="0" y="6528816"/>
            <a:ext cx="12191695" cy="329184"/>
          </a:xfrm>
          <a:prstGeom prst="rect">
            <a:avLst/>
          </a:prstGeom>
          <a:solidFill>
            <a:srgbClr val="BD5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0" y="6620255"/>
            <a:ext cx="12191695" cy="201168"/>
          </a:xfrm>
          <a:prstGeom prst="rect">
            <a:avLst/>
          </a:prstGeom>
          <a:noFill/>
        </p:spPr>
        <p:txBody>
          <a:bodyPr wrap="square" lIns="0" rIns="0" tIns="0" bIns="0" anchor="t">
            <a:spAutoFit/>
          </a:bodyPr>
          <a:lstStyle/>
          <a:p>
            <a:pPr algn="ctr">
              <a:lnSpc>
                <a:spcPct val="100000"/>
              </a:lnSpc>
            </a:pPr>
            <a:r>
              <a:rPr sz="800" b="0" i="0">
                <a:solidFill>
                  <a:srgbClr val="FFFFFF"/>
                </a:solidFill>
                <a:latin typeface="Calibri"/>
              </a:rPr>
              <a:t>Department of Computer Science and Engineering  ·  PES University</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ogo" descr="PES University - Logo 2.png"/>
          <p:cNvPicPr>
            <a:picLocks noChangeAspect="1"/>
          </p:cNvPicPr>
          <p:nvPr/>
        </p:nvPicPr>
        <p:blipFill>
          <a:blip r:embed="rId2"/>
          <a:stretch>
            <a:fillRect/>
          </a:stretch>
        </p:blipFill>
        <p:spPr>
          <a:xfrm>
            <a:off x="10533888" y="146304"/>
            <a:ext cx="1298448" cy="591337"/>
          </a:xfrm>
          <a:prstGeom prst="rect">
            <a:avLst/>
          </a:prstGeom>
        </p:spPr>
      </p:pic>
      <p:sp>
        <p:nvSpPr>
          <p:cNvPr id="3" name="runhead"/>
          <p:cNvSpPr txBox="1"/>
          <p:nvPr/>
        </p:nvSpPr>
        <p:spPr>
          <a:xfrm>
            <a:off x="411480" y="237744"/>
            <a:ext cx="6858000" cy="274320"/>
          </a:xfrm>
          <a:prstGeom prst="rect">
            <a:avLst/>
          </a:prstGeom>
          <a:noFill/>
        </p:spPr>
        <p:txBody>
          <a:bodyPr wrap="square" lIns="0" rIns="0" tIns="0" bIns="0" anchor="t">
            <a:spAutoFit/>
          </a:bodyPr>
          <a:lstStyle/>
          <a:p>
            <a:pPr algn="l">
              <a:lnSpc>
                <a:spcPct val="100000"/>
              </a:lnSpc>
            </a:pPr>
            <a:r>
              <a:rPr sz="1050" b="1" i="0">
                <a:solidFill>
                  <a:srgbClr val="7F7F7F"/>
                </a:solidFill>
                <a:latin typeface="Calibri"/>
              </a:rPr>
              <a:t>CALIPER: Calibrating Interpretability Readouts for Language Models</a:t>
            </a:r>
          </a:p>
        </p:txBody>
      </p:sp>
      <p:sp>
        <p:nvSpPr>
          <p:cNvPr id="4" name="heading"/>
          <p:cNvSpPr txBox="1"/>
          <p:nvPr/>
        </p:nvSpPr>
        <p:spPr>
          <a:xfrm>
            <a:off x="2926080" y="868680"/>
            <a:ext cx="7452360" cy="502920"/>
          </a:xfrm>
          <a:prstGeom prst="rect">
            <a:avLst/>
          </a:prstGeom>
          <a:noFill/>
        </p:spPr>
        <p:txBody>
          <a:bodyPr wrap="square" lIns="0" rIns="0" tIns="0" bIns="0" anchor="t">
            <a:spAutoFit/>
          </a:bodyPr>
          <a:lstStyle/>
          <a:p>
            <a:pPr algn="r">
              <a:lnSpc>
                <a:spcPct val="100000"/>
              </a:lnSpc>
            </a:pPr>
            <a:r>
              <a:rPr sz="2700" b="0" i="0">
                <a:solidFill>
                  <a:srgbClr val="1A1A1A"/>
                </a:solidFill>
                <a:latin typeface="Calibri"/>
              </a:rPr>
              <a:t>Outline</a:t>
            </a:r>
          </a:p>
        </p:txBody>
      </p:sp>
      <p:sp>
        <p:nvSpPr>
          <p:cNvPr id="5" name="tealrule"/>
          <p:cNvSpPr/>
          <p:nvPr/>
        </p:nvSpPr>
        <p:spPr>
          <a:xfrm>
            <a:off x="3017520" y="1517904"/>
            <a:ext cx="7360920" cy="41148"/>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airline"/>
          <p:cNvSpPr/>
          <p:nvPr/>
        </p:nvSpPr>
        <p:spPr>
          <a:xfrm>
            <a:off x="411480" y="1664208"/>
            <a:ext cx="11018520" cy="7315"/>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band"/>
          <p:cNvSpPr/>
          <p:nvPr/>
        </p:nvSpPr>
        <p:spPr>
          <a:xfrm>
            <a:off x="0" y="6528816"/>
            <a:ext cx="12191695" cy="329184"/>
          </a:xfrm>
          <a:prstGeom prst="rect">
            <a:avLst/>
          </a:prstGeom>
          <a:solidFill>
            <a:srgbClr val="BD5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text"/>
          <p:cNvSpPr txBox="1"/>
          <p:nvPr/>
        </p:nvSpPr>
        <p:spPr>
          <a:xfrm>
            <a:off x="0" y="6620255"/>
            <a:ext cx="12191695" cy="201168"/>
          </a:xfrm>
          <a:prstGeom prst="rect">
            <a:avLst/>
          </a:prstGeom>
          <a:noFill/>
        </p:spPr>
        <p:txBody>
          <a:bodyPr wrap="square" lIns="0" rIns="0" tIns="0" bIns="0" anchor="t">
            <a:spAutoFit/>
          </a:bodyPr>
          <a:lstStyle/>
          <a:p>
            <a:pPr algn="ctr">
              <a:lnSpc>
                <a:spcPct val="100000"/>
              </a:lnSpc>
            </a:pPr>
            <a:r>
              <a:rPr sz="800" b="0" i="0">
                <a:solidFill>
                  <a:srgbClr val="FFFFFF"/>
                </a:solidFill>
                <a:latin typeface="Calibri"/>
              </a:rPr>
              <a:t>SANTOSH CHEETHIRALA_NIVAS REDDY DANDU_C. SREE KRISHNA KOUSHIK_MARREDDY RUSHI ESWAR REDDY</a:t>
            </a:r>
          </a:p>
        </p:txBody>
      </p:sp>
      <p:sp>
        <p:nvSpPr>
          <p:cNvPr id="9" name="num0"/>
          <p:cNvSpPr txBox="1"/>
          <p:nvPr/>
        </p:nvSpPr>
        <p:spPr>
          <a:xfrm>
            <a:off x="2788920" y="2039112"/>
            <a:ext cx="457200" cy="365760"/>
          </a:xfrm>
          <a:prstGeom prst="rect">
            <a:avLst/>
          </a:prstGeom>
          <a:noFill/>
        </p:spPr>
        <p:txBody>
          <a:bodyPr wrap="square" lIns="0" rIns="0" tIns="0" bIns="0" anchor="t">
            <a:spAutoFit/>
          </a:bodyPr>
          <a:lstStyle/>
          <a:p>
            <a:pPr algn="l">
              <a:lnSpc>
                <a:spcPct val="100000"/>
              </a:lnSpc>
            </a:pPr>
            <a:r>
              <a:rPr sz="1600" b="1" i="0">
                <a:solidFill>
                  <a:srgbClr val="33CCCC"/>
                </a:solidFill>
                <a:latin typeface="Calibri"/>
              </a:rPr>
              <a:t>01</a:t>
            </a:r>
          </a:p>
        </p:txBody>
      </p:sp>
      <p:sp>
        <p:nvSpPr>
          <p:cNvPr id="10" name="item0"/>
          <p:cNvSpPr txBox="1"/>
          <p:nvPr/>
        </p:nvSpPr>
        <p:spPr>
          <a:xfrm>
            <a:off x="3429000" y="2039112"/>
            <a:ext cx="6400800" cy="365760"/>
          </a:xfrm>
          <a:prstGeom prst="rect">
            <a:avLst/>
          </a:prstGeom>
          <a:noFill/>
        </p:spPr>
        <p:txBody>
          <a:bodyPr wrap="square" lIns="0" rIns="0" tIns="0" bIns="0" anchor="t">
            <a:spAutoFit/>
          </a:bodyPr>
          <a:lstStyle/>
          <a:p>
            <a:pPr algn="l">
              <a:lnSpc>
                <a:spcPct val="100000"/>
              </a:lnSpc>
            </a:pPr>
            <a:r>
              <a:rPr sz="1800" b="0" i="0">
                <a:solidFill>
                  <a:srgbClr val="1A1A1A"/>
                </a:solidFill>
                <a:latin typeface="Calibri"/>
              </a:rPr>
              <a:t>Introduction</a:t>
            </a:r>
          </a:p>
        </p:txBody>
      </p:sp>
      <p:sp>
        <p:nvSpPr>
          <p:cNvPr id="11" name="num1"/>
          <p:cNvSpPr txBox="1"/>
          <p:nvPr/>
        </p:nvSpPr>
        <p:spPr>
          <a:xfrm>
            <a:off x="2788920" y="2551176"/>
            <a:ext cx="457200" cy="365760"/>
          </a:xfrm>
          <a:prstGeom prst="rect">
            <a:avLst/>
          </a:prstGeom>
          <a:noFill/>
        </p:spPr>
        <p:txBody>
          <a:bodyPr wrap="square" lIns="0" rIns="0" tIns="0" bIns="0" anchor="t">
            <a:spAutoFit/>
          </a:bodyPr>
          <a:lstStyle/>
          <a:p>
            <a:pPr algn="l">
              <a:lnSpc>
                <a:spcPct val="100000"/>
              </a:lnSpc>
            </a:pPr>
            <a:r>
              <a:rPr sz="1600" b="1" i="0">
                <a:solidFill>
                  <a:srgbClr val="33CCCC"/>
                </a:solidFill>
                <a:latin typeface="Calibri"/>
              </a:rPr>
              <a:t>02</a:t>
            </a:r>
          </a:p>
        </p:txBody>
      </p:sp>
      <p:sp>
        <p:nvSpPr>
          <p:cNvPr id="12" name="item1"/>
          <p:cNvSpPr txBox="1"/>
          <p:nvPr/>
        </p:nvSpPr>
        <p:spPr>
          <a:xfrm>
            <a:off x="3429000" y="2551176"/>
            <a:ext cx="6400800" cy="365760"/>
          </a:xfrm>
          <a:prstGeom prst="rect">
            <a:avLst/>
          </a:prstGeom>
          <a:noFill/>
        </p:spPr>
        <p:txBody>
          <a:bodyPr wrap="square" lIns="0" rIns="0" tIns="0" bIns="0" anchor="t">
            <a:spAutoFit/>
          </a:bodyPr>
          <a:lstStyle/>
          <a:p>
            <a:pPr algn="l">
              <a:lnSpc>
                <a:spcPct val="100000"/>
              </a:lnSpc>
            </a:pPr>
            <a:r>
              <a:rPr sz="1800" b="0" i="0">
                <a:solidFill>
                  <a:srgbClr val="1A1A1A"/>
                </a:solidFill>
                <a:latin typeface="Calibri"/>
              </a:rPr>
              <a:t>Problem Statement</a:t>
            </a:r>
          </a:p>
        </p:txBody>
      </p:sp>
      <p:sp>
        <p:nvSpPr>
          <p:cNvPr id="13" name="num2"/>
          <p:cNvSpPr txBox="1"/>
          <p:nvPr/>
        </p:nvSpPr>
        <p:spPr>
          <a:xfrm>
            <a:off x="2788920" y="3063240"/>
            <a:ext cx="457200" cy="365760"/>
          </a:xfrm>
          <a:prstGeom prst="rect">
            <a:avLst/>
          </a:prstGeom>
          <a:noFill/>
        </p:spPr>
        <p:txBody>
          <a:bodyPr wrap="square" lIns="0" rIns="0" tIns="0" bIns="0" anchor="t">
            <a:spAutoFit/>
          </a:bodyPr>
          <a:lstStyle/>
          <a:p>
            <a:pPr algn="l">
              <a:lnSpc>
                <a:spcPct val="100000"/>
              </a:lnSpc>
            </a:pPr>
            <a:r>
              <a:rPr sz="1600" b="1" i="0">
                <a:solidFill>
                  <a:srgbClr val="33CCCC"/>
                </a:solidFill>
                <a:latin typeface="Calibri"/>
              </a:rPr>
              <a:t>03</a:t>
            </a:r>
          </a:p>
        </p:txBody>
      </p:sp>
      <p:sp>
        <p:nvSpPr>
          <p:cNvPr id="14" name="item2"/>
          <p:cNvSpPr txBox="1"/>
          <p:nvPr/>
        </p:nvSpPr>
        <p:spPr>
          <a:xfrm>
            <a:off x="3429000" y="3063240"/>
            <a:ext cx="6400800" cy="365760"/>
          </a:xfrm>
          <a:prstGeom prst="rect">
            <a:avLst/>
          </a:prstGeom>
          <a:noFill/>
        </p:spPr>
        <p:txBody>
          <a:bodyPr wrap="square" lIns="0" rIns="0" tIns="0" bIns="0" anchor="t">
            <a:spAutoFit/>
          </a:bodyPr>
          <a:lstStyle/>
          <a:p>
            <a:pPr algn="l">
              <a:lnSpc>
                <a:spcPct val="100000"/>
              </a:lnSpc>
            </a:pPr>
            <a:r>
              <a:rPr sz="1800" b="0" i="0">
                <a:solidFill>
                  <a:srgbClr val="1A1A1A"/>
                </a:solidFill>
                <a:latin typeface="Calibri"/>
              </a:rPr>
              <a:t>Work Flow</a:t>
            </a:r>
          </a:p>
        </p:txBody>
      </p:sp>
      <p:sp>
        <p:nvSpPr>
          <p:cNvPr id="15" name="num3"/>
          <p:cNvSpPr txBox="1"/>
          <p:nvPr/>
        </p:nvSpPr>
        <p:spPr>
          <a:xfrm>
            <a:off x="2788920" y="3575304"/>
            <a:ext cx="457200" cy="365760"/>
          </a:xfrm>
          <a:prstGeom prst="rect">
            <a:avLst/>
          </a:prstGeom>
          <a:noFill/>
        </p:spPr>
        <p:txBody>
          <a:bodyPr wrap="square" lIns="0" rIns="0" tIns="0" bIns="0" anchor="t">
            <a:spAutoFit/>
          </a:bodyPr>
          <a:lstStyle/>
          <a:p>
            <a:pPr algn="l">
              <a:lnSpc>
                <a:spcPct val="100000"/>
              </a:lnSpc>
            </a:pPr>
            <a:r>
              <a:rPr sz="1600" b="1" i="0">
                <a:solidFill>
                  <a:srgbClr val="33CCCC"/>
                </a:solidFill>
                <a:latin typeface="Calibri"/>
              </a:rPr>
              <a:t>04</a:t>
            </a:r>
          </a:p>
        </p:txBody>
      </p:sp>
      <p:sp>
        <p:nvSpPr>
          <p:cNvPr id="16" name="item3"/>
          <p:cNvSpPr txBox="1"/>
          <p:nvPr/>
        </p:nvSpPr>
        <p:spPr>
          <a:xfrm>
            <a:off x="3429000" y="3575304"/>
            <a:ext cx="6400800" cy="365760"/>
          </a:xfrm>
          <a:prstGeom prst="rect">
            <a:avLst/>
          </a:prstGeom>
          <a:noFill/>
        </p:spPr>
        <p:txBody>
          <a:bodyPr wrap="square" lIns="0" rIns="0" tIns="0" bIns="0" anchor="t">
            <a:spAutoFit/>
          </a:bodyPr>
          <a:lstStyle/>
          <a:p>
            <a:pPr algn="l">
              <a:lnSpc>
                <a:spcPct val="100000"/>
              </a:lnSpc>
            </a:pPr>
            <a:r>
              <a:rPr sz="1800" b="0" i="0">
                <a:solidFill>
                  <a:srgbClr val="1A1A1A"/>
                </a:solidFill>
                <a:latin typeface="Calibri"/>
              </a:rPr>
              <a:t>Scope and Feasibility study</a:t>
            </a:r>
          </a:p>
        </p:txBody>
      </p:sp>
      <p:sp>
        <p:nvSpPr>
          <p:cNvPr id="17" name="num4"/>
          <p:cNvSpPr txBox="1"/>
          <p:nvPr/>
        </p:nvSpPr>
        <p:spPr>
          <a:xfrm>
            <a:off x="2788920" y="4087368"/>
            <a:ext cx="457200" cy="365760"/>
          </a:xfrm>
          <a:prstGeom prst="rect">
            <a:avLst/>
          </a:prstGeom>
          <a:noFill/>
        </p:spPr>
        <p:txBody>
          <a:bodyPr wrap="square" lIns="0" rIns="0" tIns="0" bIns="0" anchor="t">
            <a:spAutoFit/>
          </a:bodyPr>
          <a:lstStyle/>
          <a:p>
            <a:pPr algn="l">
              <a:lnSpc>
                <a:spcPct val="100000"/>
              </a:lnSpc>
            </a:pPr>
            <a:r>
              <a:rPr sz="1600" b="1" i="0">
                <a:solidFill>
                  <a:srgbClr val="33CCCC"/>
                </a:solidFill>
                <a:latin typeface="Calibri"/>
              </a:rPr>
              <a:t>05</a:t>
            </a:r>
          </a:p>
        </p:txBody>
      </p:sp>
      <p:sp>
        <p:nvSpPr>
          <p:cNvPr id="18" name="item4"/>
          <p:cNvSpPr txBox="1"/>
          <p:nvPr/>
        </p:nvSpPr>
        <p:spPr>
          <a:xfrm>
            <a:off x="3429000" y="4087368"/>
            <a:ext cx="6400800" cy="365760"/>
          </a:xfrm>
          <a:prstGeom prst="rect">
            <a:avLst/>
          </a:prstGeom>
          <a:noFill/>
        </p:spPr>
        <p:txBody>
          <a:bodyPr wrap="square" lIns="0" rIns="0" tIns="0" bIns="0" anchor="t">
            <a:spAutoFit/>
          </a:bodyPr>
          <a:lstStyle/>
          <a:p>
            <a:pPr algn="l">
              <a:lnSpc>
                <a:spcPct val="100000"/>
              </a:lnSpc>
            </a:pPr>
            <a:r>
              <a:rPr sz="1800" b="0" i="0">
                <a:solidFill>
                  <a:srgbClr val="1A1A1A"/>
                </a:solidFill>
                <a:latin typeface="Calibri"/>
              </a:rPr>
              <a:t>Applications / Use cases</a:t>
            </a:r>
          </a:p>
        </p:txBody>
      </p:sp>
      <p:sp>
        <p:nvSpPr>
          <p:cNvPr id="19" name="num5"/>
          <p:cNvSpPr txBox="1"/>
          <p:nvPr/>
        </p:nvSpPr>
        <p:spPr>
          <a:xfrm>
            <a:off x="2788920" y="4599432"/>
            <a:ext cx="457200" cy="365760"/>
          </a:xfrm>
          <a:prstGeom prst="rect">
            <a:avLst/>
          </a:prstGeom>
          <a:noFill/>
        </p:spPr>
        <p:txBody>
          <a:bodyPr wrap="square" lIns="0" rIns="0" tIns="0" bIns="0" anchor="t">
            <a:spAutoFit/>
          </a:bodyPr>
          <a:lstStyle/>
          <a:p>
            <a:pPr algn="l">
              <a:lnSpc>
                <a:spcPct val="100000"/>
              </a:lnSpc>
            </a:pPr>
            <a:r>
              <a:rPr sz="1600" b="1" i="0">
                <a:solidFill>
                  <a:srgbClr val="33CCCC"/>
                </a:solidFill>
                <a:latin typeface="Calibri"/>
              </a:rPr>
              <a:t>06</a:t>
            </a:r>
          </a:p>
        </p:txBody>
      </p:sp>
      <p:sp>
        <p:nvSpPr>
          <p:cNvPr id="20" name="item5"/>
          <p:cNvSpPr txBox="1"/>
          <p:nvPr/>
        </p:nvSpPr>
        <p:spPr>
          <a:xfrm>
            <a:off x="3429000" y="4599432"/>
            <a:ext cx="6400800" cy="365760"/>
          </a:xfrm>
          <a:prstGeom prst="rect">
            <a:avLst/>
          </a:prstGeom>
          <a:noFill/>
        </p:spPr>
        <p:txBody>
          <a:bodyPr wrap="square" lIns="0" rIns="0" tIns="0" bIns="0" anchor="t">
            <a:spAutoFit/>
          </a:bodyPr>
          <a:lstStyle/>
          <a:p>
            <a:pPr algn="l">
              <a:lnSpc>
                <a:spcPct val="100000"/>
              </a:lnSpc>
            </a:pPr>
            <a:r>
              <a:rPr sz="1800" b="0" i="0">
                <a:solidFill>
                  <a:srgbClr val="1A1A1A"/>
                </a:solidFill>
                <a:latin typeface="Calibri"/>
              </a:rPr>
              <a:t>Background Study</a:t>
            </a:r>
          </a:p>
        </p:txBody>
      </p:sp>
      <p:sp>
        <p:nvSpPr>
          <p:cNvPr id="21" name="num6"/>
          <p:cNvSpPr txBox="1"/>
          <p:nvPr/>
        </p:nvSpPr>
        <p:spPr>
          <a:xfrm>
            <a:off x="2788920" y="5111496"/>
            <a:ext cx="457200" cy="365760"/>
          </a:xfrm>
          <a:prstGeom prst="rect">
            <a:avLst/>
          </a:prstGeom>
          <a:noFill/>
        </p:spPr>
        <p:txBody>
          <a:bodyPr wrap="square" lIns="0" rIns="0" tIns="0" bIns="0" anchor="t">
            <a:spAutoFit/>
          </a:bodyPr>
          <a:lstStyle/>
          <a:p>
            <a:pPr algn="l">
              <a:lnSpc>
                <a:spcPct val="100000"/>
              </a:lnSpc>
            </a:pPr>
            <a:r>
              <a:rPr sz="1600" b="1" i="0">
                <a:solidFill>
                  <a:srgbClr val="33CCCC"/>
                </a:solidFill>
                <a:latin typeface="Calibri"/>
              </a:rPr>
              <a:t>07</a:t>
            </a:r>
          </a:p>
        </p:txBody>
      </p:sp>
      <p:sp>
        <p:nvSpPr>
          <p:cNvPr id="22" name="item6"/>
          <p:cNvSpPr txBox="1"/>
          <p:nvPr/>
        </p:nvSpPr>
        <p:spPr>
          <a:xfrm>
            <a:off x="3429000" y="5111496"/>
            <a:ext cx="6400800" cy="365760"/>
          </a:xfrm>
          <a:prstGeom prst="rect">
            <a:avLst/>
          </a:prstGeom>
          <a:noFill/>
        </p:spPr>
        <p:txBody>
          <a:bodyPr wrap="square" lIns="0" rIns="0" tIns="0" bIns="0" anchor="t">
            <a:spAutoFit/>
          </a:bodyPr>
          <a:lstStyle/>
          <a:p>
            <a:pPr algn="l">
              <a:lnSpc>
                <a:spcPct val="100000"/>
              </a:lnSpc>
            </a:pPr>
            <a:r>
              <a:rPr sz="1800" b="0" i="0">
                <a:solidFill>
                  <a:srgbClr val="1A1A1A"/>
                </a:solidFill>
                <a:latin typeface="Calibri"/>
              </a:rPr>
              <a:t>Project Timeline and Team Effort Plan</a:t>
            </a:r>
          </a:p>
        </p:txBody>
      </p:sp>
      <p:sp>
        <p:nvSpPr>
          <p:cNvPr id="23" name="num7"/>
          <p:cNvSpPr txBox="1"/>
          <p:nvPr/>
        </p:nvSpPr>
        <p:spPr>
          <a:xfrm>
            <a:off x="2788920" y="5623560"/>
            <a:ext cx="457200" cy="365760"/>
          </a:xfrm>
          <a:prstGeom prst="rect">
            <a:avLst/>
          </a:prstGeom>
          <a:noFill/>
        </p:spPr>
        <p:txBody>
          <a:bodyPr wrap="square" lIns="0" rIns="0" tIns="0" bIns="0" anchor="t">
            <a:spAutoFit/>
          </a:bodyPr>
          <a:lstStyle/>
          <a:p>
            <a:pPr algn="l">
              <a:lnSpc>
                <a:spcPct val="100000"/>
              </a:lnSpc>
            </a:pPr>
            <a:r>
              <a:rPr sz="1600" b="1" i="0">
                <a:solidFill>
                  <a:srgbClr val="33CCCC"/>
                </a:solidFill>
                <a:latin typeface="Calibri"/>
              </a:rPr>
              <a:t>08</a:t>
            </a:r>
          </a:p>
        </p:txBody>
      </p:sp>
      <p:sp>
        <p:nvSpPr>
          <p:cNvPr id="24" name="item7"/>
          <p:cNvSpPr txBox="1"/>
          <p:nvPr/>
        </p:nvSpPr>
        <p:spPr>
          <a:xfrm>
            <a:off x="3429000" y="5623560"/>
            <a:ext cx="6400800" cy="365760"/>
          </a:xfrm>
          <a:prstGeom prst="rect">
            <a:avLst/>
          </a:prstGeom>
          <a:noFill/>
        </p:spPr>
        <p:txBody>
          <a:bodyPr wrap="square" lIns="0" rIns="0" tIns="0" bIns="0" anchor="t">
            <a:spAutoFit/>
          </a:bodyPr>
          <a:lstStyle/>
          <a:p>
            <a:pPr algn="l">
              <a:lnSpc>
                <a:spcPct val="100000"/>
              </a:lnSpc>
            </a:pPr>
            <a:r>
              <a:rPr sz="1800" b="0" i="0">
                <a:solidFill>
                  <a:srgbClr val="1A1A1A"/>
                </a:solidFill>
                <a:latin typeface="Calibri"/>
              </a:rPr>
              <a:t>References</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3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3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3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300"/>
                                        <p:tgtEl>
                                          <p:spTgt spid="12"/>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300"/>
                                        <p:tgtEl>
                                          <p:spTgt spid="1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3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3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300"/>
                                        <p:tgtEl>
                                          <p:spTgt spid="16"/>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300"/>
                                        <p:tgtEl>
                                          <p:spTgt spid="1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300"/>
                                        <p:tgtEl>
                                          <p:spTgt spid="18"/>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300"/>
                                        <p:tgtEl>
                                          <p:spTgt spid="1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300"/>
                                        <p:tgtEl>
                                          <p:spTgt spid="20"/>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300"/>
                                        <p:tgtEl>
                                          <p:spTgt spid="21"/>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300"/>
                                        <p:tgtEl>
                                          <p:spTgt spid="22"/>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300"/>
                                        <p:tgtEl>
                                          <p:spTgt spid="23"/>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3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ogo" descr="PES University - Logo 2.png"/>
          <p:cNvPicPr>
            <a:picLocks noChangeAspect="1"/>
          </p:cNvPicPr>
          <p:nvPr/>
        </p:nvPicPr>
        <p:blipFill>
          <a:blip r:embed="rId2"/>
          <a:stretch>
            <a:fillRect/>
          </a:stretch>
        </p:blipFill>
        <p:spPr>
          <a:xfrm>
            <a:off x="10533888" y="146304"/>
            <a:ext cx="1298448" cy="591337"/>
          </a:xfrm>
          <a:prstGeom prst="rect">
            <a:avLst/>
          </a:prstGeom>
        </p:spPr>
      </p:pic>
      <p:sp>
        <p:nvSpPr>
          <p:cNvPr id="3" name="runhead"/>
          <p:cNvSpPr txBox="1"/>
          <p:nvPr/>
        </p:nvSpPr>
        <p:spPr>
          <a:xfrm>
            <a:off x="411480" y="237744"/>
            <a:ext cx="6858000" cy="274320"/>
          </a:xfrm>
          <a:prstGeom prst="rect">
            <a:avLst/>
          </a:prstGeom>
          <a:noFill/>
        </p:spPr>
        <p:txBody>
          <a:bodyPr wrap="square" lIns="0" rIns="0" tIns="0" bIns="0" anchor="t">
            <a:spAutoFit/>
          </a:bodyPr>
          <a:lstStyle/>
          <a:p>
            <a:pPr algn="l">
              <a:lnSpc>
                <a:spcPct val="100000"/>
              </a:lnSpc>
            </a:pPr>
            <a:r>
              <a:rPr sz="1050" b="1" i="0">
                <a:solidFill>
                  <a:srgbClr val="7F7F7F"/>
                </a:solidFill>
                <a:latin typeface="Calibri"/>
              </a:rPr>
              <a:t>CALIPER: Calibrating Interpretability Readouts for Language Models</a:t>
            </a:r>
          </a:p>
        </p:txBody>
      </p:sp>
      <p:sp>
        <p:nvSpPr>
          <p:cNvPr id="4" name="heading"/>
          <p:cNvSpPr txBox="1"/>
          <p:nvPr/>
        </p:nvSpPr>
        <p:spPr>
          <a:xfrm>
            <a:off x="2926080" y="868680"/>
            <a:ext cx="7452360" cy="502920"/>
          </a:xfrm>
          <a:prstGeom prst="rect">
            <a:avLst/>
          </a:prstGeom>
          <a:noFill/>
        </p:spPr>
        <p:txBody>
          <a:bodyPr wrap="square" lIns="0" rIns="0" tIns="0" bIns="0" anchor="t">
            <a:spAutoFit/>
          </a:bodyPr>
          <a:lstStyle/>
          <a:p>
            <a:pPr algn="r">
              <a:lnSpc>
                <a:spcPct val="100000"/>
              </a:lnSpc>
            </a:pPr>
            <a:r>
              <a:rPr sz="2700" b="0" i="0">
                <a:solidFill>
                  <a:srgbClr val="1A1A1A"/>
                </a:solidFill>
                <a:latin typeface="Calibri"/>
              </a:rPr>
              <a:t>Introduction</a:t>
            </a:r>
          </a:p>
        </p:txBody>
      </p:sp>
      <p:sp>
        <p:nvSpPr>
          <p:cNvPr id="5" name="tealrule"/>
          <p:cNvSpPr/>
          <p:nvPr/>
        </p:nvSpPr>
        <p:spPr>
          <a:xfrm>
            <a:off x="3017520" y="1517904"/>
            <a:ext cx="7360920" cy="41148"/>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airline"/>
          <p:cNvSpPr/>
          <p:nvPr/>
        </p:nvSpPr>
        <p:spPr>
          <a:xfrm>
            <a:off x="411480" y="1664208"/>
            <a:ext cx="11018520" cy="7315"/>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band"/>
          <p:cNvSpPr/>
          <p:nvPr/>
        </p:nvSpPr>
        <p:spPr>
          <a:xfrm>
            <a:off x="0" y="6528816"/>
            <a:ext cx="12191695" cy="329184"/>
          </a:xfrm>
          <a:prstGeom prst="rect">
            <a:avLst/>
          </a:prstGeom>
          <a:solidFill>
            <a:srgbClr val="BD5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text"/>
          <p:cNvSpPr txBox="1"/>
          <p:nvPr/>
        </p:nvSpPr>
        <p:spPr>
          <a:xfrm>
            <a:off x="0" y="6620255"/>
            <a:ext cx="12191695" cy="201168"/>
          </a:xfrm>
          <a:prstGeom prst="rect">
            <a:avLst/>
          </a:prstGeom>
          <a:noFill/>
        </p:spPr>
        <p:txBody>
          <a:bodyPr wrap="square" lIns="0" rIns="0" tIns="0" bIns="0" anchor="t">
            <a:spAutoFit/>
          </a:bodyPr>
          <a:lstStyle/>
          <a:p>
            <a:pPr algn="ctr">
              <a:lnSpc>
                <a:spcPct val="100000"/>
              </a:lnSpc>
            </a:pPr>
            <a:r>
              <a:rPr sz="800" b="0" i="0">
                <a:solidFill>
                  <a:srgbClr val="FFFFFF"/>
                </a:solidFill>
                <a:latin typeface="Calibri"/>
              </a:rPr>
              <a:t>SANTOSH CHEETHIRALA_NIVAS REDDY DANDU_C. SREE KRISHNA KOUSHIK_MARREDDY RUSHI ESWAR REDDY</a:t>
            </a:r>
          </a:p>
        </p:txBody>
      </p:sp>
      <p:sp>
        <p:nvSpPr>
          <p:cNvPr id="9" name="bul0"/>
          <p:cNvSpPr txBox="1"/>
          <p:nvPr/>
        </p:nvSpPr>
        <p:spPr>
          <a:xfrm>
            <a:off x="1115568" y="1901952"/>
            <a:ext cx="10222992" cy="274320"/>
          </a:xfrm>
          <a:prstGeom prst="rect">
            <a:avLst/>
          </a:prstGeom>
          <a:noFill/>
        </p:spPr>
        <p:txBody>
          <a:bodyPr wrap="square" lIns="0" rIns="0" tIns="0" bIns="0" anchor="t">
            <a:spAutoFit/>
          </a:bodyPr>
          <a:lstStyle/>
          <a:p>
            <a:pPr algn="l">
              <a:lnSpc>
                <a:spcPct val="118000"/>
              </a:lnSpc>
            </a:pPr>
            <a:r>
              <a:rPr sz="1700" b="0" i="0">
                <a:solidFill>
                  <a:srgbClr val="1A1A1A"/>
                </a:solidFill>
                <a:latin typeface="Calibri"/>
              </a:rPr>
              <a:t>A language model is made of billions of numbers. Almost none of them have a known meaning.</a:t>
            </a:r>
          </a:p>
        </p:txBody>
      </p:sp>
      <p:sp>
        <p:nvSpPr>
          <p:cNvPr id="10" name="dot0"/>
          <p:cNvSpPr txBox="1"/>
          <p:nvPr/>
        </p:nvSpPr>
        <p:spPr>
          <a:xfrm>
            <a:off x="822960" y="1920240"/>
            <a:ext cx="274320" cy="274320"/>
          </a:xfrm>
          <a:prstGeom prst="rect">
            <a:avLst/>
          </a:prstGeom>
          <a:noFill/>
        </p:spPr>
        <p:txBody>
          <a:bodyPr wrap="square" lIns="0" rIns="0" tIns="0" bIns="0" anchor="t">
            <a:spAutoFit/>
          </a:bodyPr>
          <a:lstStyle/>
          <a:p>
            <a:pPr algn="l">
              <a:lnSpc>
                <a:spcPct val="100000"/>
              </a:lnSpc>
            </a:pPr>
            <a:r>
              <a:rPr sz="1700" b="1" i="0">
                <a:solidFill>
                  <a:srgbClr val="BD582B"/>
                </a:solidFill>
                <a:latin typeface="Calibri"/>
              </a:rPr>
              <a:t>•</a:t>
            </a:r>
          </a:p>
        </p:txBody>
      </p:sp>
      <p:sp>
        <p:nvSpPr>
          <p:cNvPr id="11" name="bul1"/>
          <p:cNvSpPr txBox="1"/>
          <p:nvPr/>
        </p:nvSpPr>
        <p:spPr>
          <a:xfrm>
            <a:off x="1115568" y="2267712"/>
            <a:ext cx="10222992" cy="822959"/>
          </a:xfrm>
          <a:prstGeom prst="rect">
            <a:avLst/>
          </a:prstGeom>
          <a:noFill/>
        </p:spPr>
        <p:txBody>
          <a:bodyPr wrap="square" lIns="0" rIns="0" tIns="0" bIns="0" anchor="t">
            <a:spAutoFit/>
          </a:bodyPr>
          <a:lstStyle/>
          <a:p>
            <a:pPr algn="l">
              <a:lnSpc>
                <a:spcPct val="118000"/>
              </a:lnSpc>
            </a:pPr>
            <a:r>
              <a:rPr sz="1700" b="0" i="0">
                <a:solidFill>
                  <a:srgbClr val="1A1A1A"/>
                </a:solidFill>
                <a:latin typeface="Calibri"/>
              </a:rPr>
              <a:t>Interpretability is the field that tries to read those numbers — to say “this unit responds to X”, “this direction is the model’s honesty trait”, “the model can report on its own internal state”.</a:t>
            </a:r>
          </a:p>
        </p:txBody>
      </p:sp>
      <p:sp>
        <p:nvSpPr>
          <p:cNvPr id="12" name="dot1"/>
          <p:cNvSpPr txBox="1"/>
          <p:nvPr/>
        </p:nvSpPr>
        <p:spPr>
          <a:xfrm>
            <a:off x="822960" y="2286000"/>
            <a:ext cx="274320" cy="274320"/>
          </a:xfrm>
          <a:prstGeom prst="rect">
            <a:avLst/>
          </a:prstGeom>
          <a:noFill/>
        </p:spPr>
        <p:txBody>
          <a:bodyPr wrap="square" lIns="0" rIns="0" tIns="0" bIns="0" anchor="t">
            <a:spAutoFit/>
          </a:bodyPr>
          <a:lstStyle/>
          <a:p>
            <a:pPr algn="l">
              <a:lnSpc>
                <a:spcPct val="100000"/>
              </a:lnSpc>
            </a:pPr>
            <a:r>
              <a:rPr sz="1700" b="1" i="0">
                <a:solidFill>
                  <a:srgbClr val="BD582B"/>
                </a:solidFill>
                <a:latin typeface="Calibri"/>
              </a:rPr>
              <a:t>•</a:t>
            </a:r>
          </a:p>
        </p:txBody>
      </p:sp>
      <p:sp>
        <p:nvSpPr>
          <p:cNvPr id="13" name="bul2"/>
          <p:cNvSpPr txBox="1"/>
          <p:nvPr/>
        </p:nvSpPr>
        <p:spPr>
          <a:xfrm>
            <a:off x="1115568" y="3182112"/>
            <a:ext cx="10222992" cy="274320"/>
          </a:xfrm>
          <a:prstGeom prst="rect">
            <a:avLst/>
          </a:prstGeom>
          <a:noFill/>
        </p:spPr>
        <p:txBody>
          <a:bodyPr wrap="square" lIns="0" rIns="0" tIns="0" bIns="0" anchor="t">
            <a:spAutoFit/>
          </a:bodyPr>
          <a:lstStyle/>
          <a:p>
            <a:pPr algn="l">
              <a:lnSpc>
                <a:spcPct val="118000"/>
              </a:lnSpc>
            </a:pPr>
            <a:r>
              <a:rPr sz="1700" b="0" i="0">
                <a:solidFill>
                  <a:srgbClr val="1A1A1A"/>
                </a:solidFill>
                <a:latin typeface="Calibri"/>
              </a:rPr>
              <a:t>Every one of those is a reading, produced by an instrument.</a:t>
            </a:r>
          </a:p>
        </p:txBody>
      </p:sp>
      <p:sp>
        <p:nvSpPr>
          <p:cNvPr id="14" name="dot2"/>
          <p:cNvSpPr txBox="1"/>
          <p:nvPr/>
        </p:nvSpPr>
        <p:spPr>
          <a:xfrm>
            <a:off x="822960" y="3200400"/>
            <a:ext cx="274320" cy="274320"/>
          </a:xfrm>
          <a:prstGeom prst="rect">
            <a:avLst/>
          </a:prstGeom>
          <a:noFill/>
        </p:spPr>
        <p:txBody>
          <a:bodyPr wrap="square" lIns="0" rIns="0" tIns="0" bIns="0" anchor="t">
            <a:spAutoFit/>
          </a:bodyPr>
          <a:lstStyle/>
          <a:p>
            <a:pPr algn="l">
              <a:lnSpc>
                <a:spcPct val="100000"/>
              </a:lnSpc>
            </a:pPr>
            <a:r>
              <a:rPr sz="1700" b="1" i="0">
                <a:solidFill>
                  <a:srgbClr val="BD582B"/>
                </a:solidFill>
                <a:latin typeface="Calibri"/>
              </a:rPr>
              <a:t>•</a:t>
            </a:r>
          </a:p>
        </p:txBody>
      </p:sp>
      <p:sp>
        <p:nvSpPr>
          <p:cNvPr id="15" name="bul3"/>
          <p:cNvSpPr txBox="1"/>
          <p:nvPr/>
        </p:nvSpPr>
        <p:spPr>
          <a:xfrm>
            <a:off x="1115568" y="3547872"/>
            <a:ext cx="10222992" cy="274320"/>
          </a:xfrm>
          <a:prstGeom prst="rect">
            <a:avLst/>
          </a:prstGeom>
          <a:noFill/>
        </p:spPr>
        <p:txBody>
          <a:bodyPr wrap="square" lIns="0" rIns="0" tIns="0" bIns="0" anchor="t">
            <a:spAutoFit/>
          </a:bodyPr>
          <a:lstStyle/>
          <a:p>
            <a:pPr algn="l">
              <a:lnSpc>
                <a:spcPct val="118000"/>
              </a:lnSpc>
            </a:pPr>
            <a:r>
              <a:rPr sz="1700" b="0" i="0">
                <a:solidFill>
                  <a:srgbClr val="1A1A1A"/>
                </a:solidFill>
                <a:latin typeface="Calibri"/>
              </a:rPr>
              <a:t>And an instrument is only worth what its calibration is worth.</a:t>
            </a:r>
          </a:p>
        </p:txBody>
      </p:sp>
      <p:sp>
        <p:nvSpPr>
          <p:cNvPr id="16" name="dot3"/>
          <p:cNvSpPr txBox="1"/>
          <p:nvPr/>
        </p:nvSpPr>
        <p:spPr>
          <a:xfrm>
            <a:off x="822960" y="3566160"/>
            <a:ext cx="274320" cy="274320"/>
          </a:xfrm>
          <a:prstGeom prst="rect">
            <a:avLst/>
          </a:prstGeom>
          <a:noFill/>
        </p:spPr>
        <p:txBody>
          <a:bodyPr wrap="square" lIns="0" rIns="0" tIns="0" bIns="0" anchor="t">
            <a:spAutoFit/>
          </a:bodyPr>
          <a:lstStyle/>
          <a:p>
            <a:pPr algn="l">
              <a:lnSpc>
                <a:spcPct val="100000"/>
              </a:lnSpc>
            </a:pPr>
            <a:r>
              <a:rPr sz="1700" b="1" i="0">
                <a:solidFill>
                  <a:srgbClr val="BD582B"/>
                </a:solidFill>
                <a:latin typeface="Calibri"/>
              </a:rPr>
              <a:t>•</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5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5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50"/>
                                        <p:tgtEl>
                                          <p:spTgt spid="12"/>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5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ogo" descr="PES University - Logo 2.png"/>
          <p:cNvPicPr>
            <a:picLocks noChangeAspect="1"/>
          </p:cNvPicPr>
          <p:nvPr/>
        </p:nvPicPr>
        <p:blipFill>
          <a:blip r:embed="rId2"/>
          <a:stretch>
            <a:fillRect/>
          </a:stretch>
        </p:blipFill>
        <p:spPr>
          <a:xfrm>
            <a:off x="10533888" y="146304"/>
            <a:ext cx="1298448" cy="591337"/>
          </a:xfrm>
          <a:prstGeom prst="rect">
            <a:avLst/>
          </a:prstGeom>
        </p:spPr>
      </p:pic>
      <p:sp>
        <p:nvSpPr>
          <p:cNvPr id="3" name="runhead"/>
          <p:cNvSpPr txBox="1"/>
          <p:nvPr/>
        </p:nvSpPr>
        <p:spPr>
          <a:xfrm>
            <a:off x="411480" y="237744"/>
            <a:ext cx="6858000" cy="274320"/>
          </a:xfrm>
          <a:prstGeom prst="rect">
            <a:avLst/>
          </a:prstGeom>
          <a:noFill/>
        </p:spPr>
        <p:txBody>
          <a:bodyPr wrap="square" lIns="0" rIns="0" tIns="0" bIns="0" anchor="t">
            <a:spAutoFit/>
          </a:bodyPr>
          <a:lstStyle/>
          <a:p>
            <a:pPr algn="l">
              <a:lnSpc>
                <a:spcPct val="100000"/>
              </a:lnSpc>
            </a:pPr>
            <a:r>
              <a:rPr sz="1050" b="1" i="0">
                <a:solidFill>
                  <a:srgbClr val="7F7F7F"/>
                </a:solidFill>
                <a:latin typeface="Calibri"/>
              </a:rPr>
              <a:t>CALIPER: Calibrating Interpretability Readouts for Language Models</a:t>
            </a:r>
          </a:p>
        </p:txBody>
      </p:sp>
      <p:sp>
        <p:nvSpPr>
          <p:cNvPr id="4" name="heading"/>
          <p:cNvSpPr txBox="1"/>
          <p:nvPr/>
        </p:nvSpPr>
        <p:spPr>
          <a:xfrm>
            <a:off x="2926080" y="868680"/>
            <a:ext cx="7452360" cy="502920"/>
          </a:xfrm>
          <a:prstGeom prst="rect">
            <a:avLst/>
          </a:prstGeom>
          <a:noFill/>
        </p:spPr>
        <p:txBody>
          <a:bodyPr wrap="square" lIns="0" rIns="0" tIns="0" bIns="0" anchor="t">
            <a:spAutoFit/>
          </a:bodyPr>
          <a:lstStyle/>
          <a:p>
            <a:pPr algn="r">
              <a:lnSpc>
                <a:spcPct val="100000"/>
              </a:lnSpc>
            </a:pPr>
            <a:r>
              <a:rPr sz="2700" b="0" i="0">
                <a:solidFill>
                  <a:srgbClr val="1A1A1A"/>
                </a:solidFill>
                <a:latin typeface="Calibri"/>
              </a:rPr>
              <a:t>Introduction</a:t>
            </a:r>
          </a:p>
        </p:txBody>
      </p:sp>
      <p:sp>
        <p:nvSpPr>
          <p:cNvPr id="5" name="tealrule"/>
          <p:cNvSpPr/>
          <p:nvPr/>
        </p:nvSpPr>
        <p:spPr>
          <a:xfrm>
            <a:off x="3017520" y="1517904"/>
            <a:ext cx="7360920" cy="41148"/>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airline"/>
          <p:cNvSpPr/>
          <p:nvPr/>
        </p:nvSpPr>
        <p:spPr>
          <a:xfrm>
            <a:off x="411480" y="1664208"/>
            <a:ext cx="11018520" cy="7315"/>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band"/>
          <p:cNvSpPr/>
          <p:nvPr/>
        </p:nvSpPr>
        <p:spPr>
          <a:xfrm>
            <a:off x="0" y="6528816"/>
            <a:ext cx="12191695" cy="329184"/>
          </a:xfrm>
          <a:prstGeom prst="rect">
            <a:avLst/>
          </a:prstGeom>
          <a:solidFill>
            <a:srgbClr val="BD5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text"/>
          <p:cNvSpPr txBox="1"/>
          <p:nvPr/>
        </p:nvSpPr>
        <p:spPr>
          <a:xfrm>
            <a:off x="0" y="6620255"/>
            <a:ext cx="12191695" cy="201168"/>
          </a:xfrm>
          <a:prstGeom prst="rect">
            <a:avLst/>
          </a:prstGeom>
          <a:noFill/>
        </p:spPr>
        <p:txBody>
          <a:bodyPr wrap="square" lIns="0" rIns="0" tIns="0" bIns="0" anchor="t">
            <a:spAutoFit/>
          </a:bodyPr>
          <a:lstStyle/>
          <a:p>
            <a:pPr algn="ctr">
              <a:lnSpc>
                <a:spcPct val="100000"/>
              </a:lnSpc>
            </a:pPr>
            <a:r>
              <a:rPr sz="800" b="0" i="0">
                <a:solidFill>
                  <a:srgbClr val="FFFFFF"/>
                </a:solidFill>
                <a:latin typeface="Calibri"/>
              </a:rPr>
              <a:t>SANTOSH CHEETHIRALA_NIVAS REDDY DANDU_C. SREE KRISHNA KOUSHIK_MARREDDY RUSHI ESWAR REDDY</a:t>
            </a:r>
          </a:p>
        </p:txBody>
      </p:sp>
      <p:sp>
        <p:nvSpPr>
          <p:cNvPr id="9" name="lead"/>
          <p:cNvSpPr txBox="1"/>
          <p:nvPr/>
        </p:nvSpPr>
        <p:spPr>
          <a:xfrm>
            <a:off x="822960" y="1947672"/>
            <a:ext cx="10515600" cy="411480"/>
          </a:xfrm>
          <a:prstGeom prst="rect">
            <a:avLst/>
          </a:prstGeom>
          <a:noFill/>
        </p:spPr>
        <p:txBody>
          <a:bodyPr wrap="square" lIns="0" rIns="0" tIns="0" bIns="0" anchor="t">
            <a:spAutoFit/>
          </a:bodyPr>
          <a:lstStyle/>
          <a:p>
            <a:pPr algn="ctr">
              <a:lnSpc>
                <a:spcPct val="100000"/>
              </a:lnSpc>
            </a:pPr>
            <a:r>
              <a:rPr sz="1700" b="1" i="0">
                <a:solidFill>
                  <a:srgbClr val="1A1A1A"/>
                </a:solidFill>
                <a:latin typeface="Calibri"/>
              </a:rPr>
              <a:t>Why an instrument is trusted</a:t>
            </a:r>
          </a:p>
        </p:txBody>
      </p:sp>
      <p:pic>
        <p:nvPicPr>
          <p:cNvPr id="10" name="fig" descr="f1_thermometer.png"/>
          <p:cNvPicPr>
            <a:picLocks noChangeAspect="1"/>
          </p:cNvPicPr>
          <p:nvPr/>
        </p:nvPicPr>
        <p:blipFill>
          <a:blip r:embed="rId3"/>
          <a:stretch>
            <a:fillRect/>
          </a:stretch>
        </p:blipFill>
        <p:spPr>
          <a:xfrm>
            <a:off x="1340967" y="2450591"/>
            <a:ext cx="9509760" cy="4214185"/>
          </a:xfrm>
          <a:prstGeom prst="rect">
            <a:avLst/>
          </a:prstGeom>
        </p:spPr>
      </p:pic>
      <p:sp>
        <p:nvSpPr>
          <p:cNvPr id="11" name="cap"/>
          <p:cNvSpPr txBox="1"/>
          <p:nvPr/>
        </p:nvSpPr>
        <p:spPr>
          <a:xfrm>
            <a:off x="822960" y="5989320"/>
            <a:ext cx="10515600" cy="365760"/>
          </a:xfrm>
          <a:prstGeom prst="rect">
            <a:avLst/>
          </a:prstGeom>
          <a:noFill/>
        </p:spPr>
        <p:txBody>
          <a:bodyPr wrap="square" lIns="0" rIns="0" tIns="0" bIns="0" anchor="t">
            <a:spAutoFit/>
          </a:bodyPr>
          <a:lstStyle/>
          <a:p>
            <a:pPr algn="ctr">
              <a:lnSpc>
                <a:spcPct val="100000"/>
              </a:lnSpc>
            </a:pPr>
            <a:r>
              <a:rPr sz="1400" b="0" i="1">
                <a:solidFill>
                  <a:srgbClr val="7F7F7F"/>
                </a:solidFill>
                <a:latin typeface="Calibri"/>
              </a:rPr>
              <a:t>Nobody has done this for the tools that read language models.</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ogo" descr="PES University - Logo 2.png"/>
          <p:cNvPicPr>
            <a:picLocks noChangeAspect="1"/>
          </p:cNvPicPr>
          <p:nvPr/>
        </p:nvPicPr>
        <p:blipFill>
          <a:blip r:embed="rId2"/>
          <a:stretch>
            <a:fillRect/>
          </a:stretch>
        </p:blipFill>
        <p:spPr>
          <a:xfrm>
            <a:off x="10533888" y="146304"/>
            <a:ext cx="1298448" cy="591337"/>
          </a:xfrm>
          <a:prstGeom prst="rect">
            <a:avLst/>
          </a:prstGeom>
        </p:spPr>
      </p:pic>
      <p:sp>
        <p:nvSpPr>
          <p:cNvPr id="3" name="runhead"/>
          <p:cNvSpPr txBox="1"/>
          <p:nvPr/>
        </p:nvSpPr>
        <p:spPr>
          <a:xfrm>
            <a:off x="411480" y="237744"/>
            <a:ext cx="6858000" cy="274320"/>
          </a:xfrm>
          <a:prstGeom prst="rect">
            <a:avLst/>
          </a:prstGeom>
          <a:noFill/>
        </p:spPr>
        <p:txBody>
          <a:bodyPr wrap="square" lIns="0" rIns="0" tIns="0" bIns="0" anchor="t">
            <a:spAutoFit/>
          </a:bodyPr>
          <a:lstStyle/>
          <a:p>
            <a:pPr algn="l">
              <a:lnSpc>
                <a:spcPct val="100000"/>
              </a:lnSpc>
            </a:pPr>
            <a:r>
              <a:rPr sz="1050" b="1" i="0">
                <a:solidFill>
                  <a:srgbClr val="7F7F7F"/>
                </a:solidFill>
                <a:latin typeface="Calibri"/>
              </a:rPr>
              <a:t>CALIPER: Calibrating Interpretability Readouts for Language Models</a:t>
            </a:r>
          </a:p>
        </p:txBody>
      </p:sp>
      <p:sp>
        <p:nvSpPr>
          <p:cNvPr id="4" name="heading"/>
          <p:cNvSpPr txBox="1"/>
          <p:nvPr/>
        </p:nvSpPr>
        <p:spPr>
          <a:xfrm>
            <a:off x="2926080" y="868680"/>
            <a:ext cx="7452360" cy="502920"/>
          </a:xfrm>
          <a:prstGeom prst="rect">
            <a:avLst/>
          </a:prstGeom>
          <a:noFill/>
        </p:spPr>
        <p:txBody>
          <a:bodyPr wrap="square" lIns="0" rIns="0" tIns="0" bIns="0" anchor="t">
            <a:spAutoFit/>
          </a:bodyPr>
          <a:lstStyle/>
          <a:p>
            <a:pPr algn="r">
              <a:lnSpc>
                <a:spcPct val="100000"/>
              </a:lnSpc>
            </a:pPr>
            <a:r>
              <a:rPr sz="2700" b="0" i="0">
                <a:solidFill>
                  <a:srgbClr val="1A1A1A"/>
                </a:solidFill>
                <a:latin typeface="Calibri"/>
              </a:rPr>
              <a:t>Problem Statement</a:t>
            </a:r>
          </a:p>
        </p:txBody>
      </p:sp>
      <p:sp>
        <p:nvSpPr>
          <p:cNvPr id="5" name="tealrule"/>
          <p:cNvSpPr/>
          <p:nvPr/>
        </p:nvSpPr>
        <p:spPr>
          <a:xfrm>
            <a:off x="3017520" y="1517904"/>
            <a:ext cx="7360920" cy="41148"/>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airline"/>
          <p:cNvSpPr/>
          <p:nvPr/>
        </p:nvSpPr>
        <p:spPr>
          <a:xfrm>
            <a:off x="411480" y="1664208"/>
            <a:ext cx="11018520" cy="7315"/>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band"/>
          <p:cNvSpPr/>
          <p:nvPr/>
        </p:nvSpPr>
        <p:spPr>
          <a:xfrm>
            <a:off x="0" y="6528816"/>
            <a:ext cx="12191695" cy="329184"/>
          </a:xfrm>
          <a:prstGeom prst="rect">
            <a:avLst/>
          </a:prstGeom>
          <a:solidFill>
            <a:srgbClr val="BD5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text"/>
          <p:cNvSpPr txBox="1"/>
          <p:nvPr/>
        </p:nvSpPr>
        <p:spPr>
          <a:xfrm>
            <a:off x="0" y="6620255"/>
            <a:ext cx="12191695" cy="201168"/>
          </a:xfrm>
          <a:prstGeom prst="rect">
            <a:avLst/>
          </a:prstGeom>
          <a:noFill/>
        </p:spPr>
        <p:txBody>
          <a:bodyPr wrap="square" lIns="0" rIns="0" tIns="0" bIns="0" anchor="t">
            <a:spAutoFit/>
          </a:bodyPr>
          <a:lstStyle/>
          <a:p>
            <a:pPr algn="ctr">
              <a:lnSpc>
                <a:spcPct val="100000"/>
              </a:lnSpc>
            </a:pPr>
            <a:r>
              <a:rPr sz="800" b="0" i="0">
                <a:solidFill>
                  <a:srgbClr val="FFFFFF"/>
                </a:solidFill>
                <a:latin typeface="Calibri"/>
              </a:rPr>
              <a:t>SANTOSH CHEETHIRALA_NIVAS REDDY DANDU_C. SREE KRISHNA KOUSHIK_MARREDDY RUSHI ESWAR REDDY</a:t>
            </a:r>
          </a:p>
        </p:txBody>
      </p:sp>
      <p:sp>
        <p:nvSpPr>
          <p:cNvPr id="9" name="statement"/>
          <p:cNvSpPr txBox="1"/>
          <p:nvPr/>
        </p:nvSpPr>
        <p:spPr>
          <a:xfrm>
            <a:off x="914400" y="2011680"/>
            <a:ext cx="10332720" cy="3108960"/>
          </a:xfrm>
          <a:prstGeom prst="rect">
            <a:avLst/>
          </a:prstGeom>
          <a:noFill/>
        </p:spPr>
        <p:txBody>
          <a:bodyPr wrap="square" lIns="0" rIns="0">
            <a:spAutoFit/>
          </a:bodyPr>
          <a:lstStyle/>
          <a:p>
            <a:pPr algn="l">
              <a:lnSpc>
                <a:spcPct val="132000"/>
              </a:lnSpc>
            </a:pPr>
            <a:r>
              <a:rPr sz="1800">
                <a:solidFill>
                  <a:srgbClr val="1A1A1A"/>
                </a:solidFill>
                <a:latin typeface="Calibri"/>
              </a:rPr>
              <a:t>Interpretability tools claim to read a model’s mind: which direction a neuron responds to, which vector encodes a personality trait, whether the model can report on its own internal states. None of these tools has ever been checked against a case where the right answer was already known. Neuroscience solved this a century ago with the preparation — the squid axon, the sea slug, the worm — a system simple enough that a new instrument could be tested against a known answer before being trusted on an unknown one. We build preparations for language models at three levels — unit, trait, self — and use them to measure how often each reading tool is right, how often it is silently wrong, and what it takes to tell the difference.</a:t>
            </a:r>
          </a:p>
        </p:txBody>
      </p:sp>
      <p:sp>
        <p:nvSpPr>
          <p:cNvPr id="10" name="accent"/>
          <p:cNvSpPr/>
          <p:nvPr/>
        </p:nvSpPr>
        <p:spPr>
          <a:xfrm>
            <a:off x="566928" y="2011680"/>
            <a:ext cx="64008" cy="2971800"/>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agline"/>
          <p:cNvSpPr txBox="1"/>
          <p:nvPr/>
        </p:nvSpPr>
        <p:spPr>
          <a:xfrm>
            <a:off x="822960" y="5440680"/>
            <a:ext cx="10515600" cy="640080"/>
          </a:xfrm>
          <a:prstGeom prst="rect">
            <a:avLst/>
          </a:prstGeom>
          <a:noFill/>
        </p:spPr>
        <p:txBody>
          <a:bodyPr wrap="square" lIns="0" rIns="0" tIns="0" bIns="0" anchor="t">
            <a:spAutoFit/>
          </a:bodyPr>
          <a:lstStyle/>
          <a:p>
            <a:pPr algn="ctr">
              <a:lnSpc>
                <a:spcPct val="100000"/>
              </a:lnSpc>
            </a:pPr>
            <a:r>
              <a:rPr sz="2100" b="1" i="0">
                <a:solidFill>
                  <a:srgbClr val="BD582B"/>
                </a:solidFill>
                <a:latin typeface="Calibri"/>
              </a:rPr>
              <a:t>Does the mind-reading kit work? Building preparations for language models.</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ogo" descr="PES University - Logo 2.png"/>
          <p:cNvPicPr>
            <a:picLocks noChangeAspect="1"/>
          </p:cNvPicPr>
          <p:nvPr/>
        </p:nvPicPr>
        <p:blipFill>
          <a:blip r:embed="rId2"/>
          <a:stretch>
            <a:fillRect/>
          </a:stretch>
        </p:blipFill>
        <p:spPr>
          <a:xfrm>
            <a:off x="10533888" y="146304"/>
            <a:ext cx="1298448" cy="591337"/>
          </a:xfrm>
          <a:prstGeom prst="rect">
            <a:avLst/>
          </a:prstGeom>
        </p:spPr>
      </p:pic>
      <p:sp>
        <p:nvSpPr>
          <p:cNvPr id="3" name="runhead"/>
          <p:cNvSpPr txBox="1"/>
          <p:nvPr/>
        </p:nvSpPr>
        <p:spPr>
          <a:xfrm>
            <a:off x="411480" y="237744"/>
            <a:ext cx="6858000" cy="274320"/>
          </a:xfrm>
          <a:prstGeom prst="rect">
            <a:avLst/>
          </a:prstGeom>
          <a:noFill/>
        </p:spPr>
        <p:txBody>
          <a:bodyPr wrap="square" lIns="0" rIns="0" tIns="0" bIns="0" anchor="t">
            <a:spAutoFit/>
          </a:bodyPr>
          <a:lstStyle/>
          <a:p>
            <a:pPr algn="l">
              <a:lnSpc>
                <a:spcPct val="100000"/>
              </a:lnSpc>
            </a:pPr>
            <a:r>
              <a:rPr sz="1050" b="1" i="0">
                <a:solidFill>
                  <a:srgbClr val="7F7F7F"/>
                </a:solidFill>
                <a:latin typeface="Calibri"/>
              </a:rPr>
              <a:t>CALIPER: Calibrating Interpretability Readouts for Language Models</a:t>
            </a:r>
          </a:p>
        </p:txBody>
      </p:sp>
      <p:sp>
        <p:nvSpPr>
          <p:cNvPr id="4" name="heading"/>
          <p:cNvSpPr txBox="1"/>
          <p:nvPr/>
        </p:nvSpPr>
        <p:spPr>
          <a:xfrm>
            <a:off x="2926080" y="868680"/>
            <a:ext cx="7452360" cy="502920"/>
          </a:xfrm>
          <a:prstGeom prst="rect">
            <a:avLst/>
          </a:prstGeom>
          <a:noFill/>
        </p:spPr>
        <p:txBody>
          <a:bodyPr wrap="square" lIns="0" rIns="0" tIns="0" bIns="0" anchor="t">
            <a:spAutoFit/>
          </a:bodyPr>
          <a:lstStyle/>
          <a:p>
            <a:pPr algn="r">
              <a:lnSpc>
                <a:spcPct val="100000"/>
              </a:lnSpc>
            </a:pPr>
            <a:r>
              <a:rPr sz="2700" b="0" i="0">
                <a:solidFill>
                  <a:srgbClr val="1A1A1A"/>
                </a:solidFill>
                <a:latin typeface="Calibri"/>
              </a:rPr>
              <a:t>Problem Statement</a:t>
            </a:r>
          </a:p>
        </p:txBody>
      </p:sp>
      <p:sp>
        <p:nvSpPr>
          <p:cNvPr id="5" name="tealrule"/>
          <p:cNvSpPr/>
          <p:nvPr/>
        </p:nvSpPr>
        <p:spPr>
          <a:xfrm>
            <a:off x="3017520" y="1517904"/>
            <a:ext cx="7360920" cy="41148"/>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airline"/>
          <p:cNvSpPr/>
          <p:nvPr/>
        </p:nvSpPr>
        <p:spPr>
          <a:xfrm>
            <a:off x="411480" y="1664208"/>
            <a:ext cx="11018520" cy="7315"/>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band"/>
          <p:cNvSpPr/>
          <p:nvPr/>
        </p:nvSpPr>
        <p:spPr>
          <a:xfrm>
            <a:off x="0" y="6528816"/>
            <a:ext cx="12191695" cy="329184"/>
          </a:xfrm>
          <a:prstGeom prst="rect">
            <a:avLst/>
          </a:prstGeom>
          <a:solidFill>
            <a:srgbClr val="BD5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text"/>
          <p:cNvSpPr txBox="1"/>
          <p:nvPr/>
        </p:nvSpPr>
        <p:spPr>
          <a:xfrm>
            <a:off x="0" y="6620255"/>
            <a:ext cx="12191695" cy="201168"/>
          </a:xfrm>
          <a:prstGeom prst="rect">
            <a:avLst/>
          </a:prstGeom>
          <a:noFill/>
        </p:spPr>
        <p:txBody>
          <a:bodyPr wrap="square" lIns="0" rIns="0" tIns="0" bIns="0" anchor="t">
            <a:spAutoFit/>
          </a:bodyPr>
          <a:lstStyle/>
          <a:p>
            <a:pPr algn="ctr">
              <a:lnSpc>
                <a:spcPct val="100000"/>
              </a:lnSpc>
            </a:pPr>
            <a:r>
              <a:rPr sz="800" b="0" i="0">
                <a:solidFill>
                  <a:srgbClr val="FFFFFF"/>
                </a:solidFill>
                <a:latin typeface="Calibri"/>
              </a:rPr>
              <a:t>SANTOSH CHEETHIRALA_NIVAS REDDY DANDU_C. SREE KRISHNA KOUSHIK_MARREDDY RUSHI ESWAR REDDY</a:t>
            </a:r>
          </a:p>
        </p:txBody>
      </p:sp>
      <p:sp>
        <p:nvSpPr>
          <p:cNvPr id="9" name="lead"/>
          <p:cNvSpPr txBox="1"/>
          <p:nvPr/>
        </p:nvSpPr>
        <p:spPr>
          <a:xfrm>
            <a:off x="822960" y="1947672"/>
            <a:ext cx="10515600" cy="411480"/>
          </a:xfrm>
          <a:prstGeom prst="rect">
            <a:avLst/>
          </a:prstGeom>
          <a:noFill/>
        </p:spPr>
        <p:txBody>
          <a:bodyPr wrap="square" lIns="0" rIns="0" tIns="0" bIns="0" anchor="t">
            <a:spAutoFit/>
          </a:bodyPr>
          <a:lstStyle/>
          <a:p>
            <a:pPr algn="ctr">
              <a:lnSpc>
                <a:spcPct val="100000"/>
              </a:lnSpc>
            </a:pPr>
            <a:r>
              <a:rPr sz="1700" b="1" i="0">
                <a:solidFill>
                  <a:srgbClr val="1A1A1A"/>
                </a:solidFill>
                <a:latin typeface="Calibri"/>
              </a:rPr>
              <a:t>Three levels. Three published families of tool.</a:t>
            </a:r>
          </a:p>
        </p:txBody>
      </p:sp>
      <p:pic>
        <p:nvPicPr>
          <p:cNvPr id="10" name="fig" descr="f2_levels.png"/>
          <p:cNvPicPr>
            <a:picLocks noChangeAspect="1"/>
          </p:cNvPicPr>
          <p:nvPr/>
        </p:nvPicPr>
        <p:blipFill>
          <a:blip r:embed="rId3"/>
          <a:stretch>
            <a:fillRect/>
          </a:stretch>
        </p:blipFill>
        <p:spPr>
          <a:xfrm>
            <a:off x="655167" y="2450591"/>
            <a:ext cx="10881360" cy="3854652"/>
          </a:xfrm>
          <a:prstGeom prst="rect">
            <a:avLst/>
          </a:prstGeom>
        </p:spPr>
      </p:pic>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ogo" descr="PES University - Logo 2.png"/>
          <p:cNvPicPr>
            <a:picLocks noChangeAspect="1"/>
          </p:cNvPicPr>
          <p:nvPr/>
        </p:nvPicPr>
        <p:blipFill>
          <a:blip r:embed="rId2"/>
          <a:stretch>
            <a:fillRect/>
          </a:stretch>
        </p:blipFill>
        <p:spPr>
          <a:xfrm>
            <a:off x="10533888" y="146304"/>
            <a:ext cx="1298448" cy="591337"/>
          </a:xfrm>
          <a:prstGeom prst="rect">
            <a:avLst/>
          </a:prstGeom>
        </p:spPr>
      </p:pic>
      <p:sp>
        <p:nvSpPr>
          <p:cNvPr id="3" name="runhead"/>
          <p:cNvSpPr txBox="1"/>
          <p:nvPr/>
        </p:nvSpPr>
        <p:spPr>
          <a:xfrm>
            <a:off x="411480" y="237744"/>
            <a:ext cx="6858000" cy="274320"/>
          </a:xfrm>
          <a:prstGeom prst="rect">
            <a:avLst/>
          </a:prstGeom>
          <a:noFill/>
        </p:spPr>
        <p:txBody>
          <a:bodyPr wrap="square" lIns="0" rIns="0" tIns="0" bIns="0" anchor="t">
            <a:spAutoFit/>
          </a:bodyPr>
          <a:lstStyle/>
          <a:p>
            <a:pPr algn="l">
              <a:lnSpc>
                <a:spcPct val="100000"/>
              </a:lnSpc>
            </a:pPr>
            <a:r>
              <a:rPr sz="1050" b="1" i="0">
                <a:solidFill>
                  <a:srgbClr val="7F7F7F"/>
                </a:solidFill>
                <a:latin typeface="Calibri"/>
              </a:rPr>
              <a:t>CALIPER: Calibrating Interpretability Readouts for Language Models</a:t>
            </a:r>
          </a:p>
        </p:txBody>
      </p:sp>
      <p:sp>
        <p:nvSpPr>
          <p:cNvPr id="4" name="heading"/>
          <p:cNvSpPr txBox="1"/>
          <p:nvPr/>
        </p:nvSpPr>
        <p:spPr>
          <a:xfrm>
            <a:off x="2926080" y="868680"/>
            <a:ext cx="7452360" cy="502920"/>
          </a:xfrm>
          <a:prstGeom prst="rect">
            <a:avLst/>
          </a:prstGeom>
          <a:noFill/>
        </p:spPr>
        <p:txBody>
          <a:bodyPr wrap="square" lIns="0" rIns="0" tIns="0" bIns="0" anchor="t">
            <a:spAutoFit/>
          </a:bodyPr>
          <a:lstStyle/>
          <a:p>
            <a:pPr algn="r">
              <a:lnSpc>
                <a:spcPct val="100000"/>
              </a:lnSpc>
            </a:pPr>
            <a:r>
              <a:rPr sz="2700" b="0" i="0">
                <a:solidFill>
                  <a:srgbClr val="1A1A1A"/>
                </a:solidFill>
                <a:latin typeface="Calibri"/>
              </a:rPr>
              <a:t>The neuroscience framing</a:t>
            </a:r>
          </a:p>
        </p:txBody>
      </p:sp>
      <p:sp>
        <p:nvSpPr>
          <p:cNvPr id="5" name="tealrule"/>
          <p:cNvSpPr/>
          <p:nvPr/>
        </p:nvSpPr>
        <p:spPr>
          <a:xfrm>
            <a:off x="3017520" y="1517904"/>
            <a:ext cx="7360920" cy="41148"/>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airline"/>
          <p:cNvSpPr/>
          <p:nvPr/>
        </p:nvSpPr>
        <p:spPr>
          <a:xfrm>
            <a:off x="411480" y="1664208"/>
            <a:ext cx="11018520" cy="7315"/>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band"/>
          <p:cNvSpPr/>
          <p:nvPr/>
        </p:nvSpPr>
        <p:spPr>
          <a:xfrm>
            <a:off x="0" y="6528816"/>
            <a:ext cx="12191695" cy="329184"/>
          </a:xfrm>
          <a:prstGeom prst="rect">
            <a:avLst/>
          </a:prstGeom>
          <a:solidFill>
            <a:srgbClr val="BD5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text"/>
          <p:cNvSpPr txBox="1"/>
          <p:nvPr/>
        </p:nvSpPr>
        <p:spPr>
          <a:xfrm>
            <a:off x="0" y="6620255"/>
            <a:ext cx="12191695" cy="201168"/>
          </a:xfrm>
          <a:prstGeom prst="rect">
            <a:avLst/>
          </a:prstGeom>
          <a:noFill/>
        </p:spPr>
        <p:txBody>
          <a:bodyPr wrap="square" lIns="0" rIns="0" tIns="0" bIns="0" anchor="t">
            <a:spAutoFit/>
          </a:bodyPr>
          <a:lstStyle/>
          <a:p>
            <a:pPr algn="ctr">
              <a:lnSpc>
                <a:spcPct val="100000"/>
              </a:lnSpc>
            </a:pPr>
            <a:r>
              <a:rPr sz="800" b="0" i="0">
                <a:solidFill>
                  <a:srgbClr val="FFFFFF"/>
                </a:solidFill>
                <a:latin typeface="Calibri"/>
              </a:rPr>
              <a:t>SANTOSH CHEETHIRALA_NIVAS REDDY DANDU_C. SREE KRISHNA KOUSHIK_MARREDDY RUSHI ESWAR REDDY</a:t>
            </a:r>
          </a:p>
        </p:txBody>
      </p:sp>
      <p:sp>
        <p:nvSpPr>
          <p:cNvPr id="9" name="lead"/>
          <p:cNvSpPr txBox="1"/>
          <p:nvPr/>
        </p:nvSpPr>
        <p:spPr>
          <a:xfrm>
            <a:off x="822960" y="1947672"/>
            <a:ext cx="10515600" cy="411480"/>
          </a:xfrm>
          <a:prstGeom prst="rect">
            <a:avLst/>
          </a:prstGeom>
          <a:noFill/>
        </p:spPr>
        <p:txBody>
          <a:bodyPr wrap="square" lIns="0" rIns="0" tIns="0" bIns="0" anchor="t">
            <a:spAutoFit/>
          </a:bodyPr>
          <a:lstStyle/>
          <a:p>
            <a:pPr algn="ctr">
              <a:lnSpc>
                <a:spcPct val="100000"/>
              </a:lnSpc>
            </a:pPr>
            <a:r>
              <a:rPr sz="1700" b="1" i="0">
                <a:solidFill>
                  <a:srgbClr val="1A1A1A"/>
                </a:solidFill>
                <a:latin typeface="Calibri"/>
              </a:rPr>
              <a:t>A preparation is a system chosen because the answer is knowable</a:t>
            </a:r>
          </a:p>
        </p:txBody>
      </p:sp>
      <p:pic>
        <p:nvPicPr>
          <p:cNvPr id="10" name="fig" descr="f3_preparations.png"/>
          <p:cNvPicPr>
            <a:picLocks noChangeAspect="1"/>
          </p:cNvPicPr>
          <p:nvPr/>
        </p:nvPicPr>
        <p:blipFill>
          <a:blip r:embed="rId3"/>
          <a:stretch>
            <a:fillRect/>
          </a:stretch>
        </p:blipFill>
        <p:spPr>
          <a:xfrm>
            <a:off x="655167" y="2450591"/>
            <a:ext cx="10881360" cy="2783604"/>
          </a:xfrm>
          <a:prstGeom prst="rect">
            <a:avLst/>
          </a:prstGeom>
        </p:spPr>
      </p:pic>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ogo" descr="PES University - Logo 2.png"/>
          <p:cNvPicPr>
            <a:picLocks noChangeAspect="1"/>
          </p:cNvPicPr>
          <p:nvPr/>
        </p:nvPicPr>
        <p:blipFill>
          <a:blip r:embed="rId2"/>
          <a:stretch>
            <a:fillRect/>
          </a:stretch>
        </p:blipFill>
        <p:spPr>
          <a:xfrm>
            <a:off x="10533888" y="146304"/>
            <a:ext cx="1298448" cy="591337"/>
          </a:xfrm>
          <a:prstGeom prst="rect">
            <a:avLst/>
          </a:prstGeom>
        </p:spPr>
      </p:pic>
      <p:sp>
        <p:nvSpPr>
          <p:cNvPr id="3" name="runhead"/>
          <p:cNvSpPr txBox="1"/>
          <p:nvPr/>
        </p:nvSpPr>
        <p:spPr>
          <a:xfrm>
            <a:off x="411480" y="237744"/>
            <a:ext cx="6858000" cy="274320"/>
          </a:xfrm>
          <a:prstGeom prst="rect">
            <a:avLst/>
          </a:prstGeom>
          <a:noFill/>
        </p:spPr>
        <p:txBody>
          <a:bodyPr wrap="square" lIns="0" rIns="0" tIns="0" bIns="0" anchor="t">
            <a:spAutoFit/>
          </a:bodyPr>
          <a:lstStyle/>
          <a:p>
            <a:pPr algn="l">
              <a:lnSpc>
                <a:spcPct val="100000"/>
              </a:lnSpc>
            </a:pPr>
            <a:r>
              <a:rPr sz="1050" b="1" i="0">
                <a:solidFill>
                  <a:srgbClr val="7F7F7F"/>
                </a:solidFill>
                <a:latin typeface="Calibri"/>
              </a:rPr>
              <a:t>CALIPER: Calibrating Interpretability Readouts for Language Models</a:t>
            </a:r>
          </a:p>
        </p:txBody>
      </p:sp>
      <p:sp>
        <p:nvSpPr>
          <p:cNvPr id="4" name="heading"/>
          <p:cNvSpPr txBox="1"/>
          <p:nvPr/>
        </p:nvSpPr>
        <p:spPr>
          <a:xfrm>
            <a:off x="2926080" y="868680"/>
            <a:ext cx="7452360" cy="502920"/>
          </a:xfrm>
          <a:prstGeom prst="rect">
            <a:avLst/>
          </a:prstGeom>
          <a:noFill/>
        </p:spPr>
        <p:txBody>
          <a:bodyPr wrap="square" lIns="0" rIns="0" tIns="0" bIns="0" anchor="t">
            <a:spAutoFit/>
          </a:bodyPr>
          <a:lstStyle/>
          <a:p>
            <a:pPr algn="r">
              <a:lnSpc>
                <a:spcPct val="100000"/>
              </a:lnSpc>
            </a:pPr>
            <a:r>
              <a:rPr sz="2700" b="0" i="0">
                <a:solidFill>
                  <a:srgbClr val="1A1A1A"/>
                </a:solidFill>
                <a:latin typeface="Calibri"/>
              </a:rPr>
              <a:t>The neuroscience framing</a:t>
            </a:r>
          </a:p>
        </p:txBody>
      </p:sp>
      <p:sp>
        <p:nvSpPr>
          <p:cNvPr id="5" name="tealrule"/>
          <p:cNvSpPr/>
          <p:nvPr/>
        </p:nvSpPr>
        <p:spPr>
          <a:xfrm>
            <a:off x="3017520" y="1517904"/>
            <a:ext cx="7360920" cy="41148"/>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airline"/>
          <p:cNvSpPr/>
          <p:nvPr/>
        </p:nvSpPr>
        <p:spPr>
          <a:xfrm>
            <a:off x="411480" y="1664208"/>
            <a:ext cx="11018520" cy="7315"/>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band"/>
          <p:cNvSpPr/>
          <p:nvPr/>
        </p:nvSpPr>
        <p:spPr>
          <a:xfrm>
            <a:off x="0" y="6528816"/>
            <a:ext cx="12191695" cy="329184"/>
          </a:xfrm>
          <a:prstGeom prst="rect">
            <a:avLst/>
          </a:prstGeom>
          <a:solidFill>
            <a:srgbClr val="BD5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text"/>
          <p:cNvSpPr txBox="1"/>
          <p:nvPr/>
        </p:nvSpPr>
        <p:spPr>
          <a:xfrm>
            <a:off x="0" y="6620255"/>
            <a:ext cx="12191695" cy="201168"/>
          </a:xfrm>
          <a:prstGeom prst="rect">
            <a:avLst/>
          </a:prstGeom>
          <a:noFill/>
        </p:spPr>
        <p:txBody>
          <a:bodyPr wrap="square" lIns="0" rIns="0" tIns="0" bIns="0" anchor="t">
            <a:spAutoFit/>
          </a:bodyPr>
          <a:lstStyle/>
          <a:p>
            <a:pPr algn="ctr">
              <a:lnSpc>
                <a:spcPct val="100000"/>
              </a:lnSpc>
            </a:pPr>
            <a:r>
              <a:rPr sz="800" b="0" i="0">
                <a:solidFill>
                  <a:srgbClr val="FFFFFF"/>
                </a:solidFill>
                <a:latin typeface="Calibri"/>
              </a:rPr>
              <a:t>SANTOSH CHEETHIRALA_NIVAS REDDY DANDU_C. SREE KRISHNA KOUSHIK_MARREDDY RUSHI ESWAR REDDY</a:t>
            </a:r>
          </a:p>
        </p:txBody>
      </p:sp>
      <p:sp>
        <p:nvSpPr>
          <p:cNvPr id="9" name="bul0"/>
          <p:cNvSpPr txBox="1"/>
          <p:nvPr/>
        </p:nvSpPr>
        <p:spPr>
          <a:xfrm>
            <a:off x="1115568" y="1901952"/>
            <a:ext cx="10222992" cy="548640"/>
          </a:xfrm>
          <a:prstGeom prst="rect">
            <a:avLst/>
          </a:prstGeom>
          <a:noFill/>
        </p:spPr>
        <p:txBody>
          <a:bodyPr wrap="square" lIns="0" rIns="0" tIns="0" bIns="0" anchor="t">
            <a:spAutoFit/>
          </a:bodyPr>
          <a:lstStyle/>
          <a:p>
            <a:pPr algn="l">
              <a:lnSpc>
                <a:spcPct val="118000"/>
              </a:lnSpc>
            </a:pPr>
            <a:r>
              <a:rPr sz="1600" b="0" i="0">
                <a:solidFill>
                  <a:srgbClr val="1A1A1A"/>
                </a:solidFill>
                <a:latin typeface="Calibri"/>
              </a:rPr>
              <a:t>In biology a preparation is the system you choose because it makes an otherwise impossible measurement tractable.</a:t>
            </a:r>
          </a:p>
        </p:txBody>
      </p:sp>
      <p:sp>
        <p:nvSpPr>
          <p:cNvPr id="10" name="dot0"/>
          <p:cNvSpPr txBox="1"/>
          <p:nvPr/>
        </p:nvSpPr>
        <p:spPr>
          <a:xfrm>
            <a:off x="822960" y="1920240"/>
            <a:ext cx="274320" cy="274320"/>
          </a:xfrm>
          <a:prstGeom prst="rect">
            <a:avLst/>
          </a:prstGeom>
          <a:noFill/>
        </p:spPr>
        <p:txBody>
          <a:bodyPr wrap="square" lIns="0" rIns="0" tIns="0" bIns="0" anchor="t">
            <a:spAutoFit/>
          </a:bodyPr>
          <a:lstStyle/>
          <a:p>
            <a:pPr algn="l">
              <a:lnSpc>
                <a:spcPct val="100000"/>
              </a:lnSpc>
            </a:pPr>
            <a:r>
              <a:rPr sz="1600" b="1" i="0">
                <a:solidFill>
                  <a:srgbClr val="BD582B"/>
                </a:solidFill>
                <a:latin typeface="Calibri"/>
              </a:rPr>
              <a:t>•</a:t>
            </a:r>
          </a:p>
        </p:txBody>
      </p:sp>
      <p:sp>
        <p:nvSpPr>
          <p:cNvPr id="11" name="bul1"/>
          <p:cNvSpPr txBox="1"/>
          <p:nvPr/>
        </p:nvSpPr>
        <p:spPr>
          <a:xfrm>
            <a:off x="1115568" y="2542032"/>
            <a:ext cx="10222992" cy="822959"/>
          </a:xfrm>
          <a:prstGeom prst="rect">
            <a:avLst/>
          </a:prstGeom>
          <a:noFill/>
        </p:spPr>
        <p:txBody>
          <a:bodyPr wrap="square" lIns="0" rIns="0" tIns="0" bIns="0" anchor="t">
            <a:spAutoFit/>
          </a:bodyPr>
          <a:lstStyle/>
          <a:p>
            <a:pPr algn="l">
              <a:lnSpc>
                <a:spcPct val="118000"/>
              </a:lnSpc>
            </a:pPr>
            <a:r>
              <a:rPr sz="1600" b="0" i="0">
                <a:solidFill>
                  <a:srgbClr val="1A1A1A"/>
                </a:solidFill>
                <a:latin typeface="Calibri"/>
              </a:rPr>
              <a:t>The squid giant axon was picked because it is wide enough to put an electrode inside. Aplysia, because it has large countable neurons. C. elegans, because every one of its 302 neurons could be mapped.</a:t>
            </a:r>
          </a:p>
        </p:txBody>
      </p:sp>
      <p:sp>
        <p:nvSpPr>
          <p:cNvPr id="12" name="dot1"/>
          <p:cNvSpPr txBox="1"/>
          <p:nvPr/>
        </p:nvSpPr>
        <p:spPr>
          <a:xfrm>
            <a:off x="822960" y="2560320"/>
            <a:ext cx="274320" cy="274320"/>
          </a:xfrm>
          <a:prstGeom prst="rect">
            <a:avLst/>
          </a:prstGeom>
          <a:noFill/>
        </p:spPr>
        <p:txBody>
          <a:bodyPr wrap="square" lIns="0" rIns="0" tIns="0" bIns="0" anchor="t">
            <a:spAutoFit/>
          </a:bodyPr>
          <a:lstStyle/>
          <a:p>
            <a:pPr algn="l">
              <a:lnSpc>
                <a:spcPct val="100000"/>
              </a:lnSpc>
            </a:pPr>
            <a:r>
              <a:rPr sz="1600" b="1" i="0">
                <a:solidFill>
                  <a:srgbClr val="BD582B"/>
                </a:solidFill>
                <a:latin typeface="Calibri"/>
              </a:rPr>
              <a:t>•</a:t>
            </a:r>
          </a:p>
        </p:txBody>
      </p:sp>
      <p:sp>
        <p:nvSpPr>
          <p:cNvPr id="13" name="bul2"/>
          <p:cNvSpPr txBox="1"/>
          <p:nvPr/>
        </p:nvSpPr>
        <p:spPr>
          <a:xfrm>
            <a:off x="1115568" y="3456432"/>
            <a:ext cx="10222992" cy="548640"/>
          </a:xfrm>
          <a:prstGeom prst="rect">
            <a:avLst/>
          </a:prstGeom>
          <a:noFill/>
        </p:spPr>
        <p:txBody>
          <a:bodyPr wrap="square" lIns="0" rIns="0" tIns="0" bIns="0" anchor="t">
            <a:spAutoFit/>
          </a:bodyPr>
          <a:lstStyle/>
          <a:p>
            <a:pPr algn="l">
              <a:lnSpc>
                <a:spcPct val="118000"/>
              </a:lnSpc>
            </a:pPr>
            <a:r>
              <a:rPr sz="1600" b="0" i="0">
                <a:solidFill>
                  <a:srgbClr val="1A1A1A"/>
                </a:solidFill>
                <a:latin typeface="Calibri"/>
              </a:rPr>
              <a:t>In each case the instrument was proven where the answer was knowable before it was trusted where it was not.</a:t>
            </a:r>
          </a:p>
        </p:txBody>
      </p:sp>
      <p:sp>
        <p:nvSpPr>
          <p:cNvPr id="14" name="dot2"/>
          <p:cNvSpPr txBox="1"/>
          <p:nvPr/>
        </p:nvSpPr>
        <p:spPr>
          <a:xfrm>
            <a:off x="822960" y="3474720"/>
            <a:ext cx="274320" cy="274320"/>
          </a:xfrm>
          <a:prstGeom prst="rect">
            <a:avLst/>
          </a:prstGeom>
          <a:noFill/>
        </p:spPr>
        <p:txBody>
          <a:bodyPr wrap="square" lIns="0" rIns="0" tIns="0" bIns="0" anchor="t">
            <a:spAutoFit/>
          </a:bodyPr>
          <a:lstStyle/>
          <a:p>
            <a:pPr algn="l">
              <a:lnSpc>
                <a:spcPct val="100000"/>
              </a:lnSpc>
            </a:pPr>
            <a:r>
              <a:rPr sz="1600" b="1" i="0">
                <a:solidFill>
                  <a:srgbClr val="BD582B"/>
                </a:solidFill>
                <a:latin typeface="Calibri"/>
              </a:rPr>
              <a:t>•</a:t>
            </a:r>
          </a:p>
        </p:txBody>
      </p:sp>
      <p:sp>
        <p:nvSpPr>
          <p:cNvPr id="15" name="bul3"/>
          <p:cNvSpPr txBox="1"/>
          <p:nvPr/>
        </p:nvSpPr>
        <p:spPr>
          <a:xfrm>
            <a:off x="1115568" y="4096512"/>
            <a:ext cx="10222992" cy="274320"/>
          </a:xfrm>
          <a:prstGeom prst="rect">
            <a:avLst/>
          </a:prstGeom>
          <a:noFill/>
        </p:spPr>
        <p:txBody>
          <a:bodyPr wrap="square" lIns="0" rIns="0" tIns="0" bIns="0" anchor="t">
            <a:spAutoFit/>
          </a:bodyPr>
          <a:lstStyle/>
          <a:p>
            <a:pPr algn="l">
              <a:lnSpc>
                <a:spcPct val="118000"/>
              </a:lnSpc>
            </a:pPr>
            <a:r>
              <a:rPr sz="1600" b="0" i="0">
                <a:solidFill>
                  <a:srgbClr val="1A1A1A"/>
                </a:solidFill>
                <a:latin typeface="Calibri"/>
              </a:rPr>
              <a:t>A language model is the first system where all three of our questions have a knowable answer.</a:t>
            </a:r>
          </a:p>
        </p:txBody>
      </p:sp>
      <p:sp>
        <p:nvSpPr>
          <p:cNvPr id="16" name="dot3"/>
          <p:cNvSpPr txBox="1"/>
          <p:nvPr/>
        </p:nvSpPr>
        <p:spPr>
          <a:xfrm>
            <a:off x="822960" y="4114800"/>
            <a:ext cx="274320" cy="274320"/>
          </a:xfrm>
          <a:prstGeom prst="rect">
            <a:avLst/>
          </a:prstGeom>
          <a:noFill/>
        </p:spPr>
        <p:txBody>
          <a:bodyPr wrap="square" lIns="0" rIns="0" tIns="0" bIns="0" anchor="t">
            <a:spAutoFit/>
          </a:bodyPr>
          <a:lstStyle/>
          <a:p>
            <a:pPr algn="l">
              <a:lnSpc>
                <a:spcPct val="100000"/>
              </a:lnSpc>
            </a:pPr>
            <a:r>
              <a:rPr sz="1600" b="1" i="0">
                <a:solidFill>
                  <a:srgbClr val="BD582B"/>
                </a:solidFill>
                <a:latin typeface="Calibri"/>
              </a:rPr>
              <a:t>•</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5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5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50"/>
                                        <p:tgtEl>
                                          <p:spTgt spid="12"/>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5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ogo" descr="PES University - Logo 2.png"/>
          <p:cNvPicPr>
            <a:picLocks noChangeAspect="1"/>
          </p:cNvPicPr>
          <p:nvPr/>
        </p:nvPicPr>
        <p:blipFill>
          <a:blip r:embed="rId2"/>
          <a:stretch>
            <a:fillRect/>
          </a:stretch>
        </p:blipFill>
        <p:spPr>
          <a:xfrm>
            <a:off x="10533888" y="146304"/>
            <a:ext cx="1298448" cy="591337"/>
          </a:xfrm>
          <a:prstGeom prst="rect">
            <a:avLst/>
          </a:prstGeom>
        </p:spPr>
      </p:pic>
      <p:sp>
        <p:nvSpPr>
          <p:cNvPr id="3" name="runhead"/>
          <p:cNvSpPr txBox="1"/>
          <p:nvPr/>
        </p:nvSpPr>
        <p:spPr>
          <a:xfrm>
            <a:off x="411480" y="237744"/>
            <a:ext cx="6858000" cy="274320"/>
          </a:xfrm>
          <a:prstGeom prst="rect">
            <a:avLst/>
          </a:prstGeom>
          <a:noFill/>
        </p:spPr>
        <p:txBody>
          <a:bodyPr wrap="square" lIns="0" rIns="0" tIns="0" bIns="0" anchor="t">
            <a:spAutoFit/>
          </a:bodyPr>
          <a:lstStyle/>
          <a:p>
            <a:pPr algn="l">
              <a:lnSpc>
                <a:spcPct val="100000"/>
              </a:lnSpc>
            </a:pPr>
            <a:r>
              <a:rPr sz="1050" b="1" i="0">
                <a:solidFill>
                  <a:srgbClr val="7F7F7F"/>
                </a:solidFill>
                <a:latin typeface="Calibri"/>
              </a:rPr>
              <a:t>CALIPER: Calibrating Interpretability Readouts for Language Models</a:t>
            </a:r>
          </a:p>
        </p:txBody>
      </p:sp>
      <p:sp>
        <p:nvSpPr>
          <p:cNvPr id="4" name="heading"/>
          <p:cNvSpPr txBox="1"/>
          <p:nvPr/>
        </p:nvSpPr>
        <p:spPr>
          <a:xfrm>
            <a:off x="2926080" y="868680"/>
            <a:ext cx="7452360" cy="502920"/>
          </a:xfrm>
          <a:prstGeom prst="rect">
            <a:avLst/>
          </a:prstGeom>
          <a:noFill/>
        </p:spPr>
        <p:txBody>
          <a:bodyPr wrap="square" lIns="0" rIns="0" tIns="0" bIns="0" anchor="t">
            <a:spAutoFit/>
          </a:bodyPr>
          <a:lstStyle/>
          <a:p>
            <a:pPr algn="r">
              <a:lnSpc>
                <a:spcPct val="100000"/>
              </a:lnSpc>
            </a:pPr>
            <a:r>
              <a:rPr sz="2700" b="0" i="0">
                <a:solidFill>
                  <a:srgbClr val="1A1A1A"/>
                </a:solidFill>
                <a:latin typeface="Calibri"/>
              </a:rPr>
              <a:t>Ground truth, for free</a:t>
            </a:r>
          </a:p>
        </p:txBody>
      </p:sp>
      <p:sp>
        <p:nvSpPr>
          <p:cNvPr id="5" name="tealrule"/>
          <p:cNvSpPr/>
          <p:nvPr/>
        </p:nvSpPr>
        <p:spPr>
          <a:xfrm>
            <a:off x="3017520" y="1517904"/>
            <a:ext cx="7360920" cy="41148"/>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airline"/>
          <p:cNvSpPr/>
          <p:nvPr/>
        </p:nvSpPr>
        <p:spPr>
          <a:xfrm>
            <a:off x="411480" y="1664208"/>
            <a:ext cx="11018520" cy="7315"/>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band"/>
          <p:cNvSpPr/>
          <p:nvPr/>
        </p:nvSpPr>
        <p:spPr>
          <a:xfrm>
            <a:off x="0" y="6528816"/>
            <a:ext cx="12191695" cy="329184"/>
          </a:xfrm>
          <a:prstGeom prst="rect">
            <a:avLst/>
          </a:prstGeom>
          <a:solidFill>
            <a:srgbClr val="BD5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text"/>
          <p:cNvSpPr txBox="1"/>
          <p:nvPr/>
        </p:nvSpPr>
        <p:spPr>
          <a:xfrm>
            <a:off x="0" y="6620255"/>
            <a:ext cx="12191695" cy="201168"/>
          </a:xfrm>
          <a:prstGeom prst="rect">
            <a:avLst/>
          </a:prstGeom>
          <a:noFill/>
        </p:spPr>
        <p:txBody>
          <a:bodyPr wrap="square" lIns="0" rIns="0" tIns="0" bIns="0" anchor="t">
            <a:spAutoFit/>
          </a:bodyPr>
          <a:lstStyle/>
          <a:p>
            <a:pPr algn="ctr">
              <a:lnSpc>
                <a:spcPct val="100000"/>
              </a:lnSpc>
            </a:pPr>
            <a:r>
              <a:rPr sz="800" b="0" i="0">
                <a:solidFill>
                  <a:srgbClr val="FFFFFF"/>
                </a:solidFill>
                <a:latin typeface="Calibri"/>
              </a:rPr>
              <a:t>SANTOSH CHEETHIRALA_NIVAS REDDY DANDU_C. SREE KRISHNA KOUSHIK_MARREDDY RUSHI ESWAR REDDY</a:t>
            </a:r>
          </a:p>
        </p:txBody>
      </p:sp>
      <p:pic>
        <p:nvPicPr>
          <p:cNvPr id="9" name="fig" descr="f4_ground_truth.png"/>
          <p:cNvPicPr>
            <a:picLocks noChangeAspect="1"/>
          </p:cNvPicPr>
          <p:nvPr/>
        </p:nvPicPr>
        <p:blipFill>
          <a:blip r:embed="rId3"/>
          <a:stretch>
            <a:fillRect/>
          </a:stretch>
        </p:blipFill>
        <p:spPr>
          <a:xfrm>
            <a:off x="883767" y="1947672"/>
            <a:ext cx="10424160" cy="3919918"/>
          </a:xfrm>
          <a:prstGeom prst="rect">
            <a:avLst/>
          </a:prstGeom>
        </p:spPr>
      </p:pic>
      <p:sp>
        <p:nvSpPr>
          <p:cNvPr id="10" name="cap"/>
          <p:cNvSpPr txBox="1"/>
          <p:nvPr/>
        </p:nvSpPr>
        <p:spPr>
          <a:xfrm>
            <a:off x="822960" y="5989320"/>
            <a:ext cx="10515600" cy="365760"/>
          </a:xfrm>
          <a:prstGeom prst="rect">
            <a:avLst/>
          </a:prstGeom>
          <a:noFill/>
        </p:spPr>
        <p:txBody>
          <a:bodyPr wrap="square" lIns="0" rIns="0" tIns="0" bIns="0" anchor="t">
            <a:spAutoFit/>
          </a:bodyPr>
          <a:lstStyle/>
          <a:p>
            <a:pPr algn="ctr">
              <a:lnSpc>
                <a:spcPct val="100000"/>
              </a:lnSpc>
            </a:pPr>
            <a:r>
              <a:rPr sz="1400" b="0" i="1">
                <a:solidFill>
                  <a:srgbClr val="7F7F7F"/>
                </a:solidFill>
                <a:latin typeface="Calibri"/>
              </a:rPr>
              <a:t>At the trait and self levels there is no free truth, so we plant it.</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ogo" descr="PES University - Logo 2.png"/>
          <p:cNvPicPr>
            <a:picLocks noChangeAspect="1"/>
          </p:cNvPicPr>
          <p:nvPr/>
        </p:nvPicPr>
        <p:blipFill>
          <a:blip r:embed="rId2"/>
          <a:stretch>
            <a:fillRect/>
          </a:stretch>
        </p:blipFill>
        <p:spPr>
          <a:xfrm>
            <a:off x="10533888" y="146304"/>
            <a:ext cx="1298448" cy="591337"/>
          </a:xfrm>
          <a:prstGeom prst="rect">
            <a:avLst/>
          </a:prstGeom>
        </p:spPr>
      </p:pic>
      <p:sp>
        <p:nvSpPr>
          <p:cNvPr id="3" name="runhead"/>
          <p:cNvSpPr txBox="1"/>
          <p:nvPr/>
        </p:nvSpPr>
        <p:spPr>
          <a:xfrm>
            <a:off x="411480" y="237744"/>
            <a:ext cx="6858000" cy="274320"/>
          </a:xfrm>
          <a:prstGeom prst="rect">
            <a:avLst/>
          </a:prstGeom>
          <a:noFill/>
        </p:spPr>
        <p:txBody>
          <a:bodyPr wrap="square" lIns="0" rIns="0" tIns="0" bIns="0" anchor="t">
            <a:spAutoFit/>
          </a:bodyPr>
          <a:lstStyle/>
          <a:p>
            <a:pPr algn="l">
              <a:lnSpc>
                <a:spcPct val="100000"/>
              </a:lnSpc>
            </a:pPr>
            <a:r>
              <a:rPr sz="1050" b="1" i="0">
                <a:solidFill>
                  <a:srgbClr val="7F7F7F"/>
                </a:solidFill>
                <a:latin typeface="Calibri"/>
              </a:rPr>
              <a:t>CALIPER: Calibrating Interpretability Readouts for Language Models</a:t>
            </a:r>
          </a:p>
        </p:txBody>
      </p:sp>
      <p:sp>
        <p:nvSpPr>
          <p:cNvPr id="4" name="heading"/>
          <p:cNvSpPr txBox="1"/>
          <p:nvPr/>
        </p:nvSpPr>
        <p:spPr>
          <a:xfrm>
            <a:off x="2926080" y="868680"/>
            <a:ext cx="7452360" cy="502920"/>
          </a:xfrm>
          <a:prstGeom prst="rect">
            <a:avLst/>
          </a:prstGeom>
          <a:noFill/>
        </p:spPr>
        <p:txBody>
          <a:bodyPr wrap="square" lIns="0" rIns="0" tIns="0" bIns="0" anchor="t">
            <a:spAutoFit/>
          </a:bodyPr>
          <a:lstStyle/>
          <a:p>
            <a:pPr algn="r">
              <a:lnSpc>
                <a:spcPct val="100000"/>
              </a:lnSpc>
            </a:pPr>
            <a:r>
              <a:rPr sz="2700" b="0" i="0">
                <a:solidFill>
                  <a:srgbClr val="1A1A1A"/>
                </a:solidFill>
                <a:latin typeface="Calibri"/>
              </a:rPr>
              <a:t>Work Flow</a:t>
            </a:r>
          </a:p>
        </p:txBody>
      </p:sp>
      <p:sp>
        <p:nvSpPr>
          <p:cNvPr id="5" name="tealrule"/>
          <p:cNvSpPr/>
          <p:nvPr/>
        </p:nvSpPr>
        <p:spPr>
          <a:xfrm>
            <a:off x="3017520" y="1517904"/>
            <a:ext cx="7360920" cy="41148"/>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airline"/>
          <p:cNvSpPr/>
          <p:nvPr/>
        </p:nvSpPr>
        <p:spPr>
          <a:xfrm>
            <a:off x="411480" y="1664208"/>
            <a:ext cx="11018520" cy="7315"/>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band"/>
          <p:cNvSpPr/>
          <p:nvPr/>
        </p:nvSpPr>
        <p:spPr>
          <a:xfrm>
            <a:off x="0" y="6528816"/>
            <a:ext cx="12191695" cy="329184"/>
          </a:xfrm>
          <a:prstGeom prst="rect">
            <a:avLst/>
          </a:prstGeom>
          <a:solidFill>
            <a:srgbClr val="BD5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text"/>
          <p:cNvSpPr txBox="1"/>
          <p:nvPr/>
        </p:nvSpPr>
        <p:spPr>
          <a:xfrm>
            <a:off x="0" y="6620255"/>
            <a:ext cx="12191695" cy="201168"/>
          </a:xfrm>
          <a:prstGeom prst="rect">
            <a:avLst/>
          </a:prstGeom>
          <a:noFill/>
        </p:spPr>
        <p:txBody>
          <a:bodyPr wrap="square" lIns="0" rIns="0" tIns="0" bIns="0" anchor="t">
            <a:spAutoFit/>
          </a:bodyPr>
          <a:lstStyle/>
          <a:p>
            <a:pPr algn="ctr">
              <a:lnSpc>
                <a:spcPct val="100000"/>
              </a:lnSpc>
            </a:pPr>
            <a:r>
              <a:rPr sz="800" b="0" i="0">
                <a:solidFill>
                  <a:srgbClr val="FFFFFF"/>
                </a:solidFill>
                <a:latin typeface="Calibri"/>
              </a:rPr>
              <a:t>SANTOSH CHEETHIRALA_NIVAS REDDY DANDU_C. SREE KRISHNA KOUSHIK_MARREDDY RUSHI ESWAR REDDY</a:t>
            </a:r>
          </a:p>
        </p:txBody>
      </p:sp>
      <p:sp>
        <p:nvSpPr>
          <p:cNvPr id="9" name="lead"/>
          <p:cNvSpPr txBox="1"/>
          <p:nvPr/>
        </p:nvSpPr>
        <p:spPr>
          <a:xfrm>
            <a:off x="822960" y="1901952"/>
            <a:ext cx="10515600" cy="365760"/>
          </a:xfrm>
          <a:prstGeom prst="rect">
            <a:avLst/>
          </a:prstGeom>
          <a:noFill/>
        </p:spPr>
        <p:txBody>
          <a:bodyPr wrap="square" lIns="0" rIns="0" tIns="0" bIns="0" anchor="t">
            <a:spAutoFit/>
          </a:bodyPr>
          <a:lstStyle/>
          <a:p>
            <a:pPr algn="ctr">
              <a:lnSpc>
                <a:spcPct val="100000"/>
              </a:lnSpc>
            </a:pPr>
            <a:r>
              <a:rPr sz="1700" b="1" i="0">
                <a:solidFill>
                  <a:srgbClr val="1F3864"/>
                </a:solidFill>
                <a:latin typeface="Calibri"/>
              </a:rPr>
              <a:t>One measurement pipeline, applied at each level</a:t>
            </a:r>
          </a:p>
        </p:txBody>
      </p:sp>
      <p:pic>
        <p:nvPicPr>
          <p:cNvPr id="10" name="stage1" descr="f5_pipeline_1.png"/>
          <p:cNvPicPr>
            <a:picLocks noChangeAspect="1"/>
          </p:cNvPicPr>
          <p:nvPr/>
        </p:nvPicPr>
        <p:blipFill>
          <a:blip r:embed="rId3"/>
          <a:stretch>
            <a:fillRect/>
          </a:stretch>
        </p:blipFill>
        <p:spPr>
          <a:xfrm>
            <a:off x="548640" y="2404872"/>
            <a:ext cx="11064240" cy="3055254"/>
          </a:xfrm>
          <a:prstGeom prst="rect">
            <a:avLst/>
          </a:prstGeom>
        </p:spPr>
      </p:pic>
      <p:pic>
        <p:nvPicPr>
          <p:cNvPr id="11" name="stage2" descr="f5_pipeline_2.png"/>
          <p:cNvPicPr>
            <a:picLocks noChangeAspect="1"/>
          </p:cNvPicPr>
          <p:nvPr/>
        </p:nvPicPr>
        <p:blipFill>
          <a:blip r:embed="rId4"/>
          <a:stretch>
            <a:fillRect/>
          </a:stretch>
        </p:blipFill>
        <p:spPr>
          <a:xfrm>
            <a:off x="548640" y="2404872"/>
            <a:ext cx="11064240" cy="3055254"/>
          </a:xfrm>
          <a:prstGeom prst="rect">
            <a:avLst/>
          </a:prstGeom>
        </p:spPr>
      </p:pic>
      <p:pic>
        <p:nvPicPr>
          <p:cNvPr id="12" name="stage3" descr="f5_pipeline_3.png"/>
          <p:cNvPicPr>
            <a:picLocks noChangeAspect="1"/>
          </p:cNvPicPr>
          <p:nvPr/>
        </p:nvPicPr>
        <p:blipFill>
          <a:blip r:embed="rId5"/>
          <a:stretch>
            <a:fillRect/>
          </a:stretch>
        </p:blipFill>
        <p:spPr>
          <a:xfrm>
            <a:off x="548640" y="2404872"/>
            <a:ext cx="11064240" cy="3055254"/>
          </a:xfrm>
          <a:prstGeom prst="rect">
            <a:avLst/>
          </a:prstGeom>
        </p:spPr>
      </p:pic>
      <p:pic>
        <p:nvPicPr>
          <p:cNvPr id="13" name="stage4" descr="f5_pipeline_4.png"/>
          <p:cNvPicPr>
            <a:picLocks noChangeAspect="1"/>
          </p:cNvPicPr>
          <p:nvPr/>
        </p:nvPicPr>
        <p:blipFill>
          <a:blip r:embed="rId6"/>
          <a:stretch>
            <a:fillRect/>
          </a:stretch>
        </p:blipFill>
        <p:spPr>
          <a:xfrm>
            <a:off x="548640" y="2404872"/>
            <a:ext cx="11064240" cy="3055254"/>
          </a:xfrm>
          <a:prstGeom prst="rect">
            <a:avLst/>
          </a:prstGeom>
        </p:spPr>
      </p:pic>
      <p:pic>
        <p:nvPicPr>
          <p:cNvPr id="14" name="stage5" descr="f5_pipeline_5.png"/>
          <p:cNvPicPr>
            <a:picLocks noChangeAspect="1"/>
          </p:cNvPicPr>
          <p:nvPr/>
        </p:nvPicPr>
        <p:blipFill>
          <a:blip r:embed="rId7"/>
          <a:stretch>
            <a:fillRect/>
          </a:stretch>
        </p:blipFill>
        <p:spPr>
          <a:xfrm>
            <a:off x="548640" y="2404872"/>
            <a:ext cx="11064240" cy="3055254"/>
          </a:xfrm>
          <a:prstGeom prst="rect">
            <a:avLst/>
          </a:prstGeom>
        </p:spPr>
      </p:pic>
      <p:pic>
        <p:nvPicPr>
          <p:cNvPr id="15" name="stage6" descr="f5_pipeline_6.png"/>
          <p:cNvPicPr>
            <a:picLocks noChangeAspect="1"/>
          </p:cNvPicPr>
          <p:nvPr/>
        </p:nvPicPr>
        <p:blipFill>
          <a:blip r:embed="rId8"/>
          <a:stretch>
            <a:fillRect/>
          </a:stretch>
        </p:blipFill>
        <p:spPr>
          <a:xfrm>
            <a:off x="548640" y="2404872"/>
            <a:ext cx="11064240" cy="3055254"/>
          </a:xfrm>
          <a:prstGeom prst="rect">
            <a:avLst/>
          </a:prstGeom>
        </p:spPr>
      </p:pic>
      <p:sp>
        <p:nvSpPr>
          <p:cNvPr id="16" name="note"/>
          <p:cNvSpPr txBox="1"/>
          <p:nvPr/>
        </p:nvSpPr>
        <p:spPr>
          <a:xfrm>
            <a:off x="822960" y="5742432"/>
            <a:ext cx="10515600" cy="640080"/>
          </a:xfrm>
          <a:prstGeom prst="rect">
            <a:avLst/>
          </a:prstGeom>
          <a:noFill/>
        </p:spPr>
        <p:txBody>
          <a:bodyPr wrap="square" lIns="0" rIns="0" tIns="0" bIns="0" anchor="t">
            <a:spAutoFit/>
          </a:bodyPr>
          <a:lstStyle/>
          <a:p>
            <a:pPr algn="ctr">
              <a:lnSpc>
                <a:spcPct val="115000"/>
              </a:lnSpc>
            </a:pPr>
            <a:r>
              <a:rPr sz="1300" b="0" i="0">
                <a:solidFill>
                  <a:srgbClr val="7F7F7F"/>
                </a:solidFill>
                <a:latin typeface="Calibri"/>
              </a:rPr>
              <a:t>Every study reports the same four quantities, so the three levels read as one instrument characterised at three depths rather than three separate projects.</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38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38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38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38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380"/>
                                        <p:tgtEl>
                                          <p:spTgt spid="13"/>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380"/>
                                        <p:tgtEl>
                                          <p:spTgt spid="14"/>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380"/>
                                        <p:tgtEl>
                                          <p:spTgt spid="15"/>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38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ogo" descr="PES University - Logo 2.png"/>
          <p:cNvPicPr>
            <a:picLocks noChangeAspect="1"/>
          </p:cNvPicPr>
          <p:nvPr/>
        </p:nvPicPr>
        <p:blipFill>
          <a:blip r:embed="rId2"/>
          <a:stretch>
            <a:fillRect/>
          </a:stretch>
        </p:blipFill>
        <p:spPr>
          <a:xfrm>
            <a:off x="10533888" y="146304"/>
            <a:ext cx="1298448" cy="591337"/>
          </a:xfrm>
          <a:prstGeom prst="rect">
            <a:avLst/>
          </a:prstGeom>
        </p:spPr>
      </p:pic>
      <p:sp>
        <p:nvSpPr>
          <p:cNvPr id="3" name="runhead"/>
          <p:cNvSpPr txBox="1"/>
          <p:nvPr/>
        </p:nvSpPr>
        <p:spPr>
          <a:xfrm>
            <a:off x="411480" y="237744"/>
            <a:ext cx="6858000" cy="274320"/>
          </a:xfrm>
          <a:prstGeom prst="rect">
            <a:avLst/>
          </a:prstGeom>
          <a:noFill/>
        </p:spPr>
        <p:txBody>
          <a:bodyPr wrap="square" lIns="0" rIns="0" tIns="0" bIns="0" anchor="t">
            <a:spAutoFit/>
          </a:bodyPr>
          <a:lstStyle/>
          <a:p>
            <a:pPr algn="l">
              <a:lnSpc>
                <a:spcPct val="100000"/>
              </a:lnSpc>
            </a:pPr>
            <a:r>
              <a:rPr sz="1050" b="1" i="0">
                <a:solidFill>
                  <a:srgbClr val="7F7F7F"/>
                </a:solidFill>
                <a:latin typeface="Calibri"/>
              </a:rPr>
              <a:t>CALIPER: Calibrating Interpretability Readouts for Language Models</a:t>
            </a:r>
          </a:p>
        </p:txBody>
      </p:sp>
      <p:sp>
        <p:nvSpPr>
          <p:cNvPr id="4" name="heading"/>
          <p:cNvSpPr txBox="1"/>
          <p:nvPr/>
        </p:nvSpPr>
        <p:spPr>
          <a:xfrm>
            <a:off x="2926080" y="868680"/>
            <a:ext cx="7452360" cy="502920"/>
          </a:xfrm>
          <a:prstGeom prst="rect">
            <a:avLst/>
          </a:prstGeom>
          <a:noFill/>
        </p:spPr>
        <p:txBody>
          <a:bodyPr wrap="square" lIns="0" rIns="0" tIns="0" bIns="0" anchor="t">
            <a:spAutoFit/>
          </a:bodyPr>
          <a:lstStyle/>
          <a:p>
            <a:pPr algn="r">
              <a:lnSpc>
                <a:spcPct val="100000"/>
              </a:lnSpc>
            </a:pPr>
            <a:r>
              <a:rPr sz="2700" b="0" i="0">
                <a:solidFill>
                  <a:srgbClr val="1A1A1A"/>
                </a:solidFill>
                <a:latin typeface="Calibri"/>
              </a:rPr>
              <a:t>Scope</a:t>
            </a:r>
          </a:p>
        </p:txBody>
      </p:sp>
      <p:sp>
        <p:nvSpPr>
          <p:cNvPr id="5" name="tealrule"/>
          <p:cNvSpPr/>
          <p:nvPr/>
        </p:nvSpPr>
        <p:spPr>
          <a:xfrm>
            <a:off x="3017520" y="1517904"/>
            <a:ext cx="7360920" cy="41148"/>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airline"/>
          <p:cNvSpPr/>
          <p:nvPr/>
        </p:nvSpPr>
        <p:spPr>
          <a:xfrm>
            <a:off x="411480" y="1664208"/>
            <a:ext cx="11018520" cy="7315"/>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band"/>
          <p:cNvSpPr/>
          <p:nvPr/>
        </p:nvSpPr>
        <p:spPr>
          <a:xfrm>
            <a:off x="0" y="6528816"/>
            <a:ext cx="12191695" cy="329184"/>
          </a:xfrm>
          <a:prstGeom prst="rect">
            <a:avLst/>
          </a:prstGeom>
          <a:solidFill>
            <a:srgbClr val="BD5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text"/>
          <p:cNvSpPr txBox="1"/>
          <p:nvPr/>
        </p:nvSpPr>
        <p:spPr>
          <a:xfrm>
            <a:off x="0" y="6620255"/>
            <a:ext cx="12191695" cy="201168"/>
          </a:xfrm>
          <a:prstGeom prst="rect">
            <a:avLst/>
          </a:prstGeom>
          <a:noFill/>
        </p:spPr>
        <p:txBody>
          <a:bodyPr wrap="square" lIns="0" rIns="0" tIns="0" bIns="0" anchor="t">
            <a:spAutoFit/>
          </a:bodyPr>
          <a:lstStyle/>
          <a:p>
            <a:pPr algn="ctr">
              <a:lnSpc>
                <a:spcPct val="100000"/>
              </a:lnSpc>
            </a:pPr>
            <a:r>
              <a:rPr sz="800" b="0" i="0">
                <a:solidFill>
                  <a:srgbClr val="FFFFFF"/>
                </a:solidFill>
                <a:latin typeface="Calibri"/>
              </a:rPr>
              <a:t>SANTOSH CHEETHIRALA_NIVAS REDDY DANDU_C. SREE KRISHNA KOUSHIK_MARREDDY RUSHI ESWAR REDDY</a:t>
            </a:r>
          </a:p>
        </p:txBody>
      </p:sp>
      <p:sp>
        <p:nvSpPr>
          <p:cNvPr id="9" name="hd0"/>
          <p:cNvSpPr/>
          <p:nvPr/>
        </p:nvSpPr>
        <p:spPr>
          <a:xfrm>
            <a:off x="685800" y="1901952"/>
            <a:ext cx="5212080" cy="420624"/>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t0"/>
          <p:cNvSpPr txBox="1"/>
          <p:nvPr/>
        </p:nvSpPr>
        <p:spPr>
          <a:xfrm>
            <a:off x="914400" y="1993392"/>
            <a:ext cx="4754880" cy="274320"/>
          </a:xfrm>
          <a:prstGeom prst="rect">
            <a:avLst/>
          </a:prstGeom>
          <a:noFill/>
        </p:spPr>
        <p:txBody>
          <a:bodyPr wrap="square" lIns="0" rIns="0" tIns="0" bIns="0" anchor="t">
            <a:spAutoFit/>
          </a:bodyPr>
          <a:lstStyle/>
          <a:p>
            <a:pPr algn="l">
              <a:lnSpc>
                <a:spcPct val="100000"/>
              </a:lnSpc>
            </a:pPr>
            <a:r>
              <a:rPr sz="1600" b="1" i="0">
                <a:solidFill>
                  <a:srgbClr val="FFFFFF"/>
                </a:solidFill>
                <a:latin typeface="Calibri"/>
              </a:rPr>
              <a:t>In scope</a:t>
            </a:r>
          </a:p>
        </p:txBody>
      </p:sp>
      <p:sp>
        <p:nvSpPr>
          <p:cNvPr id="11" name="d00"/>
          <p:cNvSpPr txBox="1"/>
          <p:nvPr/>
        </p:nvSpPr>
        <p:spPr>
          <a:xfrm>
            <a:off x="777240" y="2578608"/>
            <a:ext cx="274320" cy="274320"/>
          </a:xfrm>
          <a:prstGeom prst="rect">
            <a:avLst/>
          </a:prstGeom>
          <a:noFill/>
        </p:spPr>
        <p:txBody>
          <a:bodyPr wrap="square" lIns="0" rIns="0" tIns="0" bIns="0" anchor="t">
            <a:spAutoFit/>
          </a:bodyPr>
          <a:lstStyle/>
          <a:p>
            <a:pPr algn="l">
              <a:lnSpc>
                <a:spcPct val="100000"/>
              </a:lnSpc>
            </a:pPr>
            <a:r>
              <a:rPr sz="1400" b="1" i="0">
                <a:solidFill>
                  <a:srgbClr val="1F3864"/>
                </a:solidFill>
                <a:latin typeface="Calibri"/>
              </a:rPr>
              <a:t>•</a:t>
            </a:r>
          </a:p>
        </p:txBody>
      </p:sp>
      <p:sp>
        <p:nvSpPr>
          <p:cNvPr id="12" name="b00"/>
          <p:cNvSpPr txBox="1"/>
          <p:nvPr/>
        </p:nvSpPr>
        <p:spPr>
          <a:xfrm>
            <a:off x="1069848" y="2560320"/>
            <a:ext cx="4709160" cy="246888"/>
          </a:xfrm>
          <a:prstGeom prst="rect">
            <a:avLst/>
          </a:prstGeom>
          <a:noFill/>
        </p:spPr>
        <p:txBody>
          <a:bodyPr wrap="square" lIns="0" rIns="0" tIns="0" bIns="0" anchor="t">
            <a:spAutoFit/>
          </a:bodyPr>
          <a:lstStyle/>
          <a:p>
            <a:pPr algn="l">
              <a:lnSpc>
                <a:spcPct val="116000"/>
              </a:lnSpc>
            </a:pPr>
            <a:r>
              <a:rPr sz="1350" b="0" i="0">
                <a:solidFill>
                  <a:srgbClr val="1A1A1A"/>
                </a:solidFill>
                <a:latin typeface="Calibri"/>
              </a:rPr>
              <a:t>Three levels of readout: unit, trait, self.</a:t>
            </a:r>
          </a:p>
        </p:txBody>
      </p:sp>
      <p:sp>
        <p:nvSpPr>
          <p:cNvPr id="13" name="d01"/>
          <p:cNvSpPr txBox="1"/>
          <p:nvPr/>
        </p:nvSpPr>
        <p:spPr>
          <a:xfrm>
            <a:off x="777240" y="2971800"/>
            <a:ext cx="274320" cy="274320"/>
          </a:xfrm>
          <a:prstGeom prst="rect">
            <a:avLst/>
          </a:prstGeom>
          <a:noFill/>
        </p:spPr>
        <p:txBody>
          <a:bodyPr wrap="square" lIns="0" rIns="0" tIns="0" bIns="0" anchor="t">
            <a:spAutoFit/>
          </a:bodyPr>
          <a:lstStyle/>
          <a:p>
            <a:pPr algn="l">
              <a:lnSpc>
                <a:spcPct val="100000"/>
              </a:lnSpc>
            </a:pPr>
            <a:r>
              <a:rPr sz="1400" b="1" i="0">
                <a:solidFill>
                  <a:srgbClr val="1F3864"/>
                </a:solidFill>
                <a:latin typeface="Calibri"/>
              </a:rPr>
              <a:t>•</a:t>
            </a:r>
          </a:p>
        </p:txBody>
      </p:sp>
      <p:sp>
        <p:nvSpPr>
          <p:cNvPr id="14" name="b01"/>
          <p:cNvSpPr txBox="1"/>
          <p:nvPr/>
        </p:nvSpPr>
        <p:spPr>
          <a:xfrm>
            <a:off x="1069848" y="2953512"/>
            <a:ext cx="4709160" cy="740664"/>
          </a:xfrm>
          <a:prstGeom prst="rect">
            <a:avLst/>
          </a:prstGeom>
          <a:noFill/>
        </p:spPr>
        <p:txBody>
          <a:bodyPr wrap="square" lIns="0" rIns="0" tIns="0" bIns="0" anchor="t">
            <a:spAutoFit/>
          </a:bodyPr>
          <a:lstStyle/>
          <a:p>
            <a:pPr algn="l">
              <a:lnSpc>
                <a:spcPct val="116000"/>
              </a:lnSpc>
            </a:pPr>
            <a:r>
              <a:rPr sz="1350" b="0" i="0">
                <a:solidFill>
                  <a:srgbClr val="1A1A1A"/>
                </a:solidFill>
                <a:latin typeface="Calibri"/>
              </a:rPr>
              <a:t>Open-weight models only — GPT-2 small for the unit level, one ≥ 27B instruct model for trait and self.</a:t>
            </a:r>
          </a:p>
        </p:txBody>
      </p:sp>
      <p:sp>
        <p:nvSpPr>
          <p:cNvPr id="15" name="d02"/>
          <p:cNvSpPr txBox="1"/>
          <p:nvPr/>
        </p:nvSpPr>
        <p:spPr>
          <a:xfrm>
            <a:off x="777240" y="3858768"/>
            <a:ext cx="274320" cy="274320"/>
          </a:xfrm>
          <a:prstGeom prst="rect">
            <a:avLst/>
          </a:prstGeom>
          <a:noFill/>
        </p:spPr>
        <p:txBody>
          <a:bodyPr wrap="square" lIns="0" rIns="0" tIns="0" bIns="0" anchor="t">
            <a:spAutoFit/>
          </a:bodyPr>
          <a:lstStyle/>
          <a:p>
            <a:pPr algn="l">
              <a:lnSpc>
                <a:spcPct val="100000"/>
              </a:lnSpc>
            </a:pPr>
            <a:r>
              <a:rPr sz="1400" b="1" i="0">
                <a:solidFill>
                  <a:srgbClr val="1F3864"/>
                </a:solidFill>
                <a:latin typeface="Calibri"/>
              </a:rPr>
              <a:t>•</a:t>
            </a:r>
          </a:p>
        </p:txBody>
      </p:sp>
      <p:sp>
        <p:nvSpPr>
          <p:cNvPr id="16" name="b02"/>
          <p:cNvSpPr txBox="1"/>
          <p:nvPr/>
        </p:nvSpPr>
        <p:spPr>
          <a:xfrm>
            <a:off x="1069848" y="3840480"/>
            <a:ext cx="4709160" cy="246888"/>
          </a:xfrm>
          <a:prstGeom prst="rect">
            <a:avLst/>
          </a:prstGeom>
          <a:noFill/>
        </p:spPr>
        <p:txBody>
          <a:bodyPr wrap="square" lIns="0" rIns="0" tIns="0" bIns="0" anchor="t">
            <a:spAutoFit/>
          </a:bodyPr>
          <a:lstStyle/>
          <a:p>
            <a:pPr algn="l">
              <a:lnSpc>
                <a:spcPct val="116000"/>
              </a:lnSpc>
            </a:pPr>
            <a:r>
              <a:rPr sz="1350" b="0" i="0">
                <a:solidFill>
                  <a:srgbClr val="1A1A1A"/>
                </a:solidFill>
                <a:latin typeface="Calibri"/>
              </a:rPr>
              <a:t>English text, public-domain corpora.</a:t>
            </a:r>
          </a:p>
        </p:txBody>
      </p:sp>
      <p:sp>
        <p:nvSpPr>
          <p:cNvPr id="17" name="d03"/>
          <p:cNvSpPr txBox="1"/>
          <p:nvPr/>
        </p:nvSpPr>
        <p:spPr>
          <a:xfrm>
            <a:off x="777240" y="4251959"/>
            <a:ext cx="274320" cy="274320"/>
          </a:xfrm>
          <a:prstGeom prst="rect">
            <a:avLst/>
          </a:prstGeom>
          <a:noFill/>
        </p:spPr>
        <p:txBody>
          <a:bodyPr wrap="square" lIns="0" rIns="0" tIns="0" bIns="0" anchor="t">
            <a:spAutoFit/>
          </a:bodyPr>
          <a:lstStyle/>
          <a:p>
            <a:pPr algn="l">
              <a:lnSpc>
                <a:spcPct val="100000"/>
              </a:lnSpc>
            </a:pPr>
            <a:r>
              <a:rPr sz="1400" b="1" i="0">
                <a:solidFill>
                  <a:srgbClr val="1F3864"/>
                </a:solidFill>
                <a:latin typeface="Calibri"/>
              </a:rPr>
              <a:t>•</a:t>
            </a:r>
          </a:p>
        </p:txBody>
      </p:sp>
      <p:sp>
        <p:nvSpPr>
          <p:cNvPr id="18" name="b03"/>
          <p:cNvSpPr txBox="1"/>
          <p:nvPr/>
        </p:nvSpPr>
        <p:spPr>
          <a:xfrm>
            <a:off x="1069848" y="4233672"/>
            <a:ext cx="4709160" cy="493776"/>
          </a:xfrm>
          <a:prstGeom prst="rect">
            <a:avLst/>
          </a:prstGeom>
          <a:noFill/>
        </p:spPr>
        <p:txBody>
          <a:bodyPr wrap="square" lIns="0" rIns="0" tIns="0" bIns="0" anchor="t">
            <a:spAutoFit/>
          </a:bodyPr>
          <a:lstStyle/>
          <a:p>
            <a:pPr algn="l">
              <a:lnSpc>
                <a:spcPct val="116000"/>
              </a:lnSpc>
            </a:pPr>
            <a:r>
              <a:rPr sz="1350" b="0" i="0">
                <a:solidFill>
                  <a:srgbClr val="1A1A1A"/>
                </a:solidFill>
                <a:latin typeface="Calibri"/>
              </a:rPr>
              <a:t>Readouts that are already published. We test instruments, we do not invent them.</a:t>
            </a:r>
          </a:p>
        </p:txBody>
      </p:sp>
      <p:sp>
        <p:nvSpPr>
          <p:cNvPr id="19" name="hd1"/>
          <p:cNvSpPr/>
          <p:nvPr/>
        </p:nvSpPr>
        <p:spPr>
          <a:xfrm>
            <a:off x="6309360" y="1901952"/>
            <a:ext cx="5212080" cy="420624"/>
          </a:xfrm>
          <a:prstGeom prst="rect">
            <a:avLst/>
          </a:prstGeom>
          <a:solidFill>
            <a:srgbClr val="BD5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ht1"/>
          <p:cNvSpPr txBox="1"/>
          <p:nvPr/>
        </p:nvSpPr>
        <p:spPr>
          <a:xfrm>
            <a:off x="6537960" y="1993392"/>
            <a:ext cx="4754880" cy="274320"/>
          </a:xfrm>
          <a:prstGeom prst="rect">
            <a:avLst/>
          </a:prstGeom>
          <a:noFill/>
        </p:spPr>
        <p:txBody>
          <a:bodyPr wrap="square" lIns="0" rIns="0" tIns="0" bIns="0" anchor="t">
            <a:spAutoFit/>
          </a:bodyPr>
          <a:lstStyle/>
          <a:p>
            <a:pPr algn="l">
              <a:lnSpc>
                <a:spcPct val="100000"/>
              </a:lnSpc>
            </a:pPr>
            <a:r>
              <a:rPr sz="1600" b="1" i="0">
                <a:solidFill>
                  <a:srgbClr val="FFFFFF"/>
                </a:solidFill>
                <a:latin typeface="Calibri"/>
              </a:rPr>
              <a:t>Out of scope</a:t>
            </a:r>
          </a:p>
        </p:txBody>
      </p:sp>
      <p:sp>
        <p:nvSpPr>
          <p:cNvPr id="21" name="d10"/>
          <p:cNvSpPr txBox="1"/>
          <p:nvPr/>
        </p:nvSpPr>
        <p:spPr>
          <a:xfrm>
            <a:off x="6400800" y="2578608"/>
            <a:ext cx="274320" cy="274320"/>
          </a:xfrm>
          <a:prstGeom prst="rect">
            <a:avLst/>
          </a:prstGeom>
          <a:noFill/>
        </p:spPr>
        <p:txBody>
          <a:bodyPr wrap="square" lIns="0" rIns="0" tIns="0" bIns="0" anchor="t">
            <a:spAutoFit/>
          </a:bodyPr>
          <a:lstStyle/>
          <a:p>
            <a:pPr algn="l">
              <a:lnSpc>
                <a:spcPct val="100000"/>
              </a:lnSpc>
            </a:pPr>
            <a:r>
              <a:rPr sz="1400" b="1" i="0">
                <a:solidFill>
                  <a:srgbClr val="BD582B"/>
                </a:solidFill>
                <a:latin typeface="Calibri"/>
              </a:rPr>
              <a:t>•</a:t>
            </a:r>
          </a:p>
        </p:txBody>
      </p:sp>
      <p:sp>
        <p:nvSpPr>
          <p:cNvPr id="22" name="b10"/>
          <p:cNvSpPr txBox="1"/>
          <p:nvPr/>
        </p:nvSpPr>
        <p:spPr>
          <a:xfrm>
            <a:off x="6693408" y="2560320"/>
            <a:ext cx="4709160" cy="740664"/>
          </a:xfrm>
          <a:prstGeom prst="rect">
            <a:avLst/>
          </a:prstGeom>
          <a:noFill/>
        </p:spPr>
        <p:txBody>
          <a:bodyPr wrap="square" lIns="0" rIns="0" tIns="0" bIns="0" anchor="t">
            <a:spAutoFit/>
          </a:bodyPr>
          <a:lstStyle/>
          <a:p>
            <a:pPr algn="l">
              <a:lnSpc>
                <a:spcPct val="116000"/>
              </a:lnSpc>
            </a:pPr>
            <a:r>
              <a:rPr sz="1350" b="0" i="0">
                <a:solidFill>
                  <a:srgbClr val="1A1A1A"/>
                </a:solidFill>
                <a:latin typeface="Calibri"/>
              </a:rPr>
              <a:t>No claim about machine consciousness. The terms are introspective accuracy and self-report validity.</a:t>
            </a:r>
          </a:p>
        </p:txBody>
      </p:sp>
      <p:sp>
        <p:nvSpPr>
          <p:cNvPr id="23" name="d11"/>
          <p:cNvSpPr txBox="1"/>
          <p:nvPr/>
        </p:nvSpPr>
        <p:spPr>
          <a:xfrm>
            <a:off x="6400800" y="3465576"/>
            <a:ext cx="274320" cy="274320"/>
          </a:xfrm>
          <a:prstGeom prst="rect">
            <a:avLst/>
          </a:prstGeom>
          <a:noFill/>
        </p:spPr>
        <p:txBody>
          <a:bodyPr wrap="square" lIns="0" rIns="0" tIns="0" bIns="0" anchor="t">
            <a:spAutoFit/>
          </a:bodyPr>
          <a:lstStyle/>
          <a:p>
            <a:pPr algn="l">
              <a:lnSpc>
                <a:spcPct val="100000"/>
              </a:lnSpc>
            </a:pPr>
            <a:r>
              <a:rPr sz="1400" b="1" i="0">
                <a:solidFill>
                  <a:srgbClr val="BD582B"/>
                </a:solidFill>
                <a:latin typeface="Calibri"/>
              </a:rPr>
              <a:t>•</a:t>
            </a:r>
          </a:p>
        </p:txBody>
      </p:sp>
      <p:sp>
        <p:nvSpPr>
          <p:cNvPr id="24" name="b11"/>
          <p:cNvSpPr txBox="1"/>
          <p:nvPr/>
        </p:nvSpPr>
        <p:spPr>
          <a:xfrm>
            <a:off x="6693408" y="3447288"/>
            <a:ext cx="4709160" cy="493776"/>
          </a:xfrm>
          <a:prstGeom prst="rect">
            <a:avLst/>
          </a:prstGeom>
          <a:noFill/>
        </p:spPr>
        <p:txBody>
          <a:bodyPr wrap="square" lIns="0" rIns="0" tIns="0" bIns="0" anchor="t">
            <a:spAutoFit/>
          </a:bodyPr>
          <a:lstStyle/>
          <a:p>
            <a:pPr algn="l">
              <a:lnSpc>
                <a:spcPct val="116000"/>
              </a:lnSpc>
            </a:pPr>
            <a:r>
              <a:rPr sz="1350" b="0" i="0">
                <a:solidFill>
                  <a:srgbClr val="1A1A1A"/>
                </a:solidFill>
                <a:latin typeface="Calibri"/>
              </a:rPr>
              <a:t>No training-time work — every experiment is inference only.</a:t>
            </a:r>
          </a:p>
        </p:txBody>
      </p:sp>
      <p:sp>
        <p:nvSpPr>
          <p:cNvPr id="25" name="d12"/>
          <p:cNvSpPr txBox="1"/>
          <p:nvPr/>
        </p:nvSpPr>
        <p:spPr>
          <a:xfrm>
            <a:off x="6400800" y="4105655"/>
            <a:ext cx="274320" cy="274320"/>
          </a:xfrm>
          <a:prstGeom prst="rect">
            <a:avLst/>
          </a:prstGeom>
          <a:noFill/>
        </p:spPr>
        <p:txBody>
          <a:bodyPr wrap="square" lIns="0" rIns="0" tIns="0" bIns="0" anchor="t">
            <a:spAutoFit/>
          </a:bodyPr>
          <a:lstStyle/>
          <a:p>
            <a:pPr algn="l">
              <a:lnSpc>
                <a:spcPct val="100000"/>
              </a:lnSpc>
            </a:pPr>
            <a:r>
              <a:rPr sz="1400" b="1" i="0">
                <a:solidFill>
                  <a:srgbClr val="BD582B"/>
                </a:solidFill>
                <a:latin typeface="Calibri"/>
              </a:rPr>
              <a:t>•</a:t>
            </a:r>
          </a:p>
        </p:txBody>
      </p:sp>
      <p:sp>
        <p:nvSpPr>
          <p:cNvPr id="26" name="b12"/>
          <p:cNvSpPr txBox="1"/>
          <p:nvPr/>
        </p:nvSpPr>
        <p:spPr>
          <a:xfrm>
            <a:off x="6693408" y="4087368"/>
            <a:ext cx="4709160" cy="493776"/>
          </a:xfrm>
          <a:prstGeom prst="rect">
            <a:avLst/>
          </a:prstGeom>
          <a:noFill/>
        </p:spPr>
        <p:txBody>
          <a:bodyPr wrap="square" lIns="0" rIns="0" tIns="0" bIns="0" anchor="t">
            <a:spAutoFit/>
          </a:bodyPr>
          <a:lstStyle/>
          <a:p>
            <a:pPr algn="l">
              <a:lnSpc>
                <a:spcPct val="116000"/>
              </a:lnSpc>
            </a:pPr>
            <a:r>
              <a:rPr sz="1350" b="0" i="0">
                <a:solidFill>
                  <a:srgbClr val="1A1A1A"/>
                </a:solidFill>
                <a:latin typeface="Calibri"/>
              </a:rPr>
              <a:t>No proprietary or API-only models; results must be reproducible by anyone.</a:t>
            </a:r>
          </a:p>
        </p:txBody>
      </p:sp>
      <p:sp>
        <p:nvSpPr>
          <p:cNvPr id="27" name="d13"/>
          <p:cNvSpPr txBox="1"/>
          <p:nvPr/>
        </p:nvSpPr>
        <p:spPr>
          <a:xfrm>
            <a:off x="6400800" y="4745736"/>
            <a:ext cx="274320" cy="274320"/>
          </a:xfrm>
          <a:prstGeom prst="rect">
            <a:avLst/>
          </a:prstGeom>
          <a:noFill/>
        </p:spPr>
        <p:txBody>
          <a:bodyPr wrap="square" lIns="0" rIns="0" tIns="0" bIns="0" anchor="t">
            <a:spAutoFit/>
          </a:bodyPr>
          <a:lstStyle/>
          <a:p>
            <a:pPr algn="l">
              <a:lnSpc>
                <a:spcPct val="100000"/>
              </a:lnSpc>
            </a:pPr>
            <a:r>
              <a:rPr sz="1400" b="1" i="0">
                <a:solidFill>
                  <a:srgbClr val="BD582B"/>
                </a:solidFill>
                <a:latin typeface="Calibri"/>
              </a:rPr>
              <a:t>•</a:t>
            </a:r>
          </a:p>
        </p:txBody>
      </p:sp>
      <p:sp>
        <p:nvSpPr>
          <p:cNvPr id="28" name="b13"/>
          <p:cNvSpPr txBox="1"/>
          <p:nvPr/>
        </p:nvSpPr>
        <p:spPr>
          <a:xfrm>
            <a:off x="6693408" y="4727448"/>
            <a:ext cx="4709160" cy="493776"/>
          </a:xfrm>
          <a:prstGeom prst="rect">
            <a:avLst/>
          </a:prstGeom>
          <a:noFill/>
        </p:spPr>
        <p:txBody>
          <a:bodyPr wrap="square" lIns="0" rIns="0" tIns="0" bIns="0" anchor="t">
            <a:spAutoFit/>
          </a:bodyPr>
          <a:lstStyle/>
          <a:p>
            <a:pPr algn="l">
              <a:lnSpc>
                <a:spcPct val="116000"/>
              </a:lnSpc>
            </a:pPr>
            <a:r>
              <a:rPr sz="1350" b="0" i="0">
                <a:solidFill>
                  <a:srgbClr val="1A1A1A"/>
                </a:solidFill>
                <a:latin typeface="Calibri"/>
              </a:rPr>
              <a:t>Not a benchmark leaderboard. We measure error rates, not rankings.</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35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35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35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35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350"/>
                                        <p:tgtEl>
                                          <p:spTgt spid="1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35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350"/>
                                        <p:tgtEl>
                                          <p:spTgt spid="1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350"/>
                                        <p:tgtEl>
                                          <p:spTgt spid="15"/>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350"/>
                                        <p:tgtEl>
                                          <p:spTgt spid="1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350"/>
                                        <p:tgtEl>
                                          <p:spTgt spid="17"/>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350"/>
                                        <p:tgtEl>
                                          <p:spTgt spid="1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350"/>
                                        <p:tgtEl>
                                          <p:spTgt spid="20"/>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350"/>
                                        <p:tgtEl>
                                          <p:spTgt spid="22"/>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35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350"/>
                                        <p:tgtEl>
                                          <p:spTgt spid="24"/>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350"/>
                                        <p:tgtEl>
                                          <p:spTgt spid="23"/>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26"/>
                                        </p:tgtEl>
                                        <p:attrNameLst>
                                          <p:attrName>style.visibility</p:attrName>
                                        </p:attrNameLst>
                                      </p:cBhvr>
                                      <p:to>
                                        <p:strVal val="visible"/>
                                      </p:to>
                                    </p:set>
                                    <p:animEffect transition="in" filter="fade">
                                      <p:cBhvr>
                                        <p:cTn id="72" dur="350"/>
                                        <p:tgtEl>
                                          <p:spTgt spid="26"/>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350"/>
                                        <p:tgtEl>
                                          <p:spTgt spid="25"/>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28"/>
                                        </p:tgtEl>
                                        <p:attrNameLst>
                                          <p:attrName>style.visibility</p:attrName>
                                        </p:attrNameLst>
                                      </p:cBhvr>
                                      <p:to>
                                        <p:strVal val="visible"/>
                                      </p:to>
                                    </p:set>
                                    <p:animEffect transition="in" filter="fade">
                                      <p:cBhvr>
                                        <p:cTn id="80" dur="350"/>
                                        <p:tgtEl>
                                          <p:spTgt spid="28"/>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7"/>
                                        </p:tgtEl>
                                        <p:attrNameLst>
                                          <p:attrName>style.visibility</p:attrName>
                                        </p:attrNameLst>
                                      </p:cBhvr>
                                      <p:to>
                                        <p:strVal val="visible"/>
                                      </p:to>
                                    </p:set>
                                    <p:animEffect transition="in" filter="fade">
                                      <p:cBhvr>
                                        <p:cTn id="83" dur="3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ogo" descr="PES University - Logo 2.png"/>
          <p:cNvPicPr>
            <a:picLocks noChangeAspect="1"/>
          </p:cNvPicPr>
          <p:nvPr/>
        </p:nvPicPr>
        <p:blipFill>
          <a:blip r:embed="rId2"/>
          <a:stretch>
            <a:fillRect/>
          </a:stretch>
        </p:blipFill>
        <p:spPr>
          <a:xfrm>
            <a:off x="10533888" y="146304"/>
            <a:ext cx="1298448" cy="591337"/>
          </a:xfrm>
          <a:prstGeom prst="rect">
            <a:avLst/>
          </a:prstGeom>
        </p:spPr>
      </p:pic>
      <p:sp>
        <p:nvSpPr>
          <p:cNvPr id="3" name="runhead"/>
          <p:cNvSpPr txBox="1"/>
          <p:nvPr/>
        </p:nvSpPr>
        <p:spPr>
          <a:xfrm>
            <a:off x="411480" y="237744"/>
            <a:ext cx="6858000" cy="274320"/>
          </a:xfrm>
          <a:prstGeom prst="rect">
            <a:avLst/>
          </a:prstGeom>
          <a:noFill/>
        </p:spPr>
        <p:txBody>
          <a:bodyPr wrap="square" lIns="0" rIns="0" tIns="0" bIns="0" anchor="t">
            <a:spAutoFit/>
          </a:bodyPr>
          <a:lstStyle/>
          <a:p>
            <a:pPr algn="l">
              <a:lnSpc>
                <a:spcPct val="100000"/>
              </a:lnSpc>
            </a:pPr>
            <a:r>
              <a:rPr sz="1050" b="1" i="0">
                <a:solidFill>
                  <a:srgbClr val="7F7F7F"/>
                </a:solidFill>
                <a:latin typeface="Calibri"/>
              </a:rPr>
              <a:t>CALIPER: Calibrating Interpretability Readouts for Language Models</a:t>
            </a:r>
          </a:p>
        </p:txBody>
      </p:sp>
      <p:sp>
        <p:nvSpPr>
          <p:cNvPr id="4" name="heading"/>
          <p:cNvSpPr txBox="1"/>
          <p:nvPr/>
        </p:nvSpPr>
        <p:spPr>
          <a:xfrm>
            <a:off x="2926080" y="868680"/>
            <a:ext cx="7452360" cy="502920"/>
          </a:xfrm>
          <a:prstGeom prst="rect">
            <a:avLst/>
          </a:prstGeom>
          <a:noFill/>
        </p:spPr>
        <p:txBody>
          <a:bodyPr wrap="square" lIns="0" rIns="0" tIns="0" bIns="0" anchor="t">
            <a:spAutoFit/>
          </a:bodyPr>
          <a:lstStyle/>
          <a:p>
            <a:pPr algn="r">
              <a:lnSpc>
                <a:spcPct val="100000"/>
              </a:lnSpc>
            </a:pPr>
            <a:r>
              <a:rPr sz="2700" b="0" i="0">
                <a:solidFill>
                  <a:srgbClr val="1A1A1A"/>
                </a:solidFill>
                <a:latin typeface="Calibri"/>
              </a:rPr>
              <a:t>Feasibility study</a:t>
            </a:r>
          </a:p>
        </p:txBody>
      </p:sp>
      <p:sp>
        <p:nvSpPr>
          <p:cNvPr id="5" name="tealrule"/>
          <p:cNvSpPr/>
          <p:nvPr/>
        </p:nvSpPr>
        <p:spPr>
          <a:xfrm>
            <a:off x="3017520" y="1517904"/>
            <a:ext cx="7360920" cy="41148"/>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airline"/>
          <p:cNvSpPr/>
          <p:nvPr/>
        </p:nvSpPr>
        <p:spPr>
          <a:xfrm>
            <a:off x="411480" y="1664208"/>
            <a:ext cx="11018520" cy="7315"/>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band"/>
          <p:cNvSpPr/>
          <p:nvPr/>
        </p:nvSpPr>
        <p:spPr>
          <a:xfrm>
            <a:off x="0" y="6528816"/>
            <a:ext cx="12191695" cy="329184"/>
          </a:xfrm>
          <a:prstGeom prst="rect">
            <a:avLst/>
          </a:prstGeom>
          <a:solidFill>
            <a:srgbClr val="BD5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text"/>
          <p:cNvSpPr txBox="1"/>
          <p:nvPr/>
        </p:nvSpPr>
        <p:spPr>
          <a:xfrm>
            <a:off x="0" y="6620255"/>
            <a:ext cx="12191695" cy="201168"/>
          </a:xfrm>
          <a:prstGeom prst="rect">
            <a:avLst/>
          </a:prstGeom>
          <a:noFill/>
        </p:spPr>
        <p:txBody>
          <a:bodyPr wrap="square" lIns="0" rIns="0" tIns="0" bIns="0" anchor="t">
            <a:spAutoFit/>
          </a:bodyPr>
          <a:lstStyle/>
          <a:p>
            <a:pPr algn="ctr">
              <a:lnSpc>
                <a:spcPct val="100000"/>
              </a:lnSpc>
            </a:pPr>
            <a:r>
              <a:rPr sz="800" b="0" i="0">
                <a:solidFill>
                  <a:srgbClr val="FFFFFF"/>
                </a:solidFill>
                <a:latin typeface="Calibri"/>
              </a:rPr>
              <a:t>SANTOSH CHEETHIRALA_NIVAS REDDY DANDU_C. SREE KRISHNA KOUSHIK_MARREDDY RUSHI ESWAR REDDY</a:t>
            </a:r>
          </a:p>
        </p:txBody>
      </p:sp>
      <p:sp>
        <p:nvSpPr>
          <p:cNvPr id="9" name="n0"/>
          <p:cNvSpPr/>
          <p:nvPr/>
        </p:nvSpPr>
        <p:spPr>
          <a:xfrm>
            <a:off x="777240" y="1947672"/>
            <a:ext cx="402336" cy="402336"/>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nt0"/>
          <p:cNvSpPr txBox="1"/>
          <p:nvPr/>
        </p:nvSpPr>
        <p:spPr>
          <a:xfrm>
            <a:off x="777240" y="2029967"/>
            <a:ext cx="402336" cy="274320"/>
          </a:xfrm>
          <a:prstGeom prst="rect">
            <a:avLst/>
          </a:prstGeom>
          <a:noFill/>
        </p:spPr>
        <p:txBody>
          <a:bodyPr wrap="square" lIns="0" rIns="0" tIns="0" bIns="0" anchor="t">
            <a:spAutoFit/>
          </a:bodyPr>
          <a:lstStyle/>
          <a:p>
            <a:pPr algn="ctr">
              <a:lnSpc>
                <a:spcPct val="100000"/>
              </a:lnSpc>
            </a:pPr>
            <a:r>
              <a:rPr sz="1500" b="1" i="0">
                <a:solidFill>
                  <a:srgbClr val="FFFFFF"/>
                </a:solidFill>
                <a:latin typeface="Calibri"/>
              </a:rPr>
              <a:t>1</a:t>
            </a:r>
          </a:p>
        </p:txBody>
      </p:sp>
      <p:sp>
        <p:nvSpPr>
          <p:cNvPr id="11" name="t0"/>
          <p:cNvSpPr txBox="1"/>
          <p:nvPr/>
        </p:nvSpPr>
        <p:spPr>
          <a:xfrm>
            <a:off x="1371600" y="1965960"/>
            <a:ext cx="9875520" cy="274320"/>
          </a:xfrm>
          <a:prstGeom prst="rect">
            <a:avLst/>
          </a:prstGeom>
          <a:noFill/>
        </p:spPr>
        <p:txBody>
          <a:bodyPr wrap="square" lIns="0" rIns="0" tIns="0" bIns="0" anchor="t">
            <a:spAutoFit/>
          </a:bodyPr>
          <a:lstStyle/>
          <a:p>
            <a:pPr algn="l">
              <a:lnSpc>
                <a:spcPct val="100000"/>
              </a:lnSpc>
            </a:pPr>
            <a:r>
              <a:rPr sz="1600" b="1" i="0">
                <a:solidFill>
                  <a:srgbClr val="1F3864"/>
                </a:solidFill>
                <a:latin typeface="Calibri"/>
              </a:rPr>
              <a:t>Model availability</a:t>
            </a:r>
          </a:p>
        </p:txBody>
      </p:sp>
      <p:sp>
        <p:nvSpPr>
          <p:cNvPr id="12" name="b0"/>
          <p:cNvSpPr txBox="1"/>
          <p:nvPr/>
        </p:nvSpPr>
        <p:spPr>
          <a:xfrm>
            <a:off x="1371600" y="2276856"/>
            <a:ext cx="9875520" cy="246888"/>
          </a:xfrm>
          <a:prstGeom prst="rect">
            <a:avLst/>
          </a:prstGeom>
          <a:noFill/>
        </p:spPr>
        <p:txBody>
          <a:bodyPr wrap="square" lIns="0" rIns="0" tIns="0" bIns="0" anchor="t">
            <a:spAutoFit/>
          </a:bodyPr>
          <a:lstStyle/>
          <a:p>
            <a:pPr algn="l">
              <a:lnSpc>
                <a:spcPct val="116000"/>
              </a:lnSpc>
            </a:pPr>
            <a:r>
              <a:rPr sz="1400" b="0" i="0">
                <a:solidFill>
                  <a:srgbClr val="1A1A1A"/>
                </a:solidFill>
                <a:latin typeface="Calibri"/>
              </a:rPr>
              <a:t>GPT-2 small, Gemma3-27B-it and Qwen2.5-32B-Instruct are all open-weight and free to obtain.</a:t>
            </a:r>
          </a:p>
        </p:txBody>
      </p:sp>
      <p:sp>
        <p:nvSpPr>
          <p:cNvPr id="13" name="n1"/>
          <p:cNvSpPr/>
          <p:nvPr/>
        </p:nvSpPr>
        <p:spPr>
          <a:xfrm>
            <a:off x="777240" y="2743200"/>
            <a:ext cx="402336" cy="402336"/>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nt1"/>
          <p:cNvSpPr txBox="1"/>
          <p:nvPr/>
        </p:nvSpPr>
        <p:spPr>
          <a:xfrm>
            <a:off x="777240" y="2825496"/>
            <a:ext cx="402336" cy="274320"/>
          </a:xfrm>
          <a:prstGeom prst="rect">
            <a:avLst/>
          </a:prstGeom>
          <a:noFill/>
        </p:spPr>
        <p:txBody>
          <a:bodyPr wrap="square" lIns="0" rIns="0" tIns="0" bIns="0" anchor="t">
            <a:spAutoFit/>
          </a:bodyPr>
          <a:lstStyle/>
          <a:p>
            <a:pPr algn="ctr">
              <a:lnSpc>
                <a:spcPct val="100000"/>
              </a:lnSpc>
            </a:pPr>
            <a:r>
              <a:rPr sz="1500" b="1" i="0">
                <a:solidFill>
                  <a:srgbClr val="FFFFFF"/>
                </a:solidFill>
                <a:latin typeface="Calibri"/>
              </a:rPr>
              <a:t>2</a:t>
            </a:r>
          </a:p>
        </p:txBody>
      </p:sp>
      <p:sp>
        <p:nvSpPr>
          <p:cNvPr id="15" name="t1"/>
          <p:cNvSpPr txBox="1"/>
          <p:nvPr/>
        </p:nvSpPr>
        <p:spPr>
          <a:xfrm>
            <a:off x="1371600" y="2761488"/>
            <a:ext cx="9875520" cy="274320"/>
          </a:xfrm>
          <a:prstGeom prst="rect">
            <a:avLst/>
          </a:prstGeom>
          <a:noFill/>
        </p:spPr>
        <p:txBody>
          <a:bodyPr wrap="square" lIns="0" rIns="0" tIns="0" bIns="0" anchor="t">
            <a:spAutoFit/>
          </a:bodyPr>
          <a:lstStyle/>
          <a:p>
            <a:pPr algn="l">
              <a:lnSpc>
                <a:spcPct val="100000"/>
              </a:lnSpc>
            </a:pPr>
            <a:r>
              <a:rPr sz="1600" b="1" i="0">
                <a:solidFill>
                  <a:srgbClr val="1F3864"/>
                </a:solidFill>
                <a:latin typeface="Calibri"/>
              </a:rPr>
              <a:t>Ground truth</a:t>
            </a:r>
          </a:p>
        </p:txBody>
      </p:sp>
      <p:sp>
        <p:nvSpPr>
          <p:cNvPr id="16" name="b1"/>
          <p:cNvSpPr txBox="1"/>
          <p:nvPr/>
        </p:nvSpPr>
        <p:spPr>
          <a:xfrm>
            <a:off x="1371600" y="3072384"/>
            <a:ext cx="9875520" cy="493776"/>
          </a:xfrm>
          <a:prstGeom prst="rect">
            <a:avLst/>
          </a:prstGeom>
          <a:noFill/>
        </p:spPr>
        <p:txBody>
          <a:bodyPr wrap="square" lIns="0" rIns="0" tIns="0" bIns="0" anchor="t">
            <a:spAutoFit/>
          </a:bodyPr>
          <a:lstStyle/>
          <a:p>
            <a:pPr algn="l">
              <a:lnSpc>
                <a:spcPct val="116000"/>
              </a:lnSpc>
            </a:pPr>
            <a:r>
              <a:rPr sz="1400" b="0" i="0">
                <a:solidFill>
                  <a:srgbClr val="1A1A1A"/>
                </a:solidFill>
                <a:latin typeface="Calibri"/>
              </a:rPr>
              <a:t>Free at the unit level — it is already in the weights. Planted at the trait and self levels using published injection methods.</a:t>
            </a:r>
          </a:p>
        </p:txBody>
      </p:sp>
      <p:sp>
        <p:nvSpPr>
          <p:cNvPr id="17" name="n2"/>
          <p:cNvSpPr/>
          <p:nvPr/>
        </p:nvSpPr>
        <p:spPr>
          <a:xfrm>
            <a:off x="777240" y="3785615"/>
            <a:ext cx="402336" cy="402336"/>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nt2"/>
          <p:cNvSpPr txBox="1"/>
          <p:nvPr/>
        </p:nvSpPr>
        <p:spPr>
          <a:xfrm>
            <a:off x="777240" y="3867911"/>
            <a:ext cx="402336" cy="274320"/>
          </a:xfrm>
          <a:prstGeom prst="rect">
            <a:avLst/>
          </a:prstGeom>
          <a:noFill/>
        </p:spPr>
        <p:txBody>
          <a:bodyPr wrap="square" lIns="0" rIns="0" tIns="0" bIns="0" anchor="t">
            <a:spAutoFit/>
          </a:bodyPr>
          <a:lstStyle/>
          <a:p>
            <a:pPr algn="ctr">
              <a:lnSpc>
                <a:spcPct val="100000"/>
              </a:lnSpc>
            </a:pPr>
            <a:r>
              <a:rPr sz="1500" b="1" i="0">
                <a:solidFill>
                  <a:srgbClr val="FFFFFF"/>
                </a:solidFill>
                <a:latin typeface="Calibri"/>
              </a:rPr>
              <a:t>3</a:t>
            </a:r>
          </a:p>
        </p:txBody>
      </p:sp>
      <p:sp>
        <p:nvSpPr>
          <p:cNvPr id="19" name="t2"/>
          <p:cNvSpPr txBox="1"/>
          <p:nvPr/>
        </p:nvSpPr>
        <p:spPr>
          <a:xfrm>
            <a:off x="1371600" y="3803903"/>
            <a:ext cx="9875520" cy="274320"/>
          </a:xfrm>
          <a:prstGeom prst="rect">
            <a:avLst/>
          </a:prstGeom>
          <a:noFill/>
        </p:spPr>
        <p:txBody>
          <a:bodyPr wrap="square" lIns="0" rIns="0" tIns="0" bIns="0" anchor="t">
            <a:spAutoFit/>
          </a:bodyPr>
          <a:lstStyle/>
          <a:p>
            <a:pPr algn="l">
              <a:lnSpc>
                <a:spcPct val="100000"/>
              </a:lnSpc>
            </a:pPr>
            <a:r>
              <a:rPr sz="1600" b="1" i="0">
                <a:solidFill>
                  <a:srgbClr val="1F3864"/>
                </a:solidFill>
                <a:latin typeface="Calibri"/>
              </a:rPr>
              <a:t>Compute</a:t>
            </a:r>
          </a:p>
        </p:txBody>
      </p:sp>
      <p:sp>
        <p:nvSpPr>
          <p:cNvPr id="20" name="b2"/>
          <p:cNvSpPr txBox="1"/>
          <p:nvPr/>
        </p:nvSpPr>
        <p:spPr>
          <a:xfrm>
            <a:off x="1371600" y="4114800"/>
            <a:ext cx="9875520" cy="493776"/>
          </a:xfrm>
          <a:prstGeom prst="rect">
            <a:avLst/>
          </a:prstGeom>
          <a:noFill/>
        </p:spPr>
        <p:txBody>
          <a:bodyPr wrap="square" lIns="0" rIns="0" tIns="0" bIns="0" anchor="t">
            <a:spAutoFit/>
          </a:bodyPr>
          <a:lstStyle/>
          <a:p>
            <a:pPr algn="l">
              <a:lnSpc>
                <a:spcPct val="116000"/>
              </a:lnSpc>
            </a:pPr>
            <a:r>
              <a:rPr sz="1400" b="0" i="0">
                <a:solidFill>
                  <a:srgbClr val="1A1A1A"/>
                </a:solidFill>
                <a:latin typeface="Calibri"/>
              </a:rPr>
              <a:t>Unit level runs on a laptop CPU. Large-model work runs on Kaggle’s free tier, 2× Tesla T4, 30 GPU-hours per week. The pipeline checkpoints and resumes.</a:t>
            </a:r>
          </a:p>
        </p:txBody>
      </p:sp>
      <p:sp>
        <p:nvSpPr>
          <p:cNvPr id="21" name="n3"/>
          <p:cNvSpPr/>
          <p:nvPr/>
        </p:nvSpPr>
        <p:spPr>
          <a:xfrm>
            <a:off x="777240" y="4828031"/>
            <a:ext cx="402336" cy="402336"/>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nt3"/>
          <p:cNvSpPr txBox="1"/>
          <p:nvPr/>
        </p:nvSpPr>
        <p:spPr>
          <a:xfrm>
            <a:off x="777240" y="4910327"/>
            <a:ext cx="402336" cy="274320"/>
          </a:xfrm>
          <a:prstGeom prst="rect">
            <a:avLst/>
          </a:prstGeom>
          <a:noFill/>
        </p:spPr>
        <p:txBody>
          <a:bodyPr wrap="square" lIns="0" rIns="0" tIns="0" bIns="0" anchor="t">
            <a:spAutoFit/>
          </a:bodyPr>
          <a:lstStyle/>
          <a:p>
            <a:pPr algn="ctr">
              <a:lnSpc>
                <a:spcPct val="100000"/>
              </a:lnSpc>
            </a:pPr>
            <a:r>
              <a:rPr sz="1500" b="1" i="0">
                <a:solidFill>
                  <a:srgbClr val="FFFFFF"/>
                </a:solidFill>
                <a:latin typeface="Calibri"/>
              </a:rPr>
              <a:t>4</a:t>
            </a:r>
          </a:p>
        </p:txBody>
      </p:sp>
      <p:sp>
        <p:nvSpPr>
          <p:cNvPr id="23" name="t3"/>
          <p:cNvSpPr txBox="1"/>
          <p:nvPr/>
        </p:nvSpPr>
        <p:spPr>
          <a:xfrm>
            <a:off x="1371600" y="4846319"/>
            <a:ext cx="9875520" cy="274320"/>
          </a:xfrm>
          <a:prstGeom prst="rect">
            <a:avLst/>
          </a:prstGeom>
          <a:noFill/>
        </p:spPr>
        <p:txBody>
          <a:bodyPr wrap="square" lIns="0" rIns="0" tIns="0" bIns="0" anchor="t">
            <a:spAutoFit/>
          </a:bodyPr>
          <a:lstStyle/>
          <a:p>
            <a:pPr algn="l">
              <a:lnSpc>
                <a:spcPct val="100000"/>
              </a:lnSpc>
            </a:pPr>
            <a:r>
              <a:rPr sz="1600" b="1" i="0">
                <a:solidFill>
                  <a:srgbClr val="1F3864"/>
                </a:solidFill>
                <a:latin typeface="Calibri"/>
              </a:rPr>
              <a:t>Methods</a:t>
            </a:r>
          </a:p>
        </p:txBody>
      </p:sp>
      <p:sp>
        <p:nvSpPr>
          <p:cNvPr id="24" name="b3"/>
          <p:cNvSpPr txBox="1"/>
          <p:nvPr/>
        </p:nvSpPr>
        <p:spPr>
          <a:xfrm>
            <a:off x="1371600" y="5157216"/>
            <a:ext cx="9875520" cy="493776"/>
          </a:xfrm>
          <a:prstGeom prst="rect">
            <a:avLst/>
          </a:prstGeom>
          <a:noFill/>
        </p:spPr>
        <p:txBody>
          <a:bodyPr wrap="square" lIns="0" rIns="0" tIns="0" bIns="0" anchor="t">
            <a:spAutoFit/>
          </a:bodyPr>
          <a:lstStyle/>
          <a:p>
            <a:pPr algn="l">
              <a:lnSpc>
                <a:spcPct val="116000"/>
              </a:lnSpc>
            </a:pPr>
            <a:r>
              <a:rPr sz="1400" b="0" i="0">
                <a:solidFill>
                  <a:srgbClr val="1A1A1A"/>
                </a:solidFill>
                <a:latin typeface="Calibri"/>
              </a:rPr>
              <a:t>The estimators are decades old and published; the injection and persona methods are public. Nothing needs to be invented before measurement can start.</a:t>
            </a:r>
          </a:p>
        </p:txBody>
      </p:sp>
      <p:sp>
        <p:nvSpPr>
          <p:cNvPr id="25" name="tail"/>
          <p:cNvSpPr txBox="1"/>
          <p:nvPr/>
        </p:nvSpPr>
        <p:spPr>
          <a:xfrm>
            <a:off x="777240" y="5989320"/>
            <a:ext cx="10515600" cy="365760"/>
          </a:xfrm>
          <a:prstGeom prst="rect">
            <a:avLst/>
          </a:prstGeom>
          <a:noFill/>
        </p:spPr>
        <p:txBody>
          <a:bodyPr wrap="square" lIns="0" rIns="0" tIns="0" bIns="0" anchor="t">
            <a:spAutoFit/>
          </a:bodyPr>
          <a:lstStyle/>
          <a:p>
            <a:pPr algn="ctr">
              <a:lnSpc>
                <a:spcPct val="100000"/>
              </a:lnSpc>
            </a:pPr>
            <a:r>
              <a:rPr sz="1600" b="1" i="0">
                <a:solidFill>
                  <a:srgbClr val="BD582B"/>
                </a:solidFill>
                <a:latin typeface="Calibri"/>
              </a:rPr>
              <a:t>No personal data. No proprietary data. No paid compute.</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35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350"/>
                                        <p:tgtEl>
                                          <p:spTgt spid="1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350"/>
                                        <p:tgtEl>
                                          <p:spTgt spid="1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35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350"/>
                                        <p:tgtEl>
                                          <p:spTgt spid="1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350"/>
                                        <p:tgtEl>
                                          <p:spTgt spid="1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350"/>
                                        <p:tgtEl>
                                          <p:spTgt spid="1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350"/>
                                        <p:tgtEl>
                                          <p:spTgt spid="16"/>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350"/>
                                        <p:tgtEl>
                                          <p:spTgt spid="17"/>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350"/>
                                        <p:tgtEl>
                                          <p:spTgt spid="1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350"/>
                                        <p:tgtEl>
                                          <p:spTgt spid="19"/>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350"/>
                                        <p:tgtEl>
                                          <p:spTgt spid="20"/>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350"/>
                                        <p:tgtEl>
                                          <p:spTgt spid="21"/>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350"/>
                                        <p:tgtEl>
                                          <p:spTgt spid="22"/>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350"/>
                                        <p:tgtEl>
                                          <p:spTgt spid="23"/>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350"/>
                                        <p:tgtEl>
                                          <p:spTgt spid="24"/>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3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ogo" descr="PES University - Logo 2.png"/>
          <p:cNvPicPr>
            <a:picLocks noChangeAspect="1"/>
          </p:cNvPicPr>
          <p:nvPr/>
        </p:nvPicPr>
        <p:blipFill>
          <a:blip r:embed="rId2"/>
          <a:stretch>
            <a:fillRect/>
          </a:stretch>
        </p:blipFill>
        <p:spPr>
          <a:xfrm>
            <a:off x="10533888" y="146304"/>
            <a:ext cx="1298448" cy="591337"/>
          </a:xfrm>
          <a:prstGeom prst="rect">
            <a:avLst/>
          </a:prstGeom>
        </p:spPr>
      </p:pic>
      <p:sp>
        <p:nvSpPr>
          <p:cNvPr id="3" name="runhead"/>
          <p:cNvSpPr txBox="1"/>
          <p:nvPr/>
        </p:nvSpPr>
        <p:spPr>
          <a:xfrm>
            <a:off x="411480" y="237744"/>
            <a:ext cx="6858000" cy="274320"/>
          </a:xfrm>
          <a:prstGeom prst="rect">
            <a:avLst/>
          </a:prstGeom>
          <a:noFill/>
        </p:spPr>
        <p:txBody>
          <a:bodyPr wrap="square" lIns="0" rIns="0" tIns="0" bIns="0" anchor="t">
            <a:spAutoFit/>
          </a:bodyPr>
          <a:lstStyle/>
          <a:p>
            <a:pPr algn="l">
              <a:lnSpc>
                <a:spcPct val="100000"/>
              </a:lnSpc>
            </a:pPr>
            <a:r>
              <a:rPr sz="1050" b="1" i="0">
                <a:solidFill>
                  <a:srgbClr val="7F7F7F"/>
                </a:solidFill>
                <a:latin typeface="Calibri"/>
              </a:rPr>
              <a:t>CALIPER: Calibrating Interpretability Readouts for Language Models</a:t>
            </a:r>
          </a:p>
        </p:txBody>
      </p:sp>
      <p:sp>
        <p:nvSpPr>
          <p:cNvPr id="4" name="heading"/>
          <p:cNvSpPr txBox="1"/>
          <p:nvPr/>
        </p:nvSpPr>
        <p:spPr>
          <a:xfrm>
            <a:off x="2926080" y="868680"/>
            <a:ext cx="7452360" cy="502920"/>
          </a:xfrm>
          <a:prstGeom prst="rect">
            <a:avLst/>
          </a:prstGeom>
          <a:noFill/>
        </p:spPr>
        <p:txBody>
          <a:bodyPr wrap="square" lIns="0" rIns="0" tIns="0" bIns="0" anchor="t">
            <a:spAutoFit/>
          </a:bodyPr>
          <a:lstStyle/>
          <a:p>
            <a:pPr algn="r">
              <a:lnSpc>
                <a:spcPct val="100000"/>
              </a:lnSpc>
            </a:pPr>
            <a:r>
              <a:rPr sz="2700" b="0" i="0">
                <a:solidFill>
                  <a:srgbClr val="1A1A1A"/>
                </a:solidFill>
                <a:latin typeface="Calibri"/>
              </a:rPr>
              <a:t>Applications / Use cases</a:t>
            </a:r>
          </a:p>
        </p:txBody>
      </p:sp>
      <p:sp>
        <p:nvSpPr>
          <p:cNvPr id="5" name="tealrule"/>
          <p:cNvSpPr/>
          <p:nvPr/>
        </p:nvSpPr>
        <p:spPr>
          <a:xfrm>
            <a:off x="3017520" y="1517904"/>
            <a:ext cx="7360920" cy="41148"/>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airline"/>
          <p:cNvSpPr/>
          <p:nvPr/>
        </p:nvSpPr>
        <p:spPr>
          <a:xfrm>
            <a:off x="411480" y="1664208"/>
            <a:ext cx="11018520" cy="7315"/>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band"/>
          <p:cNvSpPr/>
          <p:nvPr/>
        </p:nvSpPr>
        <p:spPr>
          <a:xfrm>
            <a:off x="0" y="6528816"/>
            <a:ext cx="12191695" cy="329184"/>
          </a:xfrm>
          <a:prstGeom prst="rect">
            <a:avLst/>
          </a:prstGeom>
          <a:solidFill>
            <a:srgbClr val="BD5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text"/>
          <p:cNvSpPr txBox="1"/>
          <p:nvPr/>
        </p:nvSpPr>
        <p:spPr>
          <a:xfrm>
            <a:off x="0" y="6620255"/>
            <a:ext cx="12191695" cy="201168"/>
          </a:xfrm>
          <a:prstGeom prst="rect">
            <a:avLst/>
          </a:prstGeom>
          <a:noFill/>
        </p:spPr>
        <p:txBody>
          <a:bodyPr wrap="square" lIns="0" rIns="0" tIns="0" bIns="0" anchor="t">
            <a:spAutoFit/>
          </a:bodyPr>
          <a:lstStyle/>
          <a:p>
            <a:pPr algn="ctr">
              <a:lnSpc>
                <a:spcPct val="100000"/>
              </a:lnSpc>
            </a:pPr>
            <a:r>
              <a:rPr sz="800" b="0" i="0">
                <a:solidFill>
                  <a:srgbClr val="FFFFFF"/>
                </a:solidFill>
                <a:latin typeface="Calibri"/>
              </a:rPr>
              <a:t>SANTOSH CHEETHIRALA_NIVAS REDDY DANDU_C. SREE KRISHNA KOUSHIK_MARREDDY RUSHI ESWAR REDDY</a:t>
            </a:r>
          </a:p>
        </p:txBody>
      </p:sp>
      <p:sp>
        <p:nvSpPr>
          <p:cNvPr id="9" name="card0"/>
          <p:cNvSpPr/>
          <p:nvPr/>
        </p:nvSpPr>
        <p:spPr>
          <a:xfrm>
            <a:off x="685800" y="1947672"/>
            <a:ext cx="5257800" cy="129844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t0"/>
          <p:cNvSpPr/>
          <p:nvPr/>
        </p:nvSpPr>
        <p:spPr>
          <a:xfrm>
            <a:off x="685800" y="1947672"/>
            <a:ext cx="68580" cy="129844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ut0"/>
          <p:cNvSpPr txBox="1"/>
          <p:nvPr/>
        </p:nvSpPr>
        <p:spPr>
          <a:xfrm>
            <a:off x="960120" y="2075688"/>
            <a:ext cx="4754880" cy="256032"/>
          </a:xfrm>
          <a:prstGeom prst="rect">
            <a:avLst/>
          </a:prstGeom>
          <a:noFill/>
        </p:spPr>
        <p:txBody>
          <a:bodyPr wrap="square" lIns="0" rIns="0" tIns="0" bIns="0" anchor="t">
            <a:spAutoFit/>
          </a:bodyPr>
          <a:lstStyle/>
          <a:p>
            <a:pPr algn="l">
              <a:lnSpc>
                <a:spcPct val="100000"/>
              </a:lnSpc>
            </a:pPr>
            <a:r>
              <a:rPr sz="1450" b="1" i="0">
                <a:solidFill>
                  <a:srgbClr val="1F3864"/>
                </a:solidFill>
                <a:latin typeface="Calibri"/>
              </a:rPr>
              <a:t>AI safety audits</a:t>
            </a:r>
          </a:p>
        </p:txBody>
      </p:sp>
      <p:sp>
        <p:nvSpPr>
          <p:cNvPr id="12" name="ub0"/>
          <p:cNvSpPr txBox="1"/>
          <p:nvPr/>
        </p:nvSpPr>
        <p:spPr>
          <a:xfrm>
            <a:off x="960120" y="2377439"/>
            <a:ext cx="4800600" cy="822960"/>
          </a:xfrm>
          <a:prstGeom prst="rect">
            <a:avLst/>
          </a:prstGeom>
          <a:noFill/>
        </p:spPr>
        <p:txBody>
          <a:bodyPr wrap="square" lIns="0" rIns="0" tIns="0" bIns="0" anchor="t">
            <a:spAutoFit/>
          </a:bodyPr>
          <a:lstStyle/>
          <a:p>
            <a:pPr algn="l">
              <a:lnSpc>
                <a:spcPct val="114000"/>
              </a:lnSpc>
            </a:pPr>
            <a:r>
              <a:rPr sz="1150" b="0" i="0">
                <a:solidFill>
                  <a:srgbClr val="1A1A1A"/>
                </a:solidFill>
                <a:latin typeface="Calibri"/>
              </a:rPr>
              <a:t>Regulators and labs increasingly check for hidden traits — deception, sycophancy, bias — by reading a model’s internals. Every such audit rests on a readout whose error rate nobody has measured.</a:t>
            </a:r>
          </a:p>
        </p:txBody>
      </p:sp>
      <p:sp>
        <p:nvSpPr>
          <p:cNvPr id="13" name="card1"/>
          <p:cNvSpPr/>
          <p:nvPr/>
        </p:nvSpPr>
        <p:spPr>
          <a:xfrm>
            <a:off x="6309360" y="1947672"/>
            <a:ext cx="5257800" cy="129844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t1"/>
          <p:cNvSpPr/>
          <p:nvPr/>
        </p:nvSpPr>
        <p:spPr>
          <a:xfrm>
            <a:off x="6309360" y="1947672"/>
            <a:ext cx="68580" cy="1298448"/>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ut1"/>
          <p:cNvSpPr txBox="1"/>
          <p:nvPr/>
        </p:nvSpPr>
        <p:spPr>
          <a:xfrm>
            <a:off x="6583680" y="2075688"/>
            <a:ext cx="4754880" cy="256032"/>
          </a:xfrm>
          <a:prstGeom prst="rect">
            <a:avLst/>
          </a:prstGeom>
          <a:noFill/>
        </p:spPr>
        <p:txBody>
          <a:bodyPr wrap="square" lIns="0" rIns="0" tIns="0" bIns="0" anchor="t">
            <a:spAutoFit/>
          </a:bodyPr>
          <a:lstStyle/>
          <a:p>
            <a:pPr algn="l">
              <a:lnSpc>
                <a:spcPct val="100000"/>
              </a:lnSpc>
            </a:pPr>
            <a:r>
              <a:rPr sz="1450" b="1" i="0">
                <a:solidFill>
                  <a:srgbClr val="1F3864"/>
                </a:solidFill>
                <a:latin typeface="Calibri"/>
              </a:rPr>
              <a:t>Trusting a model’s self-report</a:t>
            </a:r>
          </a:p>
        </p:txBody>
      </p:sp>
      <p:sp>
        <p:nvSpPr>
          <p:cNvPr id="16" name="ub1"/>
          <p:cNvSpPr txBox="1"/>
          <p:nvPr/>
        </p:nvSpPr>
        <p:spPr>
          <a:xfrm>
            <a:off x="6583680" y="2377439"/>
            <a:ext cx="4800600" cy="822960"/>
          </a:xfrm>
          <a:prstGeom prst="rect">
            <a:avLst/>
          </a:prstGeom>
          <a:noFill/>
        </p:spPr>
        <p:txBody>
          <a:bodyPr wrap="square" lIns="0" rIns="0" tIns="0" bIns="0" anchor="t">
            <a:spAutoFit/>
          </a:bodyPr>
          <a:lstStyle/>
          <a:p>
            <a:pPr algn="l">
              <a:lnSpc>
                <a:spcPct val="114000"/>
              </a:lnSpc>
            </a:pPr>
            <a:r>
              <a:rPr sz="1150" b="0" i="0">
                <a:solidFill>
                  <a:srgbClr val="1A1A1A"/>
                </a:solidFill>
                <a:latin typeface="Calibri"/>
              </a:rPr>
              <a:t>Models are asked “are you being honest?” and the answer is treated as evidence. Whether that report tracks the model’s actual state has never been tested against a planted state.</a:t>
            </a:r>
          </a:p>
        </p:txBody>
      </p:sp>
      <p:sp>
        <p:nvSpPr>
          <p:cNvPr id="17" name="card2"/>
          <p:cNvSpPr/>
          <p:nvPr/>
        </p:nvSpPr>
        <p:spPr>
          <a:xfrm>
            <a:off x="685800" y="3410712"/>
            <a:ext cx="5257800" cy="129844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t2"/>
          <p:cNvSpPr/>
          <p:nvPr/>
        </p:nvSpPr>
        <p:spPr>
          <a:xfrm>
            <a:off x="685800" y="3410712"/>
            <a:ext cx="68580" cy="1298448"/>
          </a:xfrm>
          <a:prstGeom prst="rect">
            <a:avLst/>
          </a:prstGeom>
          <a:solidFill>
            <a:srgbClr val="BD5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ut2"/>
          <p:cNvSpPr txBox="1"/>
          <p:nvPr/>
        </p:nvSpPr>
        <p:spPr>
          <a:xfrm>
            <a:off x="960120" y="3538728"/>
            <a:ext cx="4754880" cy="256032"/>
          </a:xfrm>
          <a:prstGeom prst="rect">
            <a:avLst/>
          </a:prstGeom>
          <a:noFill/>
        </p:spPr>
        <p:txBody>
          <a:bodyPr wrap="square" lIns="0" rIns="0" tIns="0" bIns="0" anchor="t">
            <a:spAutoFit/>
          </a:bodyPr>
          <a:lstStyle/>
          <a:p>
            <a:pPr algn="l">
              <a:lnSpc>
                <a:spcPct val="100000"/>
              </a:lnSpc>
            </a:pPr>
            <a:r>
              <a:rPr sz="1450" b="1" i="0">
                <a:solidFill>
                  <a:srgbClr val="1F3864"/>
                </a:solidFill>
                <a:latin typeface="Calibri"/>
              </a:rPr>
              <a:t>Model debugging</a:t>
            </a:r>
          </a:p>
        </p:txBody>
      </p:sp>
      <p:sp>
        <p:nvSpPr>
          <p:cNvPr id="20" name="ub2"/>
          <p:cNvSpPr txBox="1"/>
          <p:nvPr/>
        </p:nvSpPr>
        <p:spPr>
          <a:xfrm>
            <a:off x="960120" y="3840480"/>
            <a:ext cx="4800600" cy="822960"/>
          </a:xfrm>
          <a:prstGeom prst="rect">
            <a:avLst/>
          </a:prstGeom>
          <a:noFill/>
        </p:spPr>
        <p:txBody>
          <a:bodyPr wrap="square" lIns="0" rIns="0" tIns="0" bIns="0" anchor="t">
            <a:spAutoFit/>
          </a:bodyPr>
          <a:lstStyle/>
          <a:p>
            <a:pPr algn="l">
              <a:lnSpc>
                <a:spcPct val="114000"/>
              </a:lnSpc>
            </a:pPr>
            <a:r>
              <a:rPr sz="1150" b="0" i="0">
                <a:solidFill>
                  <a:srgbClr val="1A1A1A"/>
                </a:solidFill>
                <a:latin typeface="Calibri"/>
              </a:rPr>
              <a:t>When a model misbehaves, engineers hunt for the responsible direction. A tool that points at the wrong one sends them down the wrong path, and gives no sign it has done so.</a:t>
            </a:r>
          </a:p>
        </p:txBody>
      </p:sp>
      <p:sp>
        <p:nvSpPr>
          <p:cNvPr id="21" name="card3"/>
          <p:cNvSpPr/>
          <p:nvPr/>
        </p:nvSpPr>
        <p:spPr>
          <a:xfrm>
            <a:off x="6309360" y="3410712"/>
            <a:ext cx="5257800" cy="129844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t3"/>
          <p:cNvSpPr/>
          <p:nvPr/>
        </p:nvSpPr>
        <p:spPr>
          <a:xfrm>
            <a:off x="6309360" y="3410712"/>
            <a:ext cx="68580" cy="129844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ut3"/>
          <p:cNvSpPr txBox="1"/>
          <p:nvPr/>
        </p:nvSpPr>
        <p:spPr>
          <a:xfrm>
            <a:off x="6583680" y="3538728"/>
            <a:ext cx="4754880" cy="256032"/>
          </a:xfrm>
          <a:prstGeom prst="rect">
            <a:avLst/>
          </a:prstGeom>
          <a:noFill/>
        </p:spPr>
        <p:txBody>
          <a:bodyPr wrap="square" lIns="0" rIns="0" tIns="0" bIns="0" anchor="t">
            <a:spAutoFit/>
          </a:bodyPr>
          <a:lstStyle/>
          <a:p>
            <a:pPr algn="l">
              <a:lnSpc>
                <a:spcPct val="100000"/>
              </a:lnSpc>
            </a:pPr>
            <a:r>
              <a:rPr sz="1450" b="1" i="0">
                <a:solidFill>
                  <a:srgbClr val="1F3864"/>
                </a:solidFill>
                <a:latin typeface="Calibri"/>
              </a:rPr>
              <a:t>Persona and character products</a:t>
            </a:r>
          </a:p>
        </p:txBody>
      </p:sp>
      <p:sp>
        <p:nvSpPr>
          <p:cNvPr id="24" name="ub3"/>
          <p:cNvSpPr txBox="1"/>
          <p:nvPr/>
        </p:nvSpPr>
        <p:spPr>
          <a:xfrm>
            <a:off x="6583680" y="3840480"/>
            <a:ext cx="4800600" cy="822960"/>
          </a:xfrm>
          <a:prstGeom prst="rect">
            <a:avLst/>
          </a:prstGeom>
          <a:noFill/>
        </p:spPr>
        <p:txBody>
          <a:bodyPr wrap="square" lIns="0" rIns="0" tIns="0" bIns="0" anchor="t">
            <a:spAutoFit/>
          </a:bodyPr>
          <a:lstStyle/>
          <a:p>
            <a:pPr algn="l">
              <a:lnSpc>
                <a:spcPct val="114000"/>
              </a:lnSpc>
            </a:pPr>
            <a:r>
              <a:rPr sz="1150" b="0" i="0">
                <a:solidFill>
                  <a:srgbClr val="1A1A1A"/>
                </a:solidFill>
                <a:latin typeface="Calibri"/>
              </a:rPr>
              <a:t>Shipped models carry tuned personalities controlled by persona vectors. Whether such a vector captures the trait or a mixture of unrelated things has never been checked against a planted case.</a:t>
            </a:r>
          </a:p>
        </p:txBody>
      </p:sp>
      <p:sp>
        <p:nvSpPr>
          <p:cNvPr id="25" name="card4"/>
          <p:cNvSpPr/>
          <p:nvPr/>
        </p:nvSpPr>
        <p:spPr>
          <a:xfrm>
            <a:off x="685800" y="4873752"/>
            <a:ext cx="5257800" cy="129844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t4"/>
          <p:cNvSpPr/>
          <p:nvPr/>
        </p:nvSpPr>
        <p:spPr>
          <a:xfrm>
            <a:off x="685800" y="4873752"/>
            <a:ext cx="68580" cy="1298448"/>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ut4"/>
          <p:cNvSpPr txBox="1"/>
          <p:nvPr/>
        </p:nvSpPr>
        <p:spPr>
          <a:xfrm>
            <a:off x="960120" y="5001768"/>
            <a:ext cx="4754880" cy="256032"/>
          </a:xfrm>
          <a:prstGeom prst="rect">
            <a:avLst/>
          </a:prstGeom>
          <a:noFill/>
        </p:spPr>
        <p:txBody>
          <a:bodyPr wrap="square" lIns="0" rIns="0" tIns="0" bIns="0" anchor="t">
            <a:spAutoFit/>
          </a:bodyPr>
          <a:lstStyle/>
          <a:p>
            <a:pPr algn="l">
              <a:lnSpc>
                <a:spcPct val="100000"/>
              </a:lnSpc>
            </a:pPr>
            <a:r>
              <a:rPr sz="1450" b="1" i="0">
                <a:solidFill>
                  <a:srgbClr val="1F3864"/>
                </a:solidFill>
                <a:latin typeface="Calibri"/>
              </a:rPr>
              <a:t>Reproducibility for the field</a:t>
            </a:r>
          </a:p>
        </p:txBody>
      </p:sp>
      <p:sp>
        <p:nvSpPr>
          <p:cNvPr id="28" name="ub4"/>
          <p:cNvSpPr txBox="1"/>
          <p:nvPr/>
        </p:nvSpPr>
        <p:spPr>
          <a:xfrm>
            <a:off x="960120" y="5303520"/>
            <a:ext cx="4800600" cy="822960"/>
          </a:xfrm>
          <a:prstGeom prst="rect">
            <a:avLst/>
          </a:prstGeom>
          <a:noFill/>
        </p:spPr>
        <p:txBody>
          <a:bodyPr wrap="square" lIns="0" rIns="0" tIns="0" bIns="0" anchor="t">
            <a:spAutoFit/>
          </a:bodyPr>
          <a:lstStyle/>
          <a:p>
            <a:pPr algn="l">
              <a:lnSpc>
                <a:spcPct val="114000"/>
              </a:lnSpc>
            </a:pPr>
            <a:r>
              <a:rPr sz="1150" b="0" i="0">
                <a:solidFill>
                  <a:srgbClr val="1A1A1A"/>
                </a:solidFill>
                <a:latin typeface="Calibri"/>
              </a:rPr>
              <a:t>Every experiment runs on a free account. Code, data and pre-registration dates are published, so anyone can repeat the measurement.</a:t>
            </a:r>
          </a:p>
        </p:txBody>
      </p:sp>
      <p:sp>
        <p:nvSpPr>
          <p:cNvPr id="29" name="card5"/>
          <p:cNvSpPr/>
          <p:nvPr/>
        </p:nvSpPr>
        <p:spPr>
          <a:xfrm>
            <a:off x="6309360" y="4873752"/>
            <a:ext cx="5257800" cy="129844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t5"/>
          <p:cNvSpPr/>
          <p:nvPr/>
        </p:nvSpPr>
        <p:spPr>
          <a:xfrm>
            <a:off x="6309360" y="4873752"/>
            <a:ext cx="68580" cy="1298448"/>
          </a:xfrm>
          <a:prstGeom prst="rect">
            <a:avLst/>
          </a:prstGeom>
          <a:solidFill>
            <a:srgbClr val="BD5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ut5"/>
          <p:cNvSpPr txBox="1"/>
          <p:nvPr/>
        </p:nvSpPr>
        <p:spPr>
          <a:xfrm>
            <a:off x="6583680" y="5001768"/>
            <a:ext cx="4754880" cy="256032"/>
          </a:xfrm>
          <a:prstGeom prst="rect">
            <a:avLst/>
          </a:prstGeom>
          <a:noFill/>
        </p:spPr>
        <p:txBody>
          <a:bodyPr wrap="square" lIns="0" rIns="0" tIns="0" bIns="0" anchor="t">
            <a:spAutoFit/>
          </a:bodyPr>
          <a:lstStyle/>
          <a:p>
            <a:pPr algn="l">
              <a:lnSpc>
                <a:spcPct val="100000"/>
              </a:lnSpc>
            </a:pPr>
            <a:r>
              <a:rPr sz="1450" b="1" i="0">
                <a:solidFill>
                  <a:srgbClr val="1F3864"/>
                </a:solidFill>
                <a:latin typeface="Calibri"/>
              </a:rPr>
              <a:t>Foundational</a:t>
            </a:r>
          </a:p>
        </p:txBody>
      </p:sp>
      <p:sp>
        <p:nvSpPr>
          <p:cNvPr id="32" name="ub5"/>
          <p:cNvSpPr txBox="1"/>
          <p:nvPr/>
        </p:nvSpPr>
        <p:spPr>
          <a:xfrm>
            <a:off x="6583680" y="5303520"/>
            <a:ext cx="4800600" cy="822960"/>
          </a:xfrm>
          <a:prstGeom prst="rect">
            <a:avLst/>
          </a:prstGeom>
          <a:noFill/>
        </p:spPr>
        <p:txBody>
          <a:bodyPr wrap="square" lIns="0" rIns="0" tIns="0" bIns="0" anchor="t">
            <a:spAutoFit/>
          </a:bodyPr>
          <a:lstStyle/>
          <a:p>
            <a:pPr algn="l">
              <a:lnSpc>
                <a:spcPct val="114000"/>
              </a:lnSpc>
            </a:pPr>
            <a:r>
              <a:rPr sz="1150" b="0" i="0">
                <a:solidFill>
                  <a:srgbClr val="1A1A1A"/>
                </a:solidFill>
                <a:latin typeface="Calibri"/>
              </a:rPr>
              <a:t>Neuroscience learned the hard way that reading tools need preparations. Transferring that discipline is the intellectual contribution.</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32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320"/>
                                        <p:tgtEl>
                                          <p:spTgt spid="1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320"/>
                                        <p:tgtEl>
                                          <p:spTgt spid="1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32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320"/>
                                        <p:tgtEl>
                                          <p:spTgt spid="1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320"/>
                                        <p:tgtEl>
                                          <p:spTgt spid="1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320"/>
                                        <p:tgtEl>
                                          <p:spTgt spid="1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320"/>
                                        <p:tgtEl>
                                          <p:spTgt spid="16"/>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320"/>
                                        <p:tgtEl>
                                          <p:spTgt spid="17"/>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320"/>
                                        <p:tgtEl>
                                          <p:spTgt spid="1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320"/>
                                        <p:tgtEl>
                                          <p:spTgt spid="19"/>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320"/>
                                        <p:tgtEl>
                                          <p:spTgt spid="20"/>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320"/>
                                        <p:tgtEl>
                                          <p:spTgt spid="21"/>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320"/>
                                        <p:tgtEl>
                                          <p:spTgt spid="22"/>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320"/>
                                        <p:tgtEl>
                                          <p:spTgt spid="23"/>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320"/>
                                        <p:tgtEl>
                                          <p:spTgt spid="24"/>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320"/>
                                        <p:tgtEl>
                                          <p:spTgt spid="25"/>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320"/>
                                        <p:tgtEl>
                                          <p:spTgt spid="26"/>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320"/>
                                        <p:tgtEl>
                                          <p:spTgt spid="27"/>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8"/>
                                        </p:tgtEl>
                                        <p:attrNameLst>
                                          <p:attrName>style.visibility</p:attrName>
                                        </p:attrNameLst>
                                      </p:cBhvr>
                                      <p:to>
                                        <p:strVal val="visible"/>
                                      </p:to>
                                    </p:set>
                                    <p:animEffect transition="in" filter="fade">
                                      <p:cBhvr>
                                        <p:cTn id="73" dur="320"/>
                                        <p:tgtEl>
                                          <p:spTgt spid="28"/>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29"/>
                                        </p:tgtEl>
                                        <p:attrNameLst>
                                          <p:attrName>style.visibility</p:attrName>
                                        </p:attrNameLst>
                                      </p:cBhvr>
                                      <p:to>
                                        <p:strVal val="visible"/>
                                      </p:to>
                                    </p:set>
                                    <p:animEffect transition="in" filter="fade">
                                      <p:cBhvr>
                                        <p:cTn id="78" dur="320"/>
                                        <p:tgtEl>
                                          <p:spTgt spid="29"/>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0"/>
                                        </p:tgtEl>
                                        <p:attrNameLst>
                                          <p:attrName>style.visibility</p:attrName>
                                        </p:attrNameLst>
                                      </p:cBhvr>
                                      <p:to>
                                        <p:strVal val="visible"/>
                                      </p:to>
                                    </p:set>
                                    <p:animEffect transition="in" filter="fade">
                                      <p:cBhvr>
                                        <p:cTn id="81" dur="320"/>
                                        <p:tgtEl>
                                          <p:spTgt spid="30"/>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1"/>
                                        </p:tgtEl>
                                        <p:attrNameLst>
                                          <p:attrName>style.visibility</p:attrName>
                                        </p:attrNameLst>
                                      </p:cBhvr>
                                      <p:to>
                                        <p:strVal val="visible"/>
                                      </p:to>
                                    </p:set>
                                    <p:animEffect transition="in" filter="fade">
                                      <p:cBhvr>
                                        <p:cTn id="84" dur="320"/>
                                        <p:tgtEl>
                                          <p:spTgt spid="31"/>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2"/>
                                        </p:tgtEl>
                                        <p:attrNameLst>
                                          <p:attrName>style.visibility</p:attrName>
                                        </p:attrNameLst>
                                      </p:cBhvr>
                                      <p:to>
                                        <p:strVal val="visible"/>
                                      </p:to>
                                    </p:set>
                                    <p:animEffect transition="in" filter="fade">
                                      <p:cBhvr>
                                        <p:cTn id="87" dur="32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ogo" descr="PES University - Logo 2.png"/>
          <p:cNvPicPr>
            <a:picLocks noChangeAspect="1"/>
          </p:cNvPicPr>
          <p:nvPr/>
        </p:nvPicPr>
        <p:blipFill>
          <a:blip r:embed="rId2"/>
          <a:stretch>
            <a:fillRect/>
          </a:stretch>
        </p:blipFill>
        <p:spPr>
          <a:xfrm>
            <a:off x="10533888" y="146304"/>
            <a:ext cx="1298448" cy="591337"/>
          </a:xfrm>
          <a:prstGeom prst="rect">
            <a:avLst/>
          </a:prstGeom>
        </p:spPr>
      </p:pic>
      <p:sp>
        <p:nvSpPr>
          <p:cNvPr id="3" name="runhead"/>
          <p:cNvSpPr txBox="1"/>
          <p:nvPr/>
        </p:nvSpPr>
        <p:spPr>
          <a:xfrm>
            <a:off x="411480" y="237744"/>
            <a:ext cx="6858000" cy="274320"/>
          </a:xfrm>
          <a:prstGeom prst="rect">
            <a:avLst/>
          </a:prstGeom>
          <a:noFill/>
        </p:spPr>
        <p:txBody>
          <a:bodyPr wrap="square" lIns="0" rIns="0" tIns="0" bIns="0" anchor="t">
            <a:spAutoFit/>
          </a:bodyPr>
          <a:lstStyle/>
          <a:p>
            <a:pPr algn="l">
              <a:lnSpc>
                <a:spcPct val="100000"/>
              </a:lnSpc>
            </a:pPr>
            <a:r>
              <a:rPr sz="1050" b="1" i="0">
                <a:solidFill>
                  <a:srgbClr val="7F7F7F"/>
                </a:solidFill>
                <a:latin typeface="Calibri"/>
              </a:rPr>
              <a:t>CALIPER: Calibrating Interpretability Readouts for Language Models</a:t>
            </a:r>
          </a:p>
        </p:txBody>
      </p:sp>
      <p:sp>
        <p:nvSpPr>
          <p:cNvPr id="4" name="heading"/>
          <p:cNvSpPr txBox="1"/>
          <p:nvPr/>
        </p:nvSpPr>
        <p:spPr>
          <a:xfrm>
            <a:off x="2926080" y="868680"/>
            <a:ext cx="7452360" cy="502920"/>
          </a:xfrm>
          <a:prstGeom prst="rect">
            <a:avLst/>
          </a:prstGeom>
          <a:noFill/>
        </p:spPr>
        <p:txBody>
          <a:bodyPr wrap="square" lIns="0" rIns="0" tIns="0" bIns="0" anchor="t">
            <a:spAutoFit/>
          </a:bodyPr>
          <a:lstStyle/>
          <a:p>
            <a:pPr algn="r">
              <a:lnSpc>
                <a:spcPct val="100000"/>
              </a:lnSpc>
            </a:pPr>
            <a:r>
              <a:rPr sz="2700" b="0" i="0">
                <a:solidFill>
                  <a:srgbClr val="1A1A1A"/>
                </a:solidFill>
                <a:latin typeface="Calibri"/>
              </a:rPr>
              <a:t>Background Study</a:t>
            </a:r>
          </a:p>
        </p:txBody>
      </p:sp>
      <p:sp>
        <p:nvSpPr>
          <p:cNvPr id="5" name="tealrule"/>
          <p:cNvSpPr/>
          <p:nvPr/>
        </p:nvSpPr>
        <p:spPr>
          <a:xfrm>
            <a:off x="3017520" y="1517904"/>
            <a:ext cx="7360920" cy="41148"/>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airline"/>
          <p:cNvSpPr/>
          <p:nvPr/>
        </p:nvSpPr>
        <p:spPr>
          <a:xfrm>
            <a:off x="411480" y="1664208"/>
            <a:ext cx="11018520" cy="7315"/>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band"/>
          <p:cNvSpPr/>
          <p:nvPr/>
        </p:nvSpPr>
        <p:spPr>
          <a:xfrm>
            <a:off x="0" y="6528816"/>
            <a:ext cx="12191695" cy="329184"/>
          </a:xfrm>
          <a:prstGeom prst="rect">
            <a:avLst/>
          </a:prstGeom>
          <a:solidFill>
            <a:srgbClr val="BD5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text"/>
          <p:cNvSpPr txBox="1"/>
          <p:nvPr/>
        </p:nvSpPr>
        <p:spPr>
          <a:xfrm>
            <a:off x="0" y="6620255"/>
            <a:ext cx="12191695" cy="201168"/>
          </a:xfrm>
          <a:prstGeom prst="rect">
            <a:avLst/>
          </a:prstGeom>
          <a:noFill/>
        </p:spPr>
        <p:txBody>
          <a:bodyPr wrap="square" lIns="0" rIns="0" tIns="0" bIns="0" anchor="t">
            <a:spAutoFit/>
          </a:bodyPr>
          <a:lstStyle/>
          <a:p>
            <a:pPr algn="ctr">
              <a:lnSpc>
                <a:spcPct val="100000"/>
              </a:lnSpc>
            </a:pPr>
            <a:r>
              <a:rPr sz="800" b="0" i="0">
                <a:solidFill>
                  <a:srgbClr val="FFFFFF"/>
                </a:solidFill>
                <a:latin typeface="Calibri"/>
              </a:rPr>
              <a:t>SANTOSH CHEETHIRALA_NIVAS REDDY DANDU_C. SREE KRISHNA KOUSHIK_MARREDDY RUSHI ESWAR REDDY</a:t>
            </a:r>
          </a:p>
        </p:txBody>
      </p:sp>
      <p:sp>
        <p:nvSpPr>
          <p:cNvPr id="9" name="lead"/>
          <p:cNvSpPr txBox="1"/>
          <p:nvPr/>
        </p:nvSpPr>
        <p:spPr>
          <a:xfrm>
            <a:off x="822960" y="1947672"/>
            <a:ext cx="10515600" cy="411480"/>
          </a:xfrm>
          <a:prstGeom prst="rect">
            <a:avLst/>
          </a:prstGeom>
          <a:noFill/>
        </p:spPr>
        <p:txBody>
          <a:bodyPr wrap="square" lIns="0" rIns="0" tIns="0" bIns="0" anchor="t">
            <a:spAutoFit/>
          </a:bodyPr>
          <a:lstStyle/>
          <a:p>
            <a:pPr algn="ctr">
              <a:lnSpc>
                <a:spcPct val="100000"/>
              </a:lnSpc>
            </a:pPr>
            <a:r>
              <a:rPr sz="1700" b="1" i="0">
                <a:solidFill>
                  <a:srgbClr val="1A1A1A"/>
                </a:solidFill>
                <a:latin typeface="Calibri"/>
              </a:rPr>
              <a:t>Four strands, one shared gap</a:t>
            </a:r>
          </a:p>
        </p:txBody>
      </p:sp>
      <p:pic>
        <p:nvPicPr>
          <p:cNvPr id="10" name="fig" descr="f6_literature.png"/>
          <p:cNvPicPr>
            <a:picLocks noChangeAspect="1"/>
          </p:cNvPicPr>
          <p:nvPr/>
        </p:nvPicPr>
        <p:blipFill>
          <a:blip r:embed="rId3"/>
          <a:stretch>
            <a:fillRect/>
          </a:stretch>
        </p:blipFill>
        <p:spPr>
          <a:xfrm>
            <a:off x="609447" y="2450591"/>
            <a:ext cx="10972800" cy="3440573"/>
          </a:xfrm>
          <a:prstGeom prst="rect">
            <a:avLst/>
          </a:prstGeom>
        </p:spPr>
      </p:pic>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5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ogo" descr="PES University - Logo 2.png"/>
          <p:cNvPicPr>
            <a:picLocks noChangeAspect="1"/>
          </p:cNvPicPr>
          <p:nvPr/>
        </p:nvPicPr>
        <p:blipFill>
          <a:blip r:embed="rId2"/>
          <a:stretch>
            <a:fillRect/>
          </a:stretch>
        </p:blipFill>
        <p:spPr>
          <a:xfrm>
            <a:off x="10533888" y="146304"/>
            <a:ext cx="1298448" cy="591337"/>
          </a:xfrm>
          <a:prstGeom prst="rect">
            <a:avLst/>
          </a:prstGeom>
        </p:spPr>
      </p:pic>
      <p:sp>
        <p:nvSpPr>
          <p:cNvPr id="3" name="runhead"/>
          <p:cNvSpPr txBox="1"/>
          <p:nvPr/>
        </p:nvSpPr>
        <p:spPr>
          <a:xfrm>
            <a:off x="411480" y="237744"/>
            <a:ext cx="6858000" cy="274320"/>
          </a:xfrm>
          <a:prstGeom prst="rect">
            <a:avLst/>
          </a:prstGeom>
          <a:noFill/>
        </p:spPr>
        <p:txBody>
          <a:bodyPr wrap="square" lIns="0" rIns="0" tIns="0" bIns="0" anchor="t">
            <a:spAutoFit/>
          </a:bodyPr>
          <a:lstStyle/>
          <a:p>
            <a:pPr algn="l">
              <a:lnSpc>
                <a:spcPct val="100000"/>
              </a:lnSpc>
            </a:pPr>
            <a:r>
              <a:rPr sz="1050" b="1" i="0">
                <a:solidFill>
                  <a:srgbClr val="7F7F7F"/>
                </a:solidFill>
                <a:latin typeface="Calibri"/>
              </a:rPr>
              <a:t>CALIPER: Calibrating Interpretability Readouts for Language Models</a:t>
            </a:r>
          </a:p>
        </p:txBody>
      </p:sp>
      <p:sp>
        <p:nvSpPr>
          <p:cNvPr id="4" name="heading"/>
          <p:cNvSpPr txBox="1"/>
          <p:nvPr/>
        </p:nvSpPr>
        <p:spPr>
          <a:xfrm>
            <a:off x="2926080" y="868680"/>
            <a:ext cx="7452360" cy="502920"/>
          </a:xfrm>
          <a:prstGeom prst="rect">
            <a:avLst/>
          </a:prstGeom>
          <a:noFill/>
        </p:spPr>
        <p:txBody>
          <a:bodyPr wrap="square" lIns="0" rIns="0" tIns="0" bIns="0" anchor="t">
            <a:spAutoFit/>
          </a:bodyPr>
          <a:lstStyle/>
          <a:p>
            <a:pPr algn="r">
              <a:lnSpc>
                <a:spcPct val="100000"/>
              </a:lnSpc>
            </a:pPr>
            <a:r>
              <a:rPr sz="2700" b="0" i="0">
                <a:solidFill>
                  <a:srgbClr val="1A1A1A"/>
                </a:solidFill>
                <a:latin typeface="Calibri"/>
              </a:rPr>
              <a:t>Background Study – Unit level</a:t>
            </a:r>
          </a:p>
        </p:txBody>
      </p:sp>
      <p:sp>
        <p:nvSpPr>
          <p:cNvPr id="5" name="tealrule"/>
          <p:cNvSpPr/>
          <p:nvPr/>
        </p:nvSpPr>
        <p:spPr>
          <a:xfrm>
            <a:off x="3017520" y="1517904"/>
            <a:ext cx="7360920" cy="41148"/>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airline"/>
          <p:cNvSpPr/>
          <p:nvPr/>
        </p:nvSpPr>
        <p:spPr>
          <a:xfrm>
            <a:off x="411480" y="1664208"/>
            <a:ext cx="11018520" cy="7315"/>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band"/>
          <p:cNvSpPr/>
          <p:nvPr/>
        </p:nvSpPr>
        <p:spPr>
          <a:xfrm>
            <a:off x="0" y="6528816"/>
            <a:ext cx="12191695" cy="329184"/>
          </a:xfrm>
          <a:prstGeom prst="rect">
            <a:avLst/>
          </a:prstGeom>
          <a:solidFill>
            <a:srgbClr val="BD5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text"/>
          <p:cNvSpPr txBox="1"/>
          <p:nvPr/>
        </p:nvSpPr>
        <p:spPr>
          <a:xfrm>
            <a:off x="0" y="6620255"/>
            <a:ext cx="12191695" cy="201168"/>
          </a:xfrm>
          <a:prstGeom prst="rect">
            <a:avLst/>
          </a:prstGeom>
          <a:noFill/>
        </p:spPr>
        <p:txBody>
          <a:bodyPr wrap="square" lIns="0" rIns="0" tIns="0" bIns="0" anchor="t">
            <a:spAutoFit/>
          </a:bodyPr>
          <a:lstStyle/>
          <a:p>
            <a:pPr algn="ctr">
              <a:lnSpc>
                <a:spcPct val="100000"/>
              </a:lnSpc>
            </a:pPr>
            <a:r>
              <a:rPr sz="800" b="0" i="0">
                <a:solidFill>
                  <a:srgbClr val="FFFFFF"/>
                </a:solidFill>
                <a:latin typeface="Calibri"/>
              </a:rPr>
              <a:t>SANTOSH CHEETHIRALA_NIVAS REDDY DANDU_C. SREE KRISHNA KOUSHIK_MARREDDY RUSHI ESWAR REDDY</a:t>
            </a:r>
          </a:p>
        </p:txBody>
      </p:sp>
      <p:sp>
        <p:nvSpPr>
          <p:cNvPr id="9" name="hdr"/>
          <p:cNvSpPr/>
          <p:nvPr/>
        </p:nvSpPr>
        <p:spPr>
          <a:xfrm>
            <a:off x="502920" y="1901952"/>
            <a:ext cx="11201400" cy="38404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1"/>
          <p:cNvSpPr txBox="1"/>
          <p:nvPr/>
        </p:nvSpPr>
        <p:spPr>
          <a:xfrm>
            <a:off x="685800" y="1984248"/>
            <a:ext cx="3017520" cy="274320"/>
          </a:xfrm>
          <a:prstGeom prst="rect">
            <a:avLst/>
          </a:prstGeom>
          <a:noFill/>
        </p:spPr>
        <p:txBody>
          <a:bodyPr wrap="square" lIns="0" rIns="0" tIns="0" bIns="0" anchor="t">
            <a:spAutoFit/>
          </a:bodyPr>
          <a:lstStyle/>
          <a:p>
            <a:pPr algn="l">
              <a:lnSpc>
                <a:spcPct val="100000"/>
              </a:lnSpc>
            </a:pPr>
            <a:r>
              <a:rPr sz="1150" b="1" i="0">
                <a:solidFill>
                  <a:srgbClr val="FFFFFF"/>
                </a:solidFill>
                <a:latin typeface="Calibri"/>
              </a:rPr>
              <a:t>RESEARCH PAPER</a:t>
            </a:r>
          </a:p>
        </p:txBody>
      </p:sp>
      <p:sp>
        <p:nvSpPr>
          <p:cNvPr id="11" name="h2"/>
          <p:cNvSpPr txBox="1"/>
          <p:nvPr/>
        </p:nvSpPr>
        <p:spPr>
          <a:xfrm>
            <a:off x="3931920" y="1984248"/>
            <a:ext cx="3108960" cy="274320"/>
          </a:xfrm>
          <a:prstGeom prst="rect">
            <a:avLst/>
          </a:prstGeom>
          <a:noFill/>
        </p:spPr>
        <p:txBody>
          <a:bodyPr wrap="square" lIns="0" rIns="0" tIns="0" bIns="0" anchor="t">
            <a:spAutoFit/>
          </a:bodyPr>
          <a:lstStyle/>
          <a:p>
            <a:pPr algn="l">
              <a:lnSpc>
                <a:spcPct val="100000"/>
              </a:lnSpc>
            </a:pPr>
            <a:r>
              <a:rPr sz="1150" b="1" i="0">
                <a:solidFill>
                  <a:srgbClr val="FFFFFF"/>
                </a:solidFill>
                <a:latin typeface="Calibri"/>
              </a:rPr>
              <a:t>CITATION</a:t>
            </a:r>
          </a:p>
        </p:txBody>
      </p:sp>
      <p:sp>
        <p:nvSpPr>
          <p:cNvPr id="12" name="h3"/>
          <p:cNvSpPr txBox="1"/>
          <p:nvPr/>
        </p:nvSpPr>
        <p:spPr>
          <a:xfrm>
            <a:off x="7315200" y="1984248"/>
            <a:ext cx="4206240" cy="274320"/>
          </a:xfrm>
          <a:prstGeom prst="rect">
            <a:avLst/>
          </a:prstGeom>
          <a:noFill/>
        </p:spPr>
        <p:txBody>
          <a:bodyPr wrap="square" lIns="0" rIns="0" tIns="0" bIns="0" anchor="t">
            <a:spAutoFit/>
          </a:bodyPr>
          <a:lstStyle/>
          <a:p>
            <a:pPr algn="l">
              <a:lnSpc>
                <a:spcPct val="100000"/>
              </a:lnSpc>
            </a:pPr>
            <a:r>
              <a:rPr sz="1150" b="1" i="0">
                <a:solidFill>
                  <a:srgbClr val="FFFFFF"/>
                </a:solidFill>
                <a:latin typeface="Calibri"/>
              </a:rPr>
              <a:t>KEY OUTCOME</a:t>
            </a:r>
          </a:p>
        </p:txBody>
      </p:sp>
      <p:sp>
        <p:nvSpPr>
          <p:cNvPr id="13" name="bg0"/>
          <p:cNvSpPr/>
          <p:nvPr/>
        </p:nvSpPr>
        <p:spPr>
          <a:xfrm>
            <a:off x="502920" y="2377440"/>
            <a:ext cx="11201400" cy="658368"/>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1_0"/>
          <p:cNvSpPr txBox="1"/>
          <p:nvPr/>
        </p:nvSpPr>
        <p:spPr>
          <a:xfrm>
            <a:off x="685800" y="2478024"/>
            <a:ext cx="3063240" cy="475488"/>
          </a:xfrm>
          <a:prstGeom prst="rect">
            <a:avLst/>
          </a:prstGeom>
          <a:noFill/>
        </p:spPr>
        <p:txBody>
          <a:bodyPr wrap="square" lIns="0" rIns="0" tIns="0" bIns="0" anchor="t">
            <a:spAutoFit/>
          </a:bodyPr>
          <a:lstStyle/>
          <a:p>
            <a:pPr algn="l">
              <a:lnSpc>
                <a:spcPct val="112000"/>
              </a:lnSpc>
            </a:pPr>
            <a:r>
              <a:rPr sz="1150" b="1" i="0">
                <a:solidFill>
                  <a:srgbClr val="1A1A1A"/>
                </a:solidFill>
                <a:latin typeface="Calibri"/>
              </a:rPr>
              <a:t>Maximally Informative Dimensions</a:t>
            </a:r>
          </a:p>
        </p:txBody>
      </p:sp>
      <p:sp>
        <p:nvSpPr>
          <p:cNvPr id="15" name="c2_0"/>
          <p:cNvSpPr txBox="1"/>
          <p:nvPr/>
        </p:nvSpPr>
        <p:spPr>
          <a:xfrm>
            <a:off x="3931920" y="2478024"/>
            <a:ext cx="3246120" cy="475488"/>
          </a:xfrm>
          <a:prstGeom prst="rect">
            <a:avLst/>
          </a:prstGeom>
          <a:noFill/>
        </p:spPr>
        <p:txBody>
          <a:bodyPr wrap="square" lIns="0" rIns="0" tIns="0" bIns="0" anchor="t">
            <a:spAutoFit/>
          </a:bodyPr>
          <a:lstStyle/>
          <a:p>
            <a:pPr algn="l">
              <a:lnSpc>
                <a:spcPct val="112000"/>
              </a:lnSpc>
            </a:pPr>
            <a:r>
              <a:rPr sz="1000" b="0" i="0">
                <a:solidFill>
                  <a:srgbClr val="7F7F7F"/>
                </a:solidFill>
                <a:latin typeface="Calibri"/>
              </a:rPr>
              <a:t>Sharpee, Rust &amp; Bialek (2004), Neural Computation 16(2)</a:t>
            </a:r>
          </a:p>
        </p:txBody>
      </p:sp>
      <p:sp>
        <p:nvSpPr>
          <p:cNvPr id="16" name="c3_0"/>
          <p:cNvSpPr txBox="1"/>
          <p:nvPr/>
        </p:nvSpPr>
        <p:spPr>
          <a:xfrm>
            <a:off x="7315200" y="2478024"/>
            <a:ext cx="4251960" cy="475488"/>
          </a:xfrm>
          <a:prstGeom prst="rect">
            <a:avLst/>
          </a:prstGeom>
          <a:noFill/>
        </p:spPr>
        <p:txBody>
          <a:bodyPr wrap="square" lIns="0" rIns="0" tIns="0" bIns="0" anchor="t">
            <a:spAutoFit/>
          </a:bodyPr>
          <a:lstStyle/>
          <a:p>
            <a:pPr algn="l">
              <a:lnSpc>
                <a:spcPct val="112000"/>
              </a:lnSpc>
            </a:pPr>
            <a:r>
              <a:rPr sz="1050" b="0" i="0">
                <a:solidFill>
                  <a:srgbClr val="1A1A1A"/>
                </a:solidFill>
                <a:latin typeface="Calibri"/>
              </a:rPr>
              <a:t>Introduced the information-theoretic estimator for what a neuron responds to; the method we adapt to language-model units.</a:t>
            </a:r>
          </a:p>
        </p:txBody>
      </p:sp>
      <p:sp>
        <p:nvSpPr>
          <p:cNvPr id="17" name="bg1"/>
          <p:cNvSpPr/>
          <p:nvPr/>
        </p:nvSpPr>
        <p:spPr>
          <a:xfrm>
            <a:off x="502920" y="3090672"/>
            <a:ext cx="11201400" cy="7863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1_1"/>
          <p:cNvSpPr txBox="1"/>
          <p:nvPr/>
        </p:nvSpPr>
        <p:spPr>
          <a:xfrm>
            <a:off x="685800" y="3191256"/>
            <a:ext cx="3063240" cy="603504"/>
          </a:xfrm>
          <a:prstGeom prst="rect">
            <a:avLst/>
          </a:prstGeom>
          <a:noFill/>
        </p:spPr>
        <p:txBody>
          <a:bodyPr wrap="square" lIns="0" rIns="0" tIns="0" bIns="0" anchor="t">
            <a:spAutoFit/>
          </a:bodyPr>
          <a:lstStyle/>
          <a:p>
            <a:pPr algn="l">
              <a:lnSpc>
                <a:spcPct val="112000"/>
              </a:lnSpc>
            </a:pPr>
            <a:r>
              <a:rPr sz="1150" b="1" i="0">
                <a:solidFill>
                  <a:srgbClr val="1A1A1A"/>
                </a:solidFill>
                <a:latin typeface="Calibri"/>
              </a:rPr>
              <a:t>Equivalence of MID and maximum likelihood</a:t>
            </a:r>
          </a:p>
        </p:txBody>
      </p:sp>
      <p:sp>
        <p:nvSpPr>
          <p:cNvPr id="19" name="c2_1"/>
          <p:cNvSpPr txBox="1"/>
          <p:nvPr/>
        </p:nvSpPr>
        <p:spPr>
          <a:xfrm>
            <a:off x="3931920" y="3191256"/>
            <a:ext cx="3246120" cy="603504"/>
          </a:xfrm>
          <a:prstGeom prst="rect">
            <a:avLst/>
          </a:prstGeom>
          <a:noFill/>
        </p:spPr>
        <p:txBody>
          <a:bodyPr wrap="square" lIns="0" rIns="0" tIns="0" bIns="0" anchor="t">
            <a:spAutoFit/>
          </a:bodyPr>
          <a:lstStyle/>
          <a:p>
            <a:pPr algn="l">
              <a:lnSpc>
                <a:spcPct val="112000"/>
              </a:lnSpc>
            </a:pPr>
            <a:r>
              <a:rPr sz="1000" b="0" i="0">
                <a:solidFill>
                  <a:srgbClr val="7F7F7F"/>
                </a:solidFill>
                <a:latin typeface="Calibri"/>
              </a:rPr>
              <a:t>Williamson, Sahani &amp; Pillow (2015), PLoS Comput Biol 11(4)</a:t>
            </a:r>
          </a:p>
        </p:txBody>
      </p:sp>
      <p:sp>
        <p:nvSpPr>
          <p:cNvPr id="20" name="c3_1"/>
          <p:cNvSpPr txBox="1"/>
          <p:nvPr/>
        </p:nvSpPr>
        <p:spPr>
          <a:xfrm>
            <a:off x="7315200" y="3191256"/>
            <a:ext cx="4251960" cy="603504"/>
          </a:xfrm>
          <a:prstGeom prst="rect">
            <a:avLst/>
          </a:prstGeom>
          <a:noFill/>
        </p:spPr>
        <p:txBody>
          <a:bodyPr wrap="square" lIns="0" rIns="0" tIns="0" bIns="0" anchor="t">
            <a:spAutoFit/>
          </a:bodyPr>
          <a:lstStyle/>
          <a:p>
            <a:pPr algn="l">
              <a:lnSpc>
                <a:spcPct val="112000"/>
              </a:lnSpc>
            </a:pPr>
            <a:r>
              <a:rPr sz="1050" b="0" i="0">
                <a:solidFill>
                  <a:srgbClr val="1A1A1A"/>
                </a:solidFill>
                <a:latin typeface="Calibri"/>
              </a:rPr>
              <a:t>Showed MID is maximum likelihood for a linear-nonlinear model, which makes it a rank-K bottleneck regression — the form we implement.</a:t>
            </a:r>
          </a:p>
        </p:txBody>
      </p:sp>
      <p:sp>
        <p:nvSpPr>
          <p:cNvPr id="21" name="bg2"/>
          <p:cNvSpPr/>
          <p:nvPr/>
        </p:nvSpPr>
        <p:spPr>
          <a:xfrm>
            <a:off x="502920" y="3931920"/>
            <a:ext cx="11201400" cy="786384"/>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1_2"/>
          <p:cNvSpPr txBox="1"/>
          <p:nvPr/>
        </p:nvSpPr>
        <p:spPr>
          <a:xfrm>
            <a:off x="685800" y="4032504"/>
            <a:ext cx="3063240" cy="603504"/>
          </a:xfrm>
          <a:prstGeom prst="rect">
            <a:avLst/>
          </a:prstGeom>
          <a:noFill/>
        </p:spPr>
        <p:txBody>
          <a:bodyPr wrap="square" lIns="0" rIns="0" tIns="0" bIns="0" anchor="t">
            <a:spAutoFit/>
          </a:bodyPr>
          <a:lstStyle/>
          <a:p>
            <a:pPr algn="l">
              <a:lnSpc>
                <a:spcPct val="112000"/>
              </a:lnSpc>
            </a:pPr>
            <a:r>
              <a:rPr sz="1150" b="1" i="0">
                <a:solidFill>
                  <a:srgbClr val="1A1A1A"/>
                </a:solidFill>
                <a:latin typeface="Calibri"/>
              </a:rPr>
              <a:t>Zoom In: An Introduction to Circuits</a:t>
            </a:r>
          </a:p>
        </p:txBody>
      </p:sp>
      <p:sp>
        <p:nvSpPr>
          <p:cNvPr id="23" name="c2_2"/>
          <p:cNvSpPr txBox="1"/>
          <p:nvPr/>
        </p:nvSpPr>
        <p:spPr>
          <a:xfrm>
            <a:off x="3931920" y="4032504"/>
            <a:ext cx="3246120" cy="603504"/>
          </a:xfrm>
          <a:prstGeom prst="rect">
            <a:avLst/>
          </a:prstGeom>
          <a:noFill/>
        </p:spPr>
        <p:txBody>
          <a:bodyPr wrap="square" lIns="0" rIns="0" tIns="0" bIns="0" anchor="t">
            <a:spAutoFit/>
          </a:bodyPr>
          <a:lstStyle/>
          <a:p>
            <a:pPr algn="l">
              <a:lnSpc>
                <a:spcPct val="112000"/>
              </a:lnSpc>
            </a:pPr>
            <a:r>
              <a:rPr sz="1000" b="0" i="0">
                <a:solidFill>
                  <a:srgbClr val="7F7F7F"/>
                </a:solidFill>
                <a:latin typeface="Calibri"/>
              </a:rPr>
              <a:t>Olah et al. (2020), Distill</a:t>
            </a:r>
          </a:p>
        </p:txBody>
      </p:sp>
      <p:sp>
        <p:nvSpPr>
          <p:cNvPr id="24" name="c3_2"/>
          <p:cNvSpPr txBox="1"/>
          <p:nvPr/>
        </p:nvSpPr>
        <p:spPr>
          <a:xfrm>
            <a:off x="7315200" y="4032504"/>
            <a:ext cx="4251960" cy="603504"/>
          </a:xfrm>
          <a:prstGeom prst="rect">
            <a:avLst/>
          </a:prstGeom>
          <a:noFill/>
        </p:spPr>
        <p:txBody>
          <a:bodyPr wrap="square" lIns="0" rIns="0" tIns="0" bIns="0" anchor="t">
            <a:spAutoFit/>
          </a:bodyPr>
          <a:lstStyle/>
          <a:p>
            <a:pPr algn="l">
              <a:lnSpc>
                <a:spcPct val="112000"/>
              </a:lnSpc>
            </a:pPr>
            <a:r>
              <a:rPr sz="1050" b="0" i="0">
                <a:solidFill>
                  <a:srgbClr val="1A1A1A"/>
                </a:solidFill>
                <a:latin typeface="Calibri"/>
              </a:rPr>
              <a:t>Established tuning-curve style analysis of individual units in vision models. Prior art we differ from: vision, and no ground-truth check.</a:t>
            </a:r>
          </a:p>
        </p:txBody>
      </p:sp>
      <p:sp>
        <p:nvSpPr>
          <p:cNvPr id="25" name="bg3"/>
          <p:cNvSpPr/>
          <p:nvPr/>
        </p:nvSpPr>
        <p:spPr>
          <a:xfrm>
            <a:off x="502920" y="4773168"/>
            <a:ext cx="11201400" cy="6583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1_3"/>
          <p:cNvSpPr txBox="1"/>
          <p:nvPr/>
        </p:nvSpPr>
        <p:spPr>
          <a:xfrm>
            <a:off x="685800" y="4873752"/>
            <a:ext cx="3063240" cy="475488"/>
          </a:xfrm>
          <a:prstGeom prst="rect">
            <a:avLst/>
          </a:prstGeom>
          <a:noFill/>
        </p:spPr>
        <p:txBody>
          <a:bodyPr wrap="square" lIns="0" rIns="0" tIns="0" bIns="0" anchor="t">
            <a:spAutoFit/>
          </a:bodyPr>
          <a:lstStyle/>
          <a:p>
            <a:pPr algn="l">
              <a:lnSpc>
                <a:spcPct val="112000"/>
              </a:lnSpc>
            </a:pPr>
            <a:r>
              <a:rPr sz="1150" b="1" i="0">
                <a:solidFill>
                  <a:srgbClr val="1A1A1A"/>
                </a:solidFill>
                <a:latin typeface="Calibri"/>
              </a:rPr>
              <a:t>Sparse coding and population sparseness</a:t>
            </a:r>
          </a:p>
        </p:txBody>
      </p:sp>
      <p:sp>
        <p:nvSpPr>
          <p:cNvPr id="27" name="c2_3"/>
          <p:cNvSpPr txBox="1"/>
          <p:nvPr/>
        </p:nvSpPr>
        <p:spPr>
          <a:xfrm>
            <a:off x="3931920" y="4873752"/>
            <a:ext cx="3246120" cy="475488"/>
          </a:xfrm>
          <a:prstGeom prst="rect">
            <a:avLst/>
          </a:prstGeom>
          <a:noFill/>
        </p:spPr>
        <p:txBody>
          <a:bodyPr wrap="square" lIns="0" rIns="0" tIns="0" bIns="0" anchor="t">
            <a:spAutoFit/>
          </a:bodyPr>
          <a:lstStyle/>
          <a:p>
            <a:pPr algn="l">
              <a:lnSpc>
                <a:spcPct val="112000"/>
              </a:lnSpc>
            </a:pPr>
            <a:r>
              <a:rPr sz="1000" b="0" i="0">
                <a:solidFill>
                  <a:srgbClr val="7F7F7F"/>
                </a:solidFill>
                <a:latin typeface="Calibri"/>
              </a:rPr>
              <a:t>Willmore &amp; Tolhurst (2001), Network 12(3)</a:t>
            </a:r>
          </a:p>
        </p:txBody>
      </p:sp>
      <p:sp>
        <p:nvSpPr>
          <p:cNvPr id="28" name="c3_3"/>
          <p:cNvSpPr txBox="1"/>
          <p:nvPr/>
        </p:nvSpPr>
        <p:spPr>
          <a:xfrm>
            <a:off x="7315200" y="4873752"/>
            <a:ext cx="4251960" cy="475488"/>
          </a:xfrm>
          <a:prstGeom prst="rect">
            <a:avLst/>
          </a:prstGeom>
          <a:noFill/>
        </p:spPr>
        <p:txBody>
          <a:bodyPr wrap="square" lIns="0" rIns="0" tIns="0" bIns="0" anchor="t">
            <a:spAutoFit/>
          </a:bodyPr>
          <a:lstStyle/>
          <a:p>
            <a:pPr algn="l">
              <a:lnSpc>
                <a:spcPct val="112000"/>
              </a:lnSpc>
            </a:pPr>
            <a:r>
              <a:rPr sz="1050" b="0" i="0">
                <a:solidFill>
                  <a:srgbClr val="1A1A1A"/>
                </a:solidFill>
                <a:latin typeface="Calibri"/>
              </a:rPr>
              <a:t>Lifetime kurtosis is not population sparseness — a caution we inherit when characterising unit selectivity.</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3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300"/>
                                        <p:tgtEl>
                                          <p:spTgt spid="1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300"/>
                                        <p:tgtEl>
                                          <p:spTgt spid="1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3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300"/>
                                        <p:tgtEl>
                                          <p:spTgt spid="1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300"/>
                                        <p:tgtEl>
                                          <p:spTgt spid="1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300"/>
                                        <p:tgtEl>
                                          <p:spTgt spid="1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300"/>
                                        <p:tgtEl>
                                          <p:spTgt spid="16"/>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300"/>
                                        <p:tgtEl>
                                          <p:spTgt spid="17"/>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300"/>
                                        <p:tgtEl>
                                          <p:spTgt spid="1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300"/>
                                        <p:tgtEl>
                                          <p:spTgt spid="19"/>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300"/>
                                        <p:tgtEl>
                                          <p:spTgt spid="20"/>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300"/>
                                        <p:tgtEl>
                                          <p:spTgt spid="21"/>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300"/>
                                        <p:tgtEl>
                                          <p:spTgt spid="22"/>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300"/>
                                        <p:tgtEl>
                                          <p:spTgt spid="23"/>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300"/>
                                        <p:tgtEl>
                                          <p:spTgt spid="24"/>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300"/>
                                        <p:tgtEl>
                                          <p:spTgt spid="25"/>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300"/>
                                        <p:tgtEl>
                                          <p:spTgt spid="26"/>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300"/>
                                        <p:tgtEl>
                                          <p:spTgt spid="27"/>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8"/>
                                        </p:tgtEl>
                                        <p:attrNameLst>
                                          <p:attrName>style.visibility</p:attrName>
                                        </p:attrNameLst>
                                      </p:cBhvr>
                                      <p:to>
                                        <p:strVal val="visible"/>
                                      </p:to>
                                    </p:set>
                                    <p:animEffect transition="in" filter="fade">
                                      <p:cBhvr>
                                        <p:cTn id="73" dur="3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ogo" descr="PES University - Logo 2.png"/>
          <p:cNvPicPr>
            <a:picLocks noChangeAspect="1"/>
          </p:cNvPicPr>
          <p:nvPr/>
        </p:nvPicPr>
        <p:blipFill>
          <a:blip r:embed="rId2"/>
          <a:stretch>
            <a:fillRect/>
          </a:stretch>
        </p:blipFill>
        <p:spPr>
          <a:xfrm>
            <a:off x="10533888" y="146304"/>
            <a:ext cx="1298448" cy="591337"/>
          </a:xfrm>
          <a:prstGeom prst="rect">
            <a:avLst/>
          </a:prstGeom>
        </p:spPr>
      </p:pic>
      <p:sp>
        <p:nvSpPr>
          <p:cNvPr id="3" name="runhead"/>
          <p:cNvSpPr txBox="1"/>
          <p:nvPr/>
        </p:nvSpPr>
        <p:spPr>
          <a:xfrm>
            <a:off x="411480" y="237744"/>
            <a:ext cx="6858000" cy="274320"/>
          </a:xfrm>
          <a:prstGeom prst="rect">
            <a:avLst/>
          </a:prstGeom>
          <a:noFill/>
        </p:spPr>
        <p:txBody>
          <a:bodyPr wrap="square" lIns="0" rIns="0" tIns="0" bIns="0" anchor="t">
            <a:spAutoFit/>
          </a:bodyPr>
          <a:lstStyle/>
          <a:p>
            <a:pPr algn="l">
              <a:lnSpc>
                <a:spcPct val="100000"/>
              </a:lnSpc>
            </a:pPr>
            <a:r>
              <a:rPr sz="1050" b="1" i="0">
                <a:solidFill>
                  <a:srgbClr val="7F7F7F"/>
                </a:solidFill>
                <a:latin typeface="Calibri"/>
              </a:rPr>
              <a:t>CALIPER: Calibrating Interpretability Readouts for Language Models</a:t>
            </a:r>
          </a:p>
        </p:txBody>
      </p:sp>
      <p:sp>
        <p:nvSpPr>
          <p:cNvPr id="4" name="heading"/>
          <p:cNvSpPr txBox="1"/>
          <p:nvPr/>
        </p:nvSpPr>
        <p:spPr>
          <a:xfrm>
            <a:off x="2926080" y="868680"/>
            <a:ext cx="7452360" cy="502920"/>
          </a:xfrm>
          <a:prstGeom prst="rect">
            <a:avLst/>
          </a:prstGeom>
          <a:noFill/>
        </p:spPr>
        <p:txBody>
          <a:bodyPr wrap="square" lIns="0" rIns="0" tIns="0" bIns="0" anchor="t">
            <a:spAutoFit/>
          </a:bodyPr>
          <a:lstStyle/>
          <a:p>
            <a:pPr algn="r">
              <a:lnSpc>
                <a:spcPct val="100000"/>
              </a:lnSpc>
            </a:pPr>
            <a:r>
              <a:rPr sz="2700" b="0" i="0">
                <a:solidFill>
                  <a:srgbClr val="1A1A1A"/>
                </a:solidFill>
                <a:latin typeface="Calibri"/>
              </a:rPr>
              <a:t>Background Study – Trait level</a:t>
            </a:r>
          </a:p>
        </p:txBody>
      </p:sp>
      <p:sp>
        <p:nvSpPr>
          <p:cNvPr id="5" name="tealrule"/>
          <p:cNvSpPr/>
          <p:nvPr/>
        </p:nvSpPr>
        <p:spPr>
          <a:xfrm>
            <a:off x="3017520" y="1517904"/>
            <a:ext cx="7360920" cy="41148"/>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airline"/>
          <p:cNvSpPr/>
          <p:nvPr/>
        </p:nvSpPr>
        <p:spPr>
          <a:xfrm>
            <a:off x="411480" y="1664208"/>
            <a:ext cx="11018520" cy="7315"/>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band"/>
          <p:cNvSpPr/>
          <p:nvPr/>
        </p:nvSpPr>
        <p:spPr>
          <a:xfrm>
            <a:off x="0" y="6528816"/>
            <a:ext cx="12191695" cy="329184"/>
          </a:xfrm>
          <a:prstGeom prst="rect">
            <a:avLst/>
          </a:prstGeom>
          <a:solidFill>
            <a:srgbClr val="BD5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text"/>
          <p:cNvSpPr txBox="1"/>
          <p:nvPr/>
        </p:nvSpPr>
        <p:spPr>
          <a:xfrm>
            <a:off x="0" y="6620255"/>
            <a:ext cx="12191695" cy="201168"/>
          </a:xfrm>
          <a:prstGeom prst="rect">
            <a:avLst/>
          </a:prstGeom>
          <a:noFill/>
        </p:spPr>
        <p:txBody>
          <a:bodyPr wrap="square" lIns="0" rIns="0" tIns="0" bIns="0" anchor="t">
            <a:spAutoFit/>
          </a:bodyPr>
          <a:lstStyle/>
          <a:p>
            <a:pPr algn="ctr">
              <a:lnSpc>
                <a:spcPct val="100000"/>
              </a:lnSpc>
            </a:pPr>
            <a:r>
              <a:rPr sz="800" b="0" i="0">
                <a:solidFill>
                  <a:srgbClr val="FFFFFF"/>
                </a:solidFill>
                <a:latin typeface="Calibri"/>
              </a:rPr>
              <a:t>SANTOSH CHEETHIRALA_NIVAS REDDY DANDU_C. SREE KRISHNA KOUSHIK_MARREDDY RUSHI ESWAR REDDY</a:t>
            </a:r>
          </a:p>
        </p:txBody>
      </p:sp>
      <p:sp>
        <p:nvSpPr>
          <p:cNvPr id="9" name="hdr"/>
          <p:cNvSpPr/>
          <p:nvPr/>
        </p:nvSpPr>
        <p:spPr>
          <a:xfrm>
            <a:off x="502920" y="1901952"/>
            <a:ext cx="11201400" cy="38404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1"/>
          <p:cNvSpPr txBox="1"/>
          <p:nvPr/>
        </p:nvSpPr>
        <p:spPr>
          <a:xfrm>
            <a:off x="685800" y="1984248"/>
            <a:ext cx="3017520" cy="274320"/>
          </a:xfrm>
          <a:prstGeom prst="rect">
            <a:avLst/>
          </a:prstGeom>
          <a:noFill/>
        </p:spPr>
        <p:txBody>
          <a:bodyPr wrap="square" lIns="0" rIns="0" tIns="0" bIns="0" anchor="t">
            <a:spAutoFit/>
          </a:bodyPr>
          <a:lstStyle/>
          <a:p>
            <a:pPr algn="l">
              <a:lnSpc>
                <a:spcPct val="100000"/>
              </a:lnSpc>
            </a:pPr>
            <a:r>
              <a:rPr sz="1150" b="1" i="0">
                <a:solidFill>
                  <a:srgbClr val="FFFFFF"/>
                </a:solidFill>
                <a:latin typeface="Calibri"/>
              </a:rPr>
              <a:t>RESEARCH PAPER</a:t>
            </a:r>
          </a:p>
        </p:txBody>
      </p:sp>
      <p:sp>
        <p:nvSpPr>
          <p:cNvPr id="11" name="h2"/>
          <p:cNvSpPr txBox="1"/>
          <p:nvPr/>
        </p:nvSpPr>
        <p:spPr>
          <a:xfrm>
            <a:off x="3931920" y="1984248"/>
            <a:ext cx="3108960" cy="274320"/>
          </a:xfrm>
          <a:prstGeom prst="rect">
            <a:avLst/>
          </a:prstGeom>
          <a:noFill/>
        </p:spPr>
        <p:txBody>
          <a:bodyPr wrap="square" lIns="0" rIns="0" tIns="0" bIns="0" anchor="t">
            <a:spAutoFit/>
          </a:bodyPr>
          <a:lstStyle/>
          <a:p>
            <a:pPr algn="l">
              <a:lnSpc>
                <a:spcPct val="100000"/>
              </a:lnSpc>
            </a:pPr>
            <a:r>
              <a:rPr sz="1150" b="1" i="0">
                <a:solidFill>
                  <a:srgbClr val="FFFFFF"/>
                </a:solidFill>
                <a:latin typeface="Calibri"/>
              </a:rPr>
              <a:t>CITATION</a:t>
            </a:r>
          </a:p>
        </p:txBody>
      </p:sp>
      <p:sp>
        <p:nvSpPr>
          <p:cNvPr id="12" name="h3"/>
          <p:cNvSpPr txBox="1"/>
          <p:nvPr/>
        </p:nvSpPr>
        <p:spPr>
          <a:xfrm>
            <a:off x="7315200" y="1984248"/>
            <a:ext cx="4206240" cy="274320"/>
          </a:xfrm>
          <a:prstGeom prst="rect">
            <a:avLst/>
          </a:prstGeom>
          <a:noFill/>
        </p:spPr>
        <p:txBody>
          <a:bodyPr wrap="square" lIns="0" rIns="0" tIns="0" bIns="0" anchor="t">
            <a:spAutoFit/>
          </a:bodyPr>
          <a:lstStyle/>
          <a:p>
            <a:pPr algn="l">
              <a:lnSpc>
                <a:spcPct val="100000"/>
              </a:lnSpc>
            </a:pPr>
            <a:r>
              <a:rPr sz="1150" b="1" i="0">
                <a:solidFill>
                  <a:srgbClr val="FFFFFF"/>
                </a:solidFill>
                <a:latin typeface="Calibri"/>
              </a:rPr>
              <a:t>KEY OUTCOME</a:t>
            </a:r>
          </a:p>
        </p:txBody>
      </p:sp>
      <p:sp>
        <p:nvSpPr>
          <p:cNvPr id="13" name="bg0"/>
          <p:cNvSpPr/>
          <p:nvPr/>
        </p:nvSpPr>
        <p:spPr>
          <a:xfrm>
            <a:off x="502920" y="2377440"/>
            <a:ext cx="11201400" cy="786384"/>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1_0"/>
          <p:cNvSpPr txBox="1"/>
          <p:nvPr/>
        </p:nvSpPr>
        <p:spPr>
          <a:xfrm>
            <a:off x="685800" y="2478024"/>
            <a:ext cx="3063240" cy="603504"/>
          </a:xfrm>
          <a:prstGeom prst="rect">
            <a:avLst/>
          </a:prstGeom>
          <a:noFill/>
        </p:spPr>
        <p:txBody>
          <a:bodyPr wrap="square" lIns="0" rIns="0" tIns="0" bIns="0" anchor="t">
            <a:spAutoFit/>
          </a:bodyPr>
          <a:lstStyle/>
          <a:p>
            <a:pPr algn="l">
              <a:lnSpc>
                <a:spcPct val="112000"/>
              </a:lnSpc>
            </a:pPr>
            <a:r>
              <a:rPr sz="1150" b="1" i="0">
                <a:solidFill>
                  <a:srgbClr val="1A1A1A"/>
                </a:solidFill>
                <a:latin typeface="Calibri"/>
              </a:rPr>
              <a:t>Persona vectors</a:t>
            </a:r>
          </a:p>
        </p:txBody>
      </p:sp>
      <p:sp>
        <p:nvSpPr>
          <p:cNvPr id="15" name="c2_0"/>
          <p:cNvSpPr txBox="1"/>
          <p:nvPr/>
        </p:nvSpPr>
        <p:spPr>
          <a:xfrm>
            <a:off x="3931920" y="2478024"/>
            <a:ext cx="3246120" cy="603504"/>
          </a:xfrm>
          <a:prstGeom prst="rect">
            <a:avLst/>
          </a:prstGeom>
          <a:noFill/>
        </p:spPr>
        <p:txBody>
          <a:bodyPr wrap="square" lIns="0" rIns="0" tIns="0" bIns="0" anchor="t">
            <a:spAutoFit/>
          </a:bodyPr>
          <a:lstStyle/>
          <a:p>
            <a:pPr algn="l">
              <a:lnSpc>
                <a:spcPct val="112000"/>
              </a:lnSpc>
            </a:pPr>
            <a:r>
              <a:rPr sz="1000" b="0" i="0">
                <a:solidFill>
                  <a:srgbClr val="7F7F7F"/>
                </a:solidFill>
                <a:latin typeface="Calibri"/>
              </a:rPr>
              <a:t>Chen et al. (2025), arXiv:2507.21509</a:t>
            </a:r>
          </a:p>
        </p:txBody>
      </p:sp>
      <p:sp>
        <p:nvSpPr>
          <p:cNvPr id="16" name="c3_0"/>
          <p:cNvSpPr txBox="1"/>
          <p:nvPr/>
        </p:nvSpPr>
        <p:spPr>
          <a:xfrm>
            <a:off x="7315200" y="2478024"/>
            <a:ext cx="4251960" cy="603504"/>
          </a:xfrm>
          <a:prstGeom prst="rect">
            <a:avLst/>
          </a:prstGeom>
          <a:noFill/>
        </p:spPr>
        <p:txBody>
          <a:bodyPr wrap="square" lIns="0" rIns="0" tIns="0" bIns="0" anchor="t">
            <a:spAutoFit/>
          </a:bodyPr>
          <a:lstStyle/>
          <a:p>
            <a:pPr algn="l">
              <a:lnSpc>
                <a:spcPct val="112000"/>
              </a:lnSpc>
            </a:pPr>
            <a:r>
              <a:rPr sz="1050" b="0" i="0">
                <a:solidFill>
                  <a:srgbClr val="1A1A1A"/>
                </a:solidFill>
                <a:latin typeface="Calibri"/>
              </a:rPr>
              <a:t>Extracts trait directions by difference of means and steers behaviour with them; validated by steering effect, never by recovering a known direction.</a:t>
            </a:r>
          </a:p>
        </p:txBody>
      </p:sp>
      <p:sp>
        <p:nvSpPr>
          <p:cNvPr id="17" name="bg1"/>
          <p:cNvSpPr/>
          <p:nvPr/>
        </p:nvSpPr>
        <p:spPr>
          <a:xfrm>
            <a:off x="502920" y="3218688"/>
            <a:ext cx="11201400" cy="6583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1_1"/>
          <p:cNvSpPr txBox="1"/>
          <p:nvPr/>
        </p:nvSpPr>
        <p:spPr>
          <a:xfrm>
            <a:off x="685800" y="3319272"/>
            <a:ext cx="3063240" cy="475488"/>
          </a:xfrm>
          <a:prstGeom prst="rect">
            <a:avLst/>
          </a:prstGeom>
          <a:noFill/>
        </p:spPr>
        <p:txBody>
          <a:bodyPr wrap="square" lIns="0" rIns="0" tIns="0" bIns="0" anchor="t">
            <a:spAutoFit/>
          </a:bodyPr>
          <a:lstStyle/>
          <a:p>
            <a:pPr algn="l">
              <a:lnSpc>
                <a:spcPct val="112000"/>
              </a:lnSpc>
            </a:pPr>
            <a:r>
              <a:rPr sz="1150" b="1" i="0">
                <a:solidFill>
                  <a:srgbClr val="1A1A1A"/>
                </a:solidFill>
                <a:latin typeface="Calibri"/>
              </a:rPr>
              <a:t>Steering language models with activation engineering</a:t>
            </a:r>
          </a:p>
        </p:txBody>
      </p:sp>
      <p:sp>
        <p:nvSpPr>
          <p:cNvPr id="19" name="c2_1"/>
          <p:cNvSpPr txBox="1"/>
          <p:nvPr/>
        </p:nvSpPr>
        <p:spPr>
          <a:xfrm>
            <a:off x="3931920" y="3319272"/>
            <a:ext cx="3246120" cy="475488"/>
          </a:xfrm>
          <a:prstGeom prst="rect">
            <a:avLst/>
          </a:prstGeom>
          <a:noFill/>
        </p:spPr>
        <p:txBody>
          <a:bodyPr wrap="square" lIns="0" rIns="0" tIns="0" bIns="0" anchor="t">
            <a:spAutoFit/>
          </a:bodyPr>
          <a:lstStyle/>
          <a:p>
            <a:pPr algn="l">
              <a:lnSpc>
                <a:spcPct val="112000"/>
              </a:lnSpc>
            </a:pPr>
            <a:r>
              <a:rPr sz="1000" b="0" i="0">
                <a:solidFill>
                  <a:srgbClr val="7F7F7F"/>
                </a:solidFill>
                <a:latin typeface="Calibri"/>
              </a:rPr>
              <a:t>Turner et al. (2023), arXiv:2308.10248</a:t>
            </a:r>
          </a:p>
        </p:txBody>
      </p:sp>
      <p:sp>
        <p:nvSpPr>
          <p:cNvPr id="20" name="c3_1"/>
          <p:cNvSpPr txBox="1"/>
          <p:nvPr/>
        </p:nvSpPr>
        <p:spPr>
          <a:xfrm>
            <a:off x="7315200" y="3319272"/>
            <a:ext cx="4251960" cy="475488"/>
          </a:xfrm>
          <a:prstGeom prst="rect">
            <a:avLst/>
          </a:prstGeom>
          <a:noFill/>
        </p:spPr>
        <p:txBody>
          <a:bodyPr wrap="square" lIns="0" rIns="0" tIns="0" bIns="0" anchor="t">
            <a:spAutoFit/>
          </a:bodyPr>
          <a:lstStyle/>
          <a:p>
            <a:pPr algn="l">
              <a:lnSpc>
                <a:spcPct val="112000"/>
              </a:lnSpc>
            </a:pPr>
            <a:r>
              <a:rPr sz="1050" b="0" i="0">
                <a:solidFill>
                  <a:srgbClr val="1A1A1A"/>
                </a:solidFill>
                <a:latin typeface="Calibri"/>
              </a:rPr>
              <a:t>Established activation addition as a control method; the family of readouts our trait level puts under test.</a:t>
            </a:r>
          </a:p>
        </p:txBody>
      </p:sp>
      <p:sp>
        <p:nvSpPr>
          <p:cNvPr id="21" name="bg2"/>
          <p:cNvSpPr/>
          <p:nvPr/>
        </p:nvSpPr>
        <p:spPr>
          <a:xfrm>
            <a:off x="502920" y="3931920"/>
            <a:ext cx="11201400" cy="786384"/>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1_2"/>
          <p:cNvSpPr txBox="1"/>
          <p:nvPr/>
        </p:nvSpPr>
        <p:spPr>
          <a:xfrm>
            <a:off x="685800" y="4032504"/>
            <a:ext cx="3063240" cy="603504"/>
          </a:xfrm>
          <a:prstGeom prst="rect">
            <a:avLst/>
          </a:prstGeom>
          <a:noFill/>
        </p:spPr>
        <p:txBody>
          <a:bodyPr wrap="square" lIns="0" rIns="0" tIns="0" bIns="0" anchor="t">
            <a:spAutoFit/>
          </a:bodyPr>
          <a:lstStyle/>
          <a:p>
            <a:pPr algn="l">
              <a:lnSpc>
                <a:spcPct val="112000"/>
              </a:lnSpc>
            </a:pPr>
            <a:r>
              <a:rPr sz="1150" b="1" i="0">
                <a:solidFill>
                  <a:srgbClr val="1A1A1A"/>
                </a:solidFill>
                <a:latin typeface="Calibri"/>
              </a:rPr>
              <a:t>Convergent and discriminant validation</a:t>
            </a:r>
          </a:p>
        </p:txBody>
      </p:sp>
      <p:sp>
        <p:nvSpPr>
          <p:cNvPr id="23" name="c2_2"/>
          <p:cNvSpPr txBox="1"/>
          <p:nvPr/>
        </p:nvSpPr>
        <p:spPr>
          <a:xfrm>
            <a:off x="3931920" y="4032504"/>
            <a:ext cx="3246120" cy="603504"/>
          </a:xfrm>
          <a:prstGeom prst="rect">
            <a:avLst/>
          </a:prstGeom>
          <a:noFill/>
        </p:spPr>
        <p:txBody>
          <a:bodyPr wrap="square" lIns="0" rIns="0" tIns="0" bIns="0" anchor="t">
            <a:spAutoFit/>
          </a:bodyPr>
          <a:lstStyle/>
          <a:p>
            <a:pPr algn="l">
              <a:lnSpc>
                <a:spcPct val="112000"/>
              </a:lnSpc>
            </a:pPr>
            <a:r>
              <a:rPr sz="1000" b="0" i="0">
                <a:solidFill>
                  <a:srgbClr val="7F7F7F"/>
                </a:solidFill>
                <a:latin typeface="Calibri"/>
              </a:rPr>
              <a:t>Campbell &amp; Fiske (1959), Psychological Bulletin 56(2)</a:t>
            </a:r>
          </a:p>
        </p:txBody>
      </p:sp>
      <p:sp>
        <p:nvSpPr>
          <p:cNvPr id="24" name="c3_2"/>
          <p:cNvSpPr txBox="1"/>
          <p:nvPr/>
        </p:nvSpPr>
        <p:spPr>
          <a:xfrm>
            <a:off x="7315200" y="4032504"/>
            <a:ext cx="4251960" cy="603504"/>
          </a:xfrm>
          <a:prstGeom prst="rect">
            <a:avLst/>
          </a:prstGeom>
          <a:noFill/>
        </p:spPr>
        <p:txBody>
          <a:bodyPr wrap="square" lIns="0" rIns="0" tIns="0" bIns="0" anchor="t">
            <a:spAutoFit/>
          </a:bodyPr>
          <a:lstStyle/>
          <a:p>
            <a:pPr algn="l">
              <a:lnSpc>
                <a:spcPct val="112000"/>
              </a:lnSpc>
            </a:pPr>
            <a:r>
              <a:rPr sz="1050" b="0" i="0">
                <a:solidFill>
                  <a:srgbClr val="1A1A1A"/>
                </a:solidFill>
                <a:latin typeface="Calibri"/>
              </a:rPr>
              <a:t>The multitrait–multimethod matrix, the psychology standard for validating a trait measure. Level 2 adopts it and adds a truth column.</a:t>
            </a:r>
          </a:p>
        </p:txBody>
      </p:sp>
      <p:sp>
        <p:nvSpPr>
          <p:cNvPr id="25" name="bg3"/>
          <p:cNvSpPr/>
          <p:nvPr/>
        </p:nvSpPr>
        <p:spPr>
          <a:xfrm>
            <a:off x="502920" y="4773168"/>
            <a:ext cx="11201400" cy="6583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1_3"/>
          <p:cNvSpPr txBox="1"/>
          <p:nvPr/>
        </p:nvSpPr>
        <p:spPr>
          <a:xfrm>
            <a:off x="685800" y="4873752"/>
            <a:ext cx="3063240" cy="475488"/>
          </a:xfrm>
          <a:prstGeom prst="rect">
            <a:avLst/>
          </a:prstGeom>
          <a:noFill/>
        </p:spPr>
        <p:txBody>
          <a:bodyPr wrap="square" lIns="0" rIns="0" tIns="0" bIns="0" anchor="t">
            <a:spAutoFit/>
          </a:bodyPr>
          <a:lstStyle/>
          <a:p>
            <a:pPr algn="l">
              <a:lnSpc>
                <a:spcPct val="112000"/>
              </a:lnSpc>
            </a:pPr>
            <a:r>
              <a:rPr sz="1150" b="1" i="0">
                <a:solidFill>
                  <a:srgbClr val="1A1A1A"/>
                </a:solidFill>
                <a:latin typeface="Calibri"/>
              </a:rPr>
              <a:t>Construct validity in psychological tests</a:t>
            </a:r>
          </a:p>
        </p:txBody>
      </p:sp>
      <p:sp>
        <p:nvSpPr>
          <p:cNvPr id="27" name="c2_3"/>
          <p:cNvSpPr txBox="1"/>
          <p:nvPr/>
        </p:nvSpPr>
        <p:spPr>
          <a:xfrm>
            <a:off x="3931920" y="4873752"/>
            <a:ext cx="3246120" cy="475488"/>
          </a:xfrm>
          <a:prstGeom prst="rect">
            <a:avLst/>
          </a:prstGeom>
          <a:noFill/>
        </p:spPr>
        <p:txBody>
          <a:bodyPr wrap="square" lIns="0" rIns="0" tIns="0" bIns="0" anchor="t">
            <a:spAutoFit/>
          </a:bodyPr>
          <a:lstStyle/>
          <a:p>
            <a:pPr algn="l">
              <a:lnSpc>
                <a:spcPct val="112000"/>
              </a:lnSpc>
            </a:pPr>
            <a:r>
              <a:rPr sz="1000" b="0" i="0">
                <a:solidFill>
                  <a:srgbClr val="7F7F7F"/>
                </a:solidFill>
                <a:latin typeface="Calibri"/>
              </a:rPr>
              <a:t>Cronbach &amp; Meehl (1955), Psychological Bulletin 52(4)</a:t>
            </a:r>
          </a:p>
        </p:txBody>
      </p:sp>
      <p:sp>
        <p:nvSpPr>
          <p:cNvPr id="28" name="c3_3"/>
          <p:cNvSpPr txBox="1"/>
          <p:nvPr/>
        </p:nvSpPr>
        <p:spPr>
          <a:xfrm>
            <a:off x="7315200" y="4873752"/>
            <a:ext cx="4251960" cy="475488"/>
          </a:xfrm>
          <a:prstGeom prst="rect">
            <a:avLst/>
          </a:prstGeom>
          <a:noFill/>
        </p:spPr>
        <p:txBody>
          <a:bodyPr wrap="square" lIns="0" rIns="0" tIns="0" bIns="0" anchor="t">
            <a:spAutoFit/>
          </a:bodyPr>
          <a:lstStyle/>
          <a:p>
            <a:pPr algn="l">
              <a:lnSpc>
                <a:spcPct val="112000"/>
              </a:lnSpc>
            </a:pPr>
            <a:r>
              <a:rPr sz="1050" b="0" i="0">
                <a:solidFill>
                  <a:srgbClr val="1A1A1A"/>
                </a:solidFill>
                <a:latin typeface="Calibri"/>
              </a:rPr>
              <a:t>Defines what it means for an instrument to measure the construct it claims to; the question we ask of persona vectors.</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3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300"/>
                                        <p:tgtEl>
                                          <p:spTgt spid="1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300"/>
                                        <p:tgtEl>
                                          <p:spTgt spid="1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3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300"/>
                                        <p:tgtEl>
                                          <p:spTgt spid="1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300"/>
                                        <p:tgtEl>
                                          <p:spTgt spid="1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300"/>
                                        <p:tgtEl>
                                          <p:spTgt spid="1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300"/>
                                        <p:tgtEl>
                                          <p:spTgt spid="16"/>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300"/>
                                        <p:tgtEl>
                                          <p:spTgt spid="17"/>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300"/>
                                        <p:tgtEl>
                                          <p:spTgt spid="1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300"/>
                                        <p:tgtEl>
                                          <p:spTgt spid="19"/>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300"/>
                                        <p:tgtEl>
                                          <p:spTgt spid="20"/>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300"/>
                                        <p:tgtEl>
                                          <p:spTgt spid="21"/>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300"/>
                                        <p:tgtEl>
                                          <p:spTgt spid="22"/>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300"/>
                                        <p:tgtEl>
                                          <p:spTgt spid="23"/>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300"/>
                                        <p:tgtEl>
                                          <p:spTgt spid="24"/>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300"/>
                                        <p:tgtEl>
                                          <p:spTgt spid="25"/>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300"/>
                                        <p:tgtEl>
                                          <p:spTgt spid="26"/>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300"/>
                                        <p:tgtEl>
                                          <p:spTgt spid="27"/>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8"/>
                                        </p:tgtEl>
                                        <p:attrNameLst>
                                          <p:attrName>style.visibility</p:attrName>
                                        </p:attrNameLst>
                                      </p:cBhvr>
                                      <p:to>
                                        <p:strVal val="visible"/>
                                      </p:to>
                                    </p:set>
                                    <p:animEffect transition="in" filter="fade">
                                      <p:cBhvr>
                                        <p:cTn id="73" dur="3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ogo" descr="PES University - Logo 2.png"/>
          <p:cNvPicPr>
            <a:picLocks noChangeAspect="1"/>
          </p:cNvPicPr>
          <p:nvPr/>
        </p:nvPicPr>
        <p:blipFill>
          <a:blip r:embed="rId2"/>
          <a:stretch>
            <a:fillRect/>
          </a:stretch>
        </p:blipFill>
        <p:spPr>
          <a:xfrm>
            <a:off x="10533888" y="146304"/>
            <a:ext cx="1298448" cy="591337"/>
          </a:xfrm>
          <a:prstGeom prst="rect">
            <a:avLst/>
          </a:prstGeom>
        </p:spPr>
      </p:pic>
      <p:sp>
        <p:nvSpPr>
          <p:cNvPr id="3" name="runhead"/>
          <p:cNvSpPr txBox="1"/>
          <p:nvPr/>
        </p:nvSpPr>
        <p:spPr>
          <a:xfrm>
            <a:off x="411480" y="237744"/>
            <a:ext cx="6858000" cy="274320"/>
          </a:xfrm>
          <a:prstGeom prst="rect">
            <a:avLst/>
          </a:prstGeom>
          <a:noFill/>
        </p:spPr>
        <p:txBody>
          <a:bodyPr wrap="square" lIns="0" rIns="0" tIns="0" bIns="0" anchor="t">
            <a:spAutoFit/>
          </a:bodyPr>
          <a:lstStyle/>
          <a:p>
            <a:pPr algn="l">
              <a:lnSpc>
                <a:spcPct val="100000"/>
              </a:lnSpc>
            </a:pPr>
            <a:r>
              <a:rPr sz="1050" b="1" i="0">
                <a:solidFill>
                  <a:srgbClr val="7F7F7F"/>
                </a:solidFill>
                <a:latin typeface="Calibri"/>
              </a:rPr>
              <a:t>CALIPER: Calibrating Interpretability Readouts for Language Models</a:t>
            </a:r>
          </a:p>
        </p:txBody>
      </p:sp>
      <p:sp>
        <p:nvSpPr>
          <p:cNvPr id="4" name="heading"/>
          <p:cNvSpPr txBox="1"/>
          <p:nvPr/>
        </p:nvSpPr>
        <p:spPr>
          <a:xfrm>
            <a:off x="2926080" y="868680"/>
            <a:ext cx="7452360" cy="502920"/>
          </a:xfrm>
          <a:prstGeom prst="rect">
            <a:avLst/>
          </a:prstGeom>
          <a:noFill/>
        </p:spPr>
        <p:txBody>
          <a:bodyPr wrap="square" lIns="0" rIns="0" tIns="0" bIns="0" anchor="t">
            <a:spAutoFit/>
          </a:bodyPr>
          <a:lstStyle/>
          <a:p>
            <a:pPr algn="r">
              <a:lnSpc>
                <a:spcPct val="100000"/>
              </a:lnSpc>
            </a:pPr>
            <a:r>
              <a:rPr sz="2700" b="0" i="0">
                <a:solidFill>
                  <a:srgbClr val="1A1A1A"/>
                </a:solidFill>
                <a:latin typeface="Calibri"/>
              </a:rPr>
              <a:t>Background Study – Self level</a:t>
            </a:r>
          </a:p>
        </p:txBody>
      </p:sp>
      <p:sp>
        <p:nvSpPr>
          <p:cNvPr id="5" name="tealrule"/>
          <p:cNvSpPr/>
          <p:nvPr/>
        </p:nvSpPr>
        <p:spPr>
          <a:xfrm>
            <a:off x="3017520" y="1517904"/>
            <a:ext cx="7360920" cy="41148"/>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airline"/>
          <p:cNvSpPr/>
          <p:nvPr/>
        </p:nvSpPr>
        <p:spPr>
          <a:xfrm>
            <a:off x="411480" y="1664208"/>
            <a:ext cx="11018520" cy="7315"/>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band"/>
          <p:cNvSpPr/>
          <p:nvPr/>
        </p:nvSpPr>
        <p:spPr>
          <a:xfrm>
            <a:off x="0" y="6528816"/>
            <a:ext cx="12191695" cy="329184"/>
          </a:xfrm>
          <a:prstGeom prst="rect">
            <a:avLst/>
          </a:prstGeom>
          <a:solidFill>
            <a:srgbClr val="BD5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text"/>
          <p:cNvSpPr txBox="1"/>
          <p:nvPr/>
        </p:nvSpPr>
        <p:spPr>
          <a:xfrm>
            <a:off x="0" y="6620255"/>
            <a:ext cx="12191695" cy="201168"/>
          </a:xfrm>
          <a:prstGeom prst="rect">
            <a:avLst/>
          </a:prstGeom>
          <a:noFill/>
        </p:spPr>
        <p:txBody>
          <a:bodyPr wrap="square" lIns="0" rIns="0" tIns="0" bIns="0" anchor="t">
            <a:spAutoFit/>
          </a:bodyPr>
          <a:lstStyle/>
          <a:p>
            <a:pPr algn="ctr">
              <a:lnSpc>
                <a:spcPct val="100000"/>
              </a:lnSpc>
            </a:pPr>
            <a:r>
              <a:rPr sz="800" b="0" i="0">
                <a:solidFill>
                  <a:srgbClr val="FFFFFF"/>
                </a:solidFill>
                <a:latin typeface="Calibri"/>
              </a:rPr>
              <a:t>SANTOSH CHEETHIRALA_NIVAS REDDY DANDU_C. SREE KRISHNA KOUSHIK_MARREDDY RUSHI ESWAR REDDY</a:t>
            </a:r>
          </a:p>
        </p:txBody>
      </p:sp>
      <p:sp>
        <p:nvSpPr>
          <p:cNvPr id="9" name="hdr"/>
          <p:cNvSpPr/>
          <p:nvPr/>
        </p:nvSpPr>
        <p:spPr>
          <a:xfrm>
            <a:off x="502920" y="1901952"/>
            <a:ext cx="11201400" cy="38404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1"/>
          <p:cNvSpPr txBox="1"/>
          <p:nvPr/>
        </p:nvSpPr>
        <p:spPr>
          <a:xfrm>
            <a:off x="685800" y="1984248"/>
            <a:ext cx="3017520" cy="274320"/>
          </a:xfrm>
          <a:prstGeom prst="rect">
            <a:avLst/>
          </a:prstGeom>
          <a:noFill/>
        </p:spPr>
        <p:txBody>
          <a:bodyPr wrap="square" lIns="0" rIns="0" tIns="0" bIns="0" anchor="t">
            <a:spAutoFit/>
          </a:bodyPr>
          <a:lstStyle/>
          <a:p>
            <a:pPr algn="l">
              <a:lnSpc>
                <a:spcPct val="100000"/>
              </a:lnSpc>
            </a:pPr>
            <a:r>
              <a:rPr sz="1150" b="1" i="0">
                <a:solidFill>
                  <a:srgbClr val="FFFFFF"/>
                </a:solidFill>
                <a:latin typeface="Calibri"/>
              </a:rPr>
              <a:t>RESEARCH PAPER</a:t>
            </a:r>
          </a:p>
        </p:txBody>
      </p:sp>
      <p:sp>
        <p:nvSpPr>
          <p:cNvPr id="11" name="h2"/>
          <p:cNvSpPr txBox="1"/>
          <p:nvPr/>
        </p:nvSpPr>
        <p:spPr>
          <a:xfrm>
            <a:off x="3931920" y="1984248"/>
            <a:ext cx="3108960" cy="274320"/>
          </a:xfrm>
          <a:prstGeom prst="rect">
            <a:avLst/>
          </a:prstGeom>
          <a:noFill/>
        </p:spPr>
        <p:txBody>
          <a:bodyPr wrap="square" lIns="0" rIns="0" tIns="0" bIns="0" anchor="t">
            <a:spAutoFit/>
          </a:bodyPr>
          <a:lstStyle/>
          <a:p>
            <a:pPr algn="l">
              <a:lnSpc>
                <a:spcPct val="100000"/>
              </a:lnSpc>
            </a:pPr>
            <a:r>
              <a:rPr sz="1150" b="1" i="0">
                <a:solidFill>
                  <a:srgbClr val="FFFFFF"/>
                </a:solidFill>
                <a:latin typeface="Calibri"/>
              </a:rPr>
              <a:t>CITATION</a:t>
            </a:r>
          </a:p>
        </p:txBody>
      </p:sp>
      <p:sp>
        <p:nvSpPr>
          <p:cNvPr id="12" name="h3"/>
          <p:cNvSpPr txBox="1"/>
          <p:nvPr/>
        </p:nvSpPr>
        <p:spPr>
          <a:xfrm>
            <a:off x="7315200" y="1984248"/>
            <a:ext cx="4206240" cy="274320"/>
          </a:xfrm>
          <a:prstGeom prst="rect">
            <a:avLst/>
          </a:prstGeom>
          <a:noFill/>
        </p:spPr>
        <p:txBody>
          <a:bodyPr wrap="square" lIns="0" rIns="0" tIns="0" bIns="0" anchor="t">
            <a:spAutoFit/>
          </a:bodyPr>
          <a:lstStyle/>
          <a:p>
            <a:pPr algn="l">
              <a:lnSpc>
                <a:spcPct val="100000"/>
              </a:lnSpc>
            </a:pPr>
            <a:r>
              <a:rPr sz="1150" b="1" i="0">
                <a:solidFill>
                  <a:srgbClr val="FFFFFF"/>
                </a:solidFill>
                <a:latin typeface="Calibri"/>
              </a:rPr>
              <a:t>KEY OUTCOME</a:t>
            </a:r>
          </a:p>
        </p:txBody>
      </p:sp>
      <p:sp>
        <p:nvSpPr>
          <p:cNvPr id="13" name="bg0"/>
          <p:cNvSpPr/>
          <p:nvPr/>
        </p:nvSpPr>
        <p:spPr>
          <a:xfrm>
            <a:off x="502920" y="2377440"/>
            <a:ext cx="11201400" cy="786384"/>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1_0"/>
          <p:cNvSpPr txBox="1"/>
          <p:nvPr/>
        </p:nvSpPr>
        <p:spPr>
          <a:xfrm>
            <a:off x="685800" y="2478024"/>
            <a:ext cx="3063240" cy="603504"/>
          </a:xfrm>
          <a:prstGeom prst="rect">
            <a:avLst/>
          </a:prstGeom>
          <a:noFill/>
        </p:spPr>
        <p:txBody>
          <a:bodyPr wrap="square" lIns="0" rIns="0" tIns="0" bIns="0" anchor="t">
            <a:spAutoFit/>
          </a:bodyPr>
          <a:lstStyle/>
          <a:p>
            <a:pPr algn="l">
              <a:lnSpc>
                <a:spcPct val="112000"/>
              </a:lnSpc>
            </a:pPr>
            <a:r>
              <a:rPr sz="1150" b="1" i="0">
                <a:solidFill>
                  <a:srgbClr val="1A1A1A"/>
                </a:solidFill>
                <a:latin typeface="Calibri"/>
              </a:rPr>
              <a:t>Emergent introspective awareness</a:t>
            </a:r>
          </a:p>
        </p:txBody>
      </p:sp>
      <p:sp>
        <p:nvSpPr>
          <p:cNvPr id="15" name="c2_0"/>
          <p:cNvSpPr txBox="1"/>
          <p:nvPr/>
        </p:nvSpPr>
        <p:spPr>
          <a:xfrm>
            <a:off x="3931920" y="2478024"/>
            <a:ext cx="3246120" cy="603504"/>
          </a:xfrm>
          <a:prstGeom prst="rect">
            <a:avLst/>
          </a:prstGeom>
          <a:noFill/>
        </p:spPr>
        <p:txBody>
          <a:bodyPr wrap="square" lIns="0" rIns="0" tIns="0" bIns="0" anchor="t">
            <a:spAutoFit/>
          </a:bodyPr>
          <a:lstStyle/>
          <a:p>
            <a:pPr algn="l">
              <a:lnSpc>
                <a:spcPct val="112000"/>
              </a:lnSpc>
            </a:pPr>
            <a:r>
              <a:rPr sz="1000" b="0" i="0">
                <a:solidFill>
                  <a:srgbClr val="7F7F7F"/>
                </a:solidFill>
                <a:latin typeface="Calibri"/>
              </a:rPr>
              <a:t>Macar, Yang, Wang, Wallich, Ameisen &amp; Lindsey (2026), Anthropic</a:t>
            </a:r>
          </a:p>
        </p:txBody>
      </p:sp>
      <p:sp>
        <p:nvSpPr>
          <p:cNvPr id="16" name="c3_0"/>
          <p:cNvSpPr txBox="1"/>
          <p:nvPr/>
        </p:nvSpPr>
        <p:spPr>
          <a:xfrm>
            <a:off x="7315200" y="2478024"/>
            <a:ext cx="4251960" cy="603504"/>
          </a:xfrm>
          <a:prstGeom prst="rect">
            <a:avLst/>
          </a:prstGeom>
          <a:noFill/>
        </p:spPr>
        <p:txBody>
          <a:bodyPr wrap="square" lIns="0" rIns="0" tIns="0" bIns="0" anchor="t">
            <a:spAutoFit/>
          </a:bodyPr>
          <a:lstStyle/>
          <a:p>
            <a:pPr algn="l">
              <a:lnSpc>
                <a:spcPct val="112000"/>
              </a:lnSpc>
            </a:pPr>
            <a:r>
              <a:rPr sz="1050" b="0" i="0">
                <a:solidFill>
                  <a:srgbClr val="1A1A1A"/>
                </a:solidFill>
                <a:latin typeface="Calibri"/>
              </a:rPr>
              <a:t>Reports that a model can detect an injected concept in its own activations. Controlled against no injection; the control we add is an injection with no content.</a:t>
            </a:r>
          </a:p>
        </p:txBody>
      </p:sp>
      <p:sp>
        <p:nvSpPr>
          <p:cNvPr id="17" name="bg1"/>
          <p:cNvSpPr/>
          <p:nvPr/>
        </p:nvSpPr>
        <p:spPr>
          <a:xfrm>
            <a:off x="502920" y="3218688"/>
            <a:ext cx="11201400" cy="7863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1_1"/>
          <p:cNvSpPr txBox="1"/>
          <p:nvPr/>
        </p:nvSpPr>
        <p:spPr>
          <a:xfrm>
            <a:off x="685800" y="3319272"/>
            <a:ext cx="3063240" cy="603504"/>
          </a:xfrm>
          <a:prstGeom prst="rect">
            <a:avLst/>
          </a:prstGeom>
          <a:noFill/>
        </p:spPr>
        <p:txBody>
          <a:bodyPr wrap="square" lIns="0" rIns="0" tIns="0" bIns="0" anchor="t">
            <a:spAutoFit/>
          </a:bodyPr>
          <a:lstStyle/>
          <a:p>
            <a:pPr algn="l">
              <a:lnSpc>
                <a:spcPct val="112000"/>
              </a:lnSpc>
            </a:pPr>
            <a:r>
              <a:rPr sz="1150" b="1" i="0">
                <a:solidFill>
                  <a:srgbClr val="1A1A1A"/>
                </a:solidFill>
                <a:latin typeface="Calibri"/>
              </a:rPr>
              <a:t>Telling more than we can know</a:t>
            </a:r>
          </a:p>
        </p:txBody>
      </p:sp>
      <p:sp>
        <p:nvSpPr>
          <p:cNvPr id="19" name="c2_1"/>
          <p:cNvSpPr txBox="1"/>
          <p:nvPr/>
        </p:nvSpPr>
        <p:spPr>
          <a:xfrm>
            <a:off x="3931920" y="3319272"/>
            <a:ext cx="3246120" cy="603504"/>
          </a:xfrm>
          <a:prstGeom prst="rect">
            <a:avLst/>
          </a:prstGeom>
          <a:noFill/>
        </p:spPr>
        <p:txBody>
          <a:bodyPr wrap="square" lIns="0" rIns="0" tIns="0" bIns="0" anchor="t">
            <a:spAutoFit/>
          </a:bodyPr>
          <a:lstStyle/>
          <a:p>
            <a:pPr algn="l">
              <a:lnSpc>
                <a:spcPct val="112000"/>
              </a:lnSpc>
            </a:pPr>
            <a:r>
              <a:rPr sz="1000" b="0" i="0">
                <a:solidFill>
                  <a:srgbClr val="7F7F7F"/>
                </a:solidFill>
                <a:latin typeface="Calibri"/>
              </a:rPr>
              <a:t>Nisbett &amp; Wilson (1977), Psychological Review 84(3)</a:t>
            </a:r>
          </a:p>
        </p:txBody>
      </p:sp>
      <p:sp>
        <p:nvSpPr>
          <p:cNvPr id="20" name="c3_1"/>
          <p:cNvSpPr txBox="1"/>
          <p:nvPr/>
        </p:nvSpPr>
        <p:spPr>
          <a:xfrm>
            <a:off x="7315200" y="3319272"/>
            <a:ext cx="4251960" cy="603504"/>
          </a:xfrm>
          <a:prstGeom prst="rect">
            <a:avLst/>
          </a:prstGeom>
          <a:noFill/>
        </p:spPr>
        <p:txBody>
          <a:bodyPr wrap="square" lIns="0" rIns="0" tIns="0" bIns="0" anchor="t">
            <a:spAutoFit/>
          </a:bodyPr>
          <a:lstStyle/>
          <a:p>
            <a:pPr algn="l">
              <a:lnSpc>
                <a:spcPct val="112000"/>
              </a:lnSpc>
            </a:pPr>
            <a:r>
              <a:rPr sz="1050" b="0" i="0">
                <a:solidFill>
                  <a:srgbClr val="1A1A1A"/>
                </a:solidFill>
                <a:latin typeface="Calibri"/>
              </a:rPr>
              <a:t>People confabulate reasons for their own behaviour. The direct parallel for model self-reports, and never measurable against a planted cause.</a:t>
            </a:r>
          </a:p>
        </p:txBody>
      </p:sp>
      <p:sp>
        <p:nvSpPr>
          <p:cNvPr id="21" name="bg2"/>
          <p:cNvSpPr/>
          <p:nvPr/>
        </p:nvSpPr>
        <p:spPr>
          <a:xfrm>
            <a:off x="502920" y="4059936"/>
            <a:ext cx="11201400" cy="786384"/>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1_2"/>
          <p:cNvSpPr txBox="1"/>
          <p:nvPr/>
        </p:nvSpPr>
        <p:spPr>
          <a:xfrm>
            <a:off x="685800" y="4160520"/>
            <a:ext cx="3063240" cy="603504"/>
          </a:xfrm>
          <a:prstGeom prst="rect">
            <a:avLst/>
          </a:prstGeom>
          <a:noFill/>
        </p:spPr>
        <p:txBody>
          <a:bodyPr wrap="square" lIns="0" rIns="0" tIns="0" bIns="0" anchor="t">
            <a:spAutoFit/>
          </a:bodyPr>
          <a:lstStyle/>
          <a:p>
            <a:pPr algn="l">
              <a:lnSpc>
                <a:spcPct val="112000"/>
              </a:lnSpc>
            </a:pPr>
            <a:r>
              <a:rPr sz="1150" b="1" i="0">
                <a:solidFill>
                  <a:srgbClr val="1A1A1A"/>
                </a:solidFill>
                <a:latin typeface="Calibri"/>
              </a:rPr>
              <a:t>Consciousness in artificial intelligence</a:t>
            </a:r>
          </a:p>
        </p:txBody>
      </p:sp>
      <p:sp>
        <p:nvSpPr>
          <p:cNvPr id="23" name="c2_2"/>
          <p:cNvSpPr txBox="1"/>
          <p:nvPr/>
        </p:nvSpPr>
        <p:spPr>
          <a:xfrm>
            <a:off x="3931920" y="4160520"/>
            <a:ext cx="3246120" cy="603504"/>
          </a:xfrm>
          <a:prstGeom prst="rect">
            <a:avLst/>
          </a:prstGeom>
          <a:noFill/>
        </p:spPr>
        <p:txBody>
          <a:bodyPr wrap="square" lIns="0" rIns="0" tIns="0" bIns="0" anchor="t">
            <a:spAutoFit/>
          </a:bodyPr>
          <a:lstStyle/>
          <a:p>
            <a:pPr algn="l">
              <a:lnSpc>
                <a:spcPct val="112000"/>
              </a:lnSpc>
            </a:pPr>
            <a:r>
              <a:rPr sz="1000" b="0" i="0">
                <a:solidFill>
                  <a:srgbClr val="7F7F7F"/>
                </a:solidFill>
                <a:latin typeface="Calibri"/>
              </a:rPr>
              <a:t>Butlin et al. (2023), arXiv:2308.08708</a:t>
            </a:r>
          </a:p>
        </p:txBody>
      </p:sp>
      <p:sp>
        <p:nvSpPr>
          <p:cNvPr id="24" name="c3_2"/>
          <p:cNvSpPr txBox="1"/>
          <p:nvPr/>
        </p:nvSpPr>
        <p:spPr>
          <a:xfrm>
            <a:off x="7315200" y="4160520"/>
            <a:ext cx="4251960" cy="603504"/>
          </a:xfrm>
          <a:prstGeom prst="rect">
            <a:avLst/>
          </a:prstGeom>
          <a:noFill/>
        </p:spPr>
        <p:txBody>
          <a:bodyPr wrap="square" lIns="0" rIns="0" tIns="0" bIns="0" anchor="t">
            <a:spAutoFit/>
          </a:bodyPr>
          <a:lstStyle/>
          <a:p>
            <a:pPr algn="l">
              <a:lnSpc>
                <a:spcPct val="112000"/>
              </a:lnSpc>
            </a:pPr>
            <a:r>
              <a:rPr sz="1050" b="0" i="0">
                <a:solidFill>
                  <a:srgbClr val="1A1A1A"/>
                </a:solidFill>
                <a:latin typeface="Calibri"/>
              </a:rPr>
              <a:t>Fourteen indicator properties; introspective accuracy is the only one where the internal state can be constructed and the report scored.</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3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300"/>
                                        <p:tgtEl>
                                          <p:spTgt spid="1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300"/>
                                        <p:tgtEl>
                                          <p:spTgt spid="1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3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300"/>
                                        <p:tgtEl>
                                          <p:spTgt spid="1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300"/>
                                        <p:tgtEl>
                                          <p:spTgt spid="1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300"/>
                                        <p:tgtEl>
                                          <p:spTgt spid="1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300"/>
                                        <p:tgtEl>
                                          <p:spTgt spid="16"/>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300"/>
                                        <p:tgtEl>
                                          <p:spTgt spid="17"/>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300"/>
                                        <p:tgtEl>
                                          <p:spTgt spid="1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300"/>
                                        <p:tgtEl>
                                          <p:spTgt spid="19"/>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300"/>
                                        <p:tgtEl>
                                          <p:spTgt spid="20"/>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300"/>
                                        <p:tgtEl>
                                          <p:spTgt spid="21"/>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300"/>
                                        <p:tgtEl>
                                          <p:spTgt spid="22"/>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300"/>
                                        <p:tgtEl>
                                          <p:spTgt spid="23"/>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3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ogo" descr="PES University - Logo 2.png"/>
          <p:cNvPicPr>
            <a:picLocks noChangeAspect="1"/>
          </p:cNvPicPr>
          <p:nvPr/>
        </p:nvPicPr>
        <p:blipFill>
          <a:blip r:embed="rId2"/>
          <a:stretch>
            <a:fillRect/>
          </a:stretch>
        </p:blipFill>
        <p:spPr>
          <a:xfrm>
            <a:off x="10533888" y="146304"/>
            <a:ext cx="1298448" cy="591337"/>
          </a:xfrm>
          <a:prstGeom prst="rect">
            <a:avLst/>
          </a:prstGeom>
        </p:spPr>
      </p:pic>
      <p:sp>
        <p:nvSpPr>
          <p:cNvPr id="3" name="runhead"/>
          <p:cNvSpPr txBox="1"/>
          <p:nvPr/>
        </p:nvSpPr>
        <p:spPr>
          <a:xfrm>
            <a:off x="411480" y="237744"/>
            <a:ext cx="6858000" cy="274320"/>
          </a:xfrm>
          <a:prstGeom prst="rect">
            <a:avLst/>
          </a:prstGeom>
          <a:noFill/>
        </p:spPr>
        <p:txBody>
          <a:bodyPr wrap="square" lIns="0" rIns="0" tIns="0" bIns="0" anchor="t">
            <a:spAutoFit/>
          </a:bodyPr>
          <a:lstStyle/>
          <a:p>
            <a:pPr algn="l">
              <a:lnSpc>
                <a:spcPct val="100000"/>
              </a:lnSpc>
            </a:pPr>
            <a:r>
              <a:rPr sz="1050" b="1" i="0">
                <a:solidFill>
                  <a:srgbClr val="7F7F7F"/>
                </a:solidFill>
                <a:latin typeface="Calibri"/>
              </a:rPr>
              <a:t>CALIPER: Calibrating Interpretability Readouts for Language Models</a:t>
            </a:r>
          </a:p>
        </p:txBody>
      </p:sp>
      <p:sp>
        <p:nvSpPr>
          <p:cNvPr id="4" name="heading"/>
          <p:cNvSpPr txBox="1"/>
          <p:nvPr/>
        </p:nvSpPr>
        <p:spPr>
          <a:xfrm>
            <a:off x="2926080" y="868680"/>
            <a:ext cx="7452360" cy="502920"/>
          </a:xfrm>
          <a:prstGeom prst="rect">
            <a:avLst/>
          </a:prstGeom>
          <a:noFill/>
        </p:spPr>
        <p:txBody>
          <a:bodyPr wrap="square" lIns="0" rIns="0" tIns="0" bIns="0" anchor="t">
            <a:spAutoFit/>
          </a:bodyPr>
          <a:lstStyle/>
          <a:p>
            <a:pPr algn="r">
              <a:lnSpc>
                <a:spcPct val="100000"/>
              </a:lnSpc>
            </a:pPr>
            <a:r>
              <a:rPr sz="2700" b="0" i="0">
                <a:solidFill>
                  <a:srgbClr val="1A1A1A"/>
                </a:solidFill>
                <a:latin typeface="Calibri"/>
              </a:rPr>
              <a:t>Background Study – Neuroscience</a:t>
            </a:r>
          </a:p>
        </p:txBody>
      </p:sp>
      <p:sp>
        <p:nvSpPr>
          <p:cNvPr id="5" name="tealrule"/>
          <p:cNvSpPr/>
          <p:nvPr/>
        </p:nvSpPr>
        <p:spPr>
          <a:xfrm>
            <a:off x="3017520" y="1517904"/>
            <a:ext cx="7360920" cy="41148"/>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airline"/>
          <p:cNvSpPr/>
          <p:nvPr/>
        </p:nvSpPr>
        <p:spPr>
          <a:xfrm>
            <a:off x="411480" y="1664208"/>
            <a:ext cx="11018520" cy="7315"/>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band"/>
          <p:cNvSpPr/>
          <p:nvPr/>
        </p:nvSpPr>
        <p:spPr>
          <a:xfrm>
            <a:off x="0" y="6528816"/>
            <a:ext cx="12191695" cy="329184"/>
          </a:xfrm>
          <a:prstGeom prst="rect">
            <a:avLst/>
          </a:prstGeom>
          <a:solidFill>
            <a:srgbClr val="BD5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text"/>
          <p:cNvSpPr txBox="1"/>
          <p:nvPr/>
        </p:nvSpPr>
        <p:spPr>
          <a:xfrm>
            <a:off x="0" y="6620255"/>
            <a:ext cx="12191695" cy="201168"/>
          </a:xfrm>
          <a:prstGeom prst="rect">
            <a:avLst/>
          </a:prstGeom>
          <a:noFill/>
        </p:spPr>
        <p:txBody>
          <a:bodyPr wrap="square" lIns="0" rIns="0" tIns="0" bIns="0" anchor="t">
            <a:spAutoFit/>
          </a:bodyPr>
          <a:lstStyle/>
          <a:p>
            <a:pPr algn="ctr">
              <a:lnSpc>
                <a:spcPct val="100000"/>
              </a:lnSpc>
            </a:pPr>
            <a:r>
              <a:rPr sz="800" b="0" i="0">
                <a:solidFill>
                  <a:srgbClr val="FFFFFF"/>
                </a:solidFill>
                <a:latin typeface="Calibri"/>
              </a:rPr>
              <a:t>SANTOSH CHEETHIRALA_NIVAS REDDY DANDU_C. SREE KRISHNA KOUSHIK_MARREDDY RUSHI ESWAR REDDY</a:t>
            </a:r>
          </a:p>
        </p:txBody>
      </p:sp>
      <p:sp>
        <p:nvSpPr>
          <p:cNvPr id="9" name="hdr"/>
          <p:cNvSpPr/>
          <p:nvPr/>
        </p:nvSpPr>
        <p:spPr>
          <a:xfrm>
            <a:off x="502920" y="1901952"/>
            <a:ext cx="11201400" cy="38404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1"/>
          <p:cNvSpPr txBox="1"/>
          <p:nvPr/>
        </p:nvSpPr>
        <p:spPr>
          <a:xfrm>
            <a:off x="685800" y="1984248"/>
            <a:ext cx="3017520" cy="274320"/>
          </a:xfrm>
          <a:prstGeom prst="rect">
            <a:avLst/>
          </a:prstGeom>
          <a:noFill/>
        </p:spPr>
        <p:txBody>
          <a:bodyPr wrap="square" lIns="0" rIns="0" tIns="0" bIns="0" anchor="t">
            <a:spAutoFit/>
          </a:bodyPr>
          <a:lstStyle/>
          <a:p>
            <a:pPr algn="l">
              <a:lnSpc>
                <a:spcPct val="100000"/>
              </a:lnSpc>
            </a:pPr>
            <a:r>
              <a:rPr sz="1150" b="1" i="0">
                <a:solidFill>
                  <a:srgbClr val="FFFFFF"/>
                </a:solidFill>
                <a:latin typeface="Calibri"/>
              </a:rPr>
              <a:t>RESEARCH PAPER</a:t>
            </a:r>
          </a:p>
        </p:txBody>
      </p:sp>
      <p:sp>
        <p:nvSpPr>
          <p:cNvPr id="11" name="h2"/>
          <p:cNvSpPr txBox="1"/>
          <p:nvPr/>
        </p:nvSpPr>
        <p:spPr>
          <a:xfrm>
            <a:off x="3931920" y="1984248"/>
            <a:ext cx="3108960" cy="274320"/>
          </a:xfrm>
          <a:prstGeom prst="rect">
            <a:avLst/>
          </a:prstGeom>
          <a:noFill/>
        </p:spPr>
        <p:txBody>
          <a:bodyPr wrap="square" lIns="0" rIns="0" tIns="0" bIns="0" anchor="t">
            <a:spAutoFit/>
          </a:bodyPr>
          <a:lstStyle/>
          <a:p>
            <a:pPr algn="l">
              <a:lnSpc>
                <a:spcPct val="100000"/>
              </a:lnSpc>
            </a:pPr>
            <a:r>
              <a:rPr sz="1150" b="1" i="0">
                <a:solidFill>
                  <a:srgbClr val="FFFFFF"/>
                </a:solidFill>
                <a:latin typeface="Calibri"/>
              </a:rPr>
              <a:t>CITATION</a:t>
            </a:r>
          </a:p>
        </p:txBody>
      </p:sp>
      <p:sp>
        <p:nvSpPr>
          <p:cNvPr id="12" name="h3"/>
          <p:cNvSpPr txBox="1"/>
          <p:nvPr/>
        </p:nvSpPr>
        <p:spPr>
          <a:xfrm>
            <a:off x="7315200" y="1984248"/>
            <a:ext cx="4206240" cy="274320"/>
          </a:xfrm>
          <a:prstGeom prst="rect">
            <a:avLst/>
          </a:prstGeom>
          <a:noFill/>
        </p:spPr>
        <p:txBody>
          <a:bodyPr wrap="square" lIns="0" rIns="0" tIns="0" bIns="0" anchor="t">
            <a:spAutoFit/>
          </a:bodyPr>
          <a:lstStyle/>
          <a:p>
            <a:pPr algn="l">
              <a:lnSpc>
                <a:spcPct val="100000"/>
              </a:lnSpc>
            </a:pPr>
            <a:r>
              <a:rPr sz="1150" b="1" i="0">
                <a:solidFill>
                  <a:srgbClr val="FFFFFF"/>
                </a:solidFill>
                <a:latin typeface="Calibri"/>
              </a:rPr>
              <a:t>KEY OUTCOME</a:t>
            </a:r>
          </a:p>
        </p:txBody>
      </p:sp>
      <p:sp>
        <p:nvSpPr>
          <p:cNvPr id="13" name="bg0"/>
          <p:cNvSpPr/>
          <p:nvPr/>
        </p:nvSpPr>
        <p:spPr>
          <a:xfrm>
            <a:off x="502920" y="2377440"/>
            <a:ext cx="11201400" cy="658368"/>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1_0"/>
          <p:cNvSpPr txBox="1"/>
          <p:nvPr/>
        </p:nvSpPr>
        <p:spPr>
          <a:xfrm>
            <a:off x="685800" y="2478024"/>
            <a:ext cx="3063240" cy="475488"/>
          </a:xfrm>
          <a:prstGeom prst="rect">
            <a:avLst/>
          </a:prstGeom>
          <a:noFill/>
        </p:spPr>
        <p:txBody>
          <a:bodyPr wrap="square" lIns="0" rIns="0" tIns="0" bIns="0" anchor="t">
            <a:spAutoFit/>
          </a:bodyPr>
          <a:lstStyle/>
          <a:p>
            <a:pPr algn="l">
              <a:lnSpc>
                <a:spcPct val="112000"/>
              </a:lnSpc>
            </a:pPr>
            <a:r>
              <a:rPr sz="1150" b="1" i="0">
                <a:solidFill>
                  <a:srgbClr val="1A1A1A"/>
                </a:solidFill>
                <a:latin typeface="Calibri"/>
              </a:rPr>
              <a:t>Spike-triggered average and covariance</a:t>
            </a:r>
          </a:p>
        </p:txBody>
      </p:sp>
      <p:sp>
        <p:nvSpPr>
          <p:cNvPr id="15" name="c2_0"/>
          <p:cNvSpPr txBox="1"/>
          <p:nvPr/>
        </p:nvSpPr>
        <p:spPr>
          <a:xfrm>
            <a:off x="3931920" y="2478024"/>
            <a:ext cx="3246120" cy="475488"/>
          </a:xfrm>
          <a:prstGeom prst="rect">
            <a:avLst/>
          </a:prstGeom>
          <a:noFill/>
        </p:spPr>
        <p:txBody>
          <a:bodyPr wrap="square" lIns="0" rIns="0" tIns="0" bIns="0" anchor="t">
            <a:spAutoFit/>
          </a:bodyPr>
          <a:lstStyle/>
          <a:p>
            <a:pPr algn="l">
              <a:lnSpc>
                <a:spcPct val="112000"/>
              </a:lnSpc>
            </a:pPr>
            <a:r>
              <a:rPr sz="1000" b="0" i="0">
                <a:solidFill>
                  <a:srgbClr val="7F7F7F"/>
                </a:solidFill>
                <a:latin typeface="Calibri"/>
              </a:rPr>
              <a:t>Schwartz, Pillow, Rust &amp; Simoncelli (2006), J Vision 6(4)</a:t>
            </a:r>
          </a:p>
        </p:txBody>
      </p:sp>
      <p:sp>
        <p:nvSpPr>
          <p:cNvPr id="16" name="c3_0"/>
          <p:cNvSpPr txBox="1"/>
          <p:nvPr/>
        </p:nvSpPr>
        <p:spPr>
          <a:xfrm>
            <a:off x="7315200" y="2478024"/>
            <a:ext cx="4251960" cy="475488"/>
          </a:xfrm>
          <a:prstGeom prst="rect">
            <a:avLst/>
          </a:prstGeom>
          <a:noFill/>
        </p:spPr>
        <p:txBody>
          <a:bodyPr wrap="square" lIns="0" rIns="0" tIns="0" bIns="0" anchor="t">
            <a:spAutoFit/>
          </a:bodyPr>
          <a:lstStyle/>
          <a:p>
            <a:pPr algn="l">
              <a:lnSpc>
                <a:spcPct val="112000"/>
              </a:lnSpc>
            </a:pPr>
            <a:r>
              <a:rPr sz="1050" b="0" i="0">
                <a:solidFill>
                  <a:srgbClr val="1A1A1A"/>
                </a:solidFill>
                <a:latin typeface="Calibri"/>
              </a:rPr>
              <a:t>The classical closed-form estimators. We run them as baselines to show which assumptions fail on a residual stream.</a:t>
            </a:r>
          </a:p>
        </p:txBody>
      </p:sp>
      <p:sp>
        <p:nvSpPr>
          <p:cNvPr id="17" name="bg1"/>
          <p:cNvSpPr/>
          <p:nvPr/>
        </p:nvSpPr>
        <p:spPr>
          <a:xfrm>
            <a:off x="502920" y="3090672"/>
            <a:ext cx="11201400" cy="6583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1_1"/>
          <p:cNvSpPr txBox="1"/>
          <p:nvPr/>
        </p:nvSpPr>
        <p:spPr>
          <a:xfrm>
            <a:off x="685800" y="3191256"/>
            <a:ext cx="3063240" cy="475488"/>
          </a:xfrm>
          <a:prstGeom prst="rect">
            <a:avLst/>
          </a:prstGeom>
          <a:noFill/>
        </p:spPr>
        <p:txBody>
          <a:bodyPr wrap="square" lIns="0" rIns="0" tIns="0" bIns="0" anchor="t">
            <a:spAutoFit/>
          </a:bodyPr>
          <a:lstStyle/>
          <a:p>
            <a:pPr algn="l">
              <a:lnSpc>
                <a:spcPct val="112000"/>
              </a:lnSpc>
            </a:pPr>
            <a:r>
              <a:rPr sz="1150" b="1" i="0">
                <a:solidFill>
                  <a:srgbClr val="1A1A1A"/>
                </a:solidFill>
                <a:latin typeface="Calibri"/>
              </a:rPr>
              <a:t>Bussgang’s theorem and linear recovery</a:t>
            </a:r>
          </a:p>
        </p:txBody>
      </p:sp>
      <p:sp>
        <p:nvSpPr>
          <p:cNvPr id="19" name="c2_1"/>
          <p:cNvSpPr txBox="1"/>
          <p:nvPr/>
        </p:nvSpPr>
        <p:spPr>
          <a:xfrm>
            <a:off x="3931920" y="3191256"/>
            <a:ext cx="3246120" cy="475488"/>
          </a:xfrm>
          <a:prstGeom prst="rect">
            <a:avLst/>
          </a:prstGeom>
          <a:noFill/>
        </p:spPr>
        <p:txBody>
          <a:bodyPr wrap="square" lIns="0" rIns="0" tIns="0" bIns="0" anchor="t">
            <a:spAutoFit/>
          </a:bodyPr>
          <a:lstStyle/>
          <a:p>
            <a:pPr algn="l">
              <a:lnSpc>
                <a:spcPct val="112000"/>
              </a:lnSpc>
            </a:pPr>
            <a:r>
              <a:rPr sz="1000" b="0" i="0">
                <a:solidFill>
                  <a:srgbClr val="7F7F7F"/>
                </a:solidFill>
                <a:latin typeface="Calibri"/>
              </a:rPr>
              <a:t>Bussgang (1952), MIT RLE Technical Report 216</a:t>
            </a:r>
          </a:p>
        </p:txBody>
      </p:sp>
      <p:sp>
        <p:nvSpPr>
          <p:cNvPr id="20" name="c3_1"/>
          <p:cNvSpPr txBox="1"/>
          <p:nvPr/>
        </p:nvSpPr>
        <p:spPr>
          <a:xfrm>
            <a:off x="7315200" y="3191256"/>
            <a:ext cx="4251960" cy="475488"/>
          </a:xfrm>
          <a:prstGeom prst="rect">
            <a:avLst/>
          </a:prstGeom>
          <a:noFill/>
        </p:spPr>
        <p:txBody>
          <a:bodyPr wrap="square" lIns="0" rIns="0" tIns="0" bIns="0" anchor="t">
            <a:spAutoFit/>
          </a:bodyPr>
          <a:lstStyle/>
          <a:p>
            <a:pPr algn="l">
              <a:lnSpc>
                <a:spcPct val="112000"/>
              </a:lnSpc>
            </a:pPr>
            <a:r>
              <a:rPr sz="1050" b="0" i="0">
                <a:solidFill>
                  <a:srgbClr val="1A1A1A"/>
                </a:solidFill>
                <a:latin typeface="Calibri"/>
              </a:rPr>
              <a:t>Guarantees that ridge regression recovers a direction under Gaussian stimuli — an assumption the residual stream violates.</a:t>
            </a:r>
          </a:p>
        </p:txBody>
      </p:sp>
      <p:sp>
        <p:nvSpPr>
          <p:cNvPr id="21" name="bg2"/>
          <p:cNvSpPr/>
          <p:nvPr/>
        </p:nvSpPr>
        <p:spPr>
          <a:xfrm>
            <a:off x="502920" y="3803904"/>
            <a:ext cx="11201400" cy="658368"/>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1_2"/>
          <p:cNvSpPr txBox="1"/>
          <p:nvPr/>
        </p:nvSpPr>
        <p:spPr>
          <a:xfrm>
            <a:off x="685800" y="3904488"/>
            <a:ext cx="3063240" cy="475488"/>
          </a:xfrm>
          <a:prstGeom prst="rect">
            <a:avLst/>
          </a:prstGeom>
          <a:noFill/>
        </p:spPr>
        <p:txBody>
          <a:bodyPr wrap="square" lIns="0" rIns="0" tIns="0" bIns="0" anchor="t">
            <a:spAutoFit/>
          </a:bodyPr>
          <a:lstStyle/>
          <a:p>
            <a:pPr algn="l">
              <a:lnSpc>
                <a:spcPct val="112000"/>
              </a:lnSpc>
            </a:pPr>
            <a:r>
              <a:rPr sz="1150" b="1" i="0">
                <a:solidFill>
                  <a:srgbClr val="1A1A1A"/>
                </a:solidFill>
                <a:latin typeface="Calibri"/>
              </a:rPr>
              <a:t>Calibration before trust</a:t>
            </a:r>
          </a:p>
        </p:txBody>
      </p:sp>
      <p:sp>
        <p:nvSpPr>
          <p:cNvPr id="23" name="c2_2"/>
          <p:cNvSpPr txBox="1"/>
          <p:nvPr/>
        </p:nvSpPr>
        <p:spPr>
          <a:xfrm>
            <a:off x="3931920" y="3904488"/>
            <a:ext cx="3246120" cy="475488"/>
          </a:xfrm>
          <a:prstGeom prst="rect">
            <a:avLst/>
          </a:prstGeom>
          <a:noFill/>
        </p:spPr>
        <p:txBody>
          <a:bodyPr wrap="square" lIns="0" rIns="0" tIns="0" bIns="0" anchor="t">
            <a:spAutoFit/>
          </a:bodyPr>
          <a:lstStyle/>
          <a:p>
            <a:pPr algn="l">
              <a:lnSpc>
                <a:spcPct val="112000"/>
              </a:lnSpc>
            </a:pPr>
            <a:r>
              <a:rPr sz="1000" b="0" i="0">
                <a:solidFill>
                  <a:srgbClr val="7F7F7F"/>
                </a:solidFill>
                <a:latin typeface="Calibri"/>
              </a:rPr>
              <a:t>Systems-neuroscience practice, 1939–present</a:t>
            </a:r>
          </a:p>
        </p:txBody>
      </p:sp>
      <p:sp>
        <p:nvSpPr>
          <p:cNvPr id="24" name="c3_2"/>
          <p:cNvSpPr txBox="1"/>
          <p:nvPr/>
        </p:nvSpPr>
        <p:spPr>
          <a:xfrm>
            <a:off x="7315200" y="3904488"/>
            <a:ext cx="4251960" cy="475488"/>
          </a:xfrm>
          <a:prstGeom prst="rect">
            <a:avLst/>
          </a:prstGeom>
          <a:noFill/>
        </p:spPr>
        <p:txBody>
          <a:bodyPr wrap="square" lIns="0" rIns="0" tIns="0" bIns="0" anchor="t">
            <a:spAutoFit/>
          </a:bodyPr>
          <a:lstStyle/>
          <a:p>
            <a:pPr algn="l">
              <a:lnSpc>
                <a:spcPct val="112000"/>
              </a:lnSpc>
            </a:pPr>
            <a:r>
              <a:rPr sz="1050" b="0" i="0">
                <a:solidFill>
                  <a:srgbClr val="1A1A1A"/>
                </a:solidFill>
                <a:latin typeface="Calibri"/>
              </a:rPr>
              <a:t>Null models, required sample size, and instrument validation on a preparation. The package we transfer wholesale.</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3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300"/>
                                        <p:tgtEl>
                                          <p:spTgt spid="1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300"/>
                                        <p:tgtEl>
                                          <p:spTgt spid="1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3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300"/>
                                        <p:tgtEl>
                                          <p:spTgt spid="1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300"/>
                                        <p:tgtEl>
                                          <p:spTgt spid="1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300"/>
                                        <p:tgtEl>
                                          <p:spTgt spid="1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300"/>
                                        <p:tgtEl>
                                          <p:spTgt spid="16"/>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300"/>
                                        <p:tgtEl>
                                          <p:spTgt spid="17"/>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300"/>
                                        <p:tgtEl>
                                          <p:spTgt spid="1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300"/>
                                        <p:tgtEl>
                                          <p:spTgt spid="19"/>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300"/>
                                        <p:tgtEl>
                                          <p:spTgt spid="20"/>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300"/>
                                        <p:tgtEl>
                                          <p:spTgt spid="21"/>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300"/>
                                        <p:tgtEl>
                                          <p:spTgt spid="22"/>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300"/>
                                        <p:tgtEl>
                                          <p:spTgt spid="23"/>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3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ogo" descr="PES University - Logo 2.png"/>
          <p:cNvPicPr>
            <a:picLocks noChangeAspect="1"/>
          </p:cNvPicPr>
          <p:nvPr/>
        </p:nvPicPr>
        <p:blipFill>
          <a:blip r:embed="rId2"/>
          <a:stretch>
            <a:fillRect/>
          </a:stretch>
        </p:blipFill>
        <p:spPr>
          <a:xfrm>
            <a:off x="10533888" y="146304"/>
            <a:ext cx="1298448" cy="591337"/>
          </a:xfrm>
          <a:prstGeom prst="rect">
            <a:avLst/>
          </a:prstGeom>
        </p:spPr>
      </p:pic>
      <p:sp>
        <p:nvSpPr>
          <p:cNvPr id="3" name="runhead"/>
          <p:cNvSpPr txBox="1"/>
          <p:nvPr/>
        </p:nvSpPr>
        <p:spPr>
          <a:xfrm>
            <a:off x="411480" y="237744"/>
            <a:ext cx="6858000" cy="274320"/>
          </a:xfrm>
          <a:prstGeom prst="rect">
            <a:avLst/>
          </a:prstGeom>
          <a:noFill/>
        </p:spPr>
        <p:txBody>
          <a:bodyPr wrap="square" lIns="0" rIns="0" tIns="0" bIns="0" anchor="t">
            <a:spAutoFit/>
          </a:bodyPr>
          <a:lstStyle/>
          <a:p>
            <a:pPr algn="l">
              <a:lnSpc>
                <a:spcPct val="100000"/>
              </a:lnSpc>
            </a:pPr>
            <a:r>
              <a:rPr sz="1050" b="1" i="0">
                <a:solidFill>
                  <a:srgbClr val="7F7F7F"/>
                </a:solidFill>
                <a:latin typeface="Calibri"/>
              </a:rPr>
              <a:t>CALIPER: Calibrating Interpretability Readouts for Language Models</a:t>
            </a:r>
          </a:p>
        </p:txBody>
      </p:sp>
      <p:sp>
        <p:nvSpPr>
          <p:cNvPr id="4" name="heading"/>
          <p:cNvSpPr txBox="1"/>
          <p:nvPr/>
        </p:nvSpPr>
        <p:spPr>
          <a:xfrm>
            <a:off x="2926080" y="868680"/>
            <a:ext cx="7452360" cy="502920"/>
          </a:xfrm>
          <a:prstGeom prst="rect">
            <a:avLst/>
          </a:prstGeom>
          <a:noFill/>
        </p:spPr>
        <p:txBody>
          <a:bodyPr wrap="square" lIns="0" rIns="0" tIns="0" bIns="0" anchor="t">
            <a:spAutoFit/>
          </a:bodyPr>
          <a:lstStyle/>
          <a:p>
            <a:pPr algn="r">
              <a:lnSpc>
                <a:spcPct val="100000"/>
              </a:lnSpc>
            </a:pPr>
            <a:r>
              <a:rPr sz="2700" b="0" i="0">
                <a:solidFill>
                  <a:srgbClr val="1A1A1A"/>
                </a:solidFill>
                <a:latin typeface="Calibri"/>
              </a:rPr>
              <a:t>Where we differ from prior work</a:t>
            </a:r>
          </a:p>
        </p:txBody>
      </p:sp>
      <p:sp>
        <p:nvSpPr>
          <p:cNvPr id="5" name="tealrule"/>
          <p:cNvSpPr/>
          <p:nvPr/>
        </p:nvSpPr>
        <p:spPr>
          <a:xfrm>
            <a:off x="3017520" y="1517904"/>
            <a:ext cx="7360920" cy="41148"/>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airline"/>
          <p:cNvSpPr/>
          <p:nvPr/>
        </p:nvSpPr>
        <p:spPr>
          <a:xfrm>
            <a:off x="411480" y="1664208"/>
            <a:ext cx="11018520" cy="7315"/>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band"/>
          <p:cNvSpPr/>
          <p:nvPr/>
        </p:nvSpPr>
        <p:spPr>
          <a:xfrm>
            <a:off x="0" y="6528816"/>
            <a:ext cx="12191695" cy="329184"/>
          </a:xfrm>
          <a:prstGeom prst="rect">
            <a:avLst/>
          </a:prstGeom>
          <a:solidFill>
            <a:srgbClr val="BD5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text"/>
          <p:cNvSpPr txBox="1"/>
          <p:nvPr/>
        </p:nvSpPr>
        <p:spPr>
          <a:xfrm>
            <a:off x="0" y="6620255"/>
            <a:ext cx="12191695" cy="201168"/>
          </a:xfrm>
          <a:prstGeom prst="rect">
            <a:avLst/>
          </a:prstGeom>
          <a:noFill/>
        </p:spPr>
        <p:txBody>
          <a:bodyPr wrap="square" lIns="0" rIns="0" tIns="0" bIns="0" anchor="t">
            <a:spAutoFit/>
          </a:bodyPr>
          <a:lstStyle/>
          <a:p>
            <a:pPr algn="ctr">
              <a:lnSpc>
                <a:spcPct val="100000"/>
              </a:lnSpc>
            </a:pPr>
            <a:r>
              <a:rPr sz="800" b="0" i="0">
                <a:solidFill>
                  <a:srgbClr val="FFFFFF"/>
                </a:solidFill>
                <a:latin typeface="Calibri"/>
              </a:rPr>
              <a:t>SANTOSH CHEETHIRALA_NIVAS REDDY DANDU_C. SREE KRISHNA KOUSHIK_MARREDDY RUSHI ESWAR REDDY</a:t>
            </a:r>
          </a:p>
        </p:txBody>
      </p:sp>
      <p:sp>
        <p:nvSpPr>
          <p:cNvPr id="9" name="bg0"/>
          <p:cNvSpPr/>
          <p:nvPr/>
        </p:nvSpPr>
        <p:spPr>
          <a:xfrm>
            <a:off x="548640" y="1901952"/>
            <a:ext cx="11109960" cy="841248"/>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t0"/>
          <p:cNvSpPr/>
          <p:nvPr/>
        </p:nvSpPr>
        <p:spPr>
          <a:xfrm>
            <a:off x="548640" y="1901952"/>
            <a:ext cx="64008" cy="841248"/>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0"/>
          <p:cNvSpPr txBox="1"/>
          <p:nvPr/>
        </p:nvSpPr>
        <p:spPr>
          <a:xfrm>
            <a:off x="777240" y="1993392"/>
            <a:ext cx="3291840" cy="457200"/>
          </a:xfrm>
          <a:prstGeom prst="rect">
            <a:avLst/>
          </a:prstGeom>
          <a:noFill/>
        </p:spPr>
        <p:txBody>
          <a:bodyPr wrap="square" lIns="0" rIns="0" tIns="0" bIns="0" anchor="t">
            <a:spAutoFit/>
          </a:bodyPr>
          <a:lstStyle/>
          <a:p>
            <a:pPr algn="l">
              <a:lnSpc>
                <a:spcPct val="110000"/>
              </a:lnSpc>
            </a:pPr>
            <a:r>
              <a:rPr sz="1350" b="1" i="0">
                <a:solidFill>
                  <a:srgbClr val="1A1A1A"/>
                </a:solidFill>
                <a:latin typeface="Calibri"/>
              </a:rPr>
              <a:t>Tuning curves on vision models</a:t>
            </a:r>
          </a:p>
        </p:txBody>
      </p:sp>
      <p:sp>
        <p:nvSpPr>
          <p:cNvPr id="12" name="w0"/>
          <p:cNvSpPr txBox="1"/>
          <p:nvPr/>
        </p:nvSpPr>
        <p:spPr>
          <a:xfrm>
            <a:off x="4160520" y="1993392"/>
            <a:ext cx="2011680" cy="457200"/>
          </a:xfrm>
          <a:prstGeom prst="rect">
            <a:avLst/>
          </a:prstGeom>
          <a:noFill/>
        </p:spPr>
        <p:txBody>
          <a:bodyPr wrap="square" lIns="0" rIns="0" tIns="0" bIns="0" anchor="t">
            <a:spAutoFit/>
          </a:bodyPr>
          <a:lstStyle/>
          <a:p>
            <a:pPr algn="l">
              <a:lnSpc>
                <a:spcPct val="110000"/>
              </a:lnSpc>
            </a:pPr>
            <a:r>
              <a:rPr sz="1150" b="1" i="0">
                <a:solidFill>
                  <a:srgbClr val="BD582B"/>
                </a:solidFill>
                <a:latin typeface="Calibri"/>
              </a:rPr>
              <a:t>Distill Circuits (2020–21)</a:t>
            </a:r>
          </a:p>
        </p:txBody>
      </p:sp>
      <p:sp>
        <p:nvSpPr>
          <p:cNvPr id="13" name="h0"/>
          <p:cNvSpPr txBox="1"/>
          <p:nvPr/>
        </p:nvSpPr>
        <p:spPr>
          <a:xfrm>
            <a:off x="6309360" y="1975104"/>
            <a:ext cx="5212080" cy="713232"/>
          </a:xfrm>
          <a:prstGeom prst="rect">
            <a:avLst/>
          </a:prstGeom>
          <a:noFill/>
        </p:spPr>
        <p:txBody>
          <a:bodyPr wrap="square" lIns="0" rIns="0" tIns="0" bIns="0" anchor="t">
            <a:spAutoFit/>
          </a:bodyPr>
          <a:lstStyle/>
          <a:p>
            <a:pPr algn="l">
              <a:lnSpc>
                <a:spcPct val="112000"/>
              </a:lnSpc>
            </a:pPr>
            <a:r>
              <a:rPr sz="1150" b="0" i="0">
                <a:solidFill>
                  <a:srgbClr val="1A1A1A"/>
                </a:solidFill>
                <a:latin typeface="Calibri"/>
              </a:rPr>
              <a:t>They characterise units in vision networks. We work on language models and, unlike them, score every reading against a known direction.</a:t>
            </a:r>
          </a:p>
        </p:txBody>
      </p:sp>
      <p:sp>
        <p:nvSpPr>
          <p:cNvPr id="14" name="bg1"/>
          <p:cNvSpPr/>
          <p:nvPr/>
        </p:nvSpPr>
        <p:spPr>
          <a:xfrm>
            <a:off x="548640" y="2816352"/>
            <a:ext cx="11109960" cy="8412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1"/>
          <p:cNvSpPr/>
          <p:nvPr/>
        </p:nvSpPr>
        <p:spPr>
          <a:xfrm>
            <a:off x="548640" y="2816352"/>
            <a:ext cx="64008" cy="841248"/>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1"/>
          <p:cNvSpPr txBox="1"/>
          <p:nvPr/>
        </p:nvSpPr>
        <p:spPr>
          <a:xfrm>
            <a:off x="777240" y="2907792"/>
            <a:ext cx="3291840" cy="457200"/>
          </a:xfrm>
          <a:prstGeom prst="rect">
            <a:avLst/>
          </a:prstGeom>
          <a:noFill/>
        </p:spPr>
        <p:txBody>
          <a:bodyPr wrap="square" lIns="0" rIns="0" tIns="0" bIns="0" anchor="t">
            <a:spAutoFit/>
          </a:bodyPr>
          <a:lstStyle/>
          <a:p>
            <a:pPr algn="l">
              <a:lnSpc>
                <a:spcPct val="110000"/>
              </a:lnSpc>
            </a:pPr>
            <a:r>
              <a:rPr sz="1350" b="1" i="0">
                <a:solidFill>
                  <a:srgbClr val="1A1A1A"/>
                </a:solidFill>
                <a:latin typeface="Calibri"/>
              </a:rPr>
              <a:t>Number representation tuning</a:t>
            </a:r>
          </a:p>
        </p:txBody>
      </p:sp>
      <p:sp>
        <p:nvSpPr>
          <p:cNvPr id="17" name="w1"/>
          <p:cNvSpPr txBox="1"/>
          <p:nvPr/>
        </p:nvSpPr>
        <p:spPr>
          <a:xfrm>
            <a:off x="4160520" y="2907792"/>
            <a:ext cx="2011680" cy="457200"/>
          </a:xfrm>
          <a:prstGeom prst="rect">
            <a:avLst/>
          </a:prstGeom>
          <a:noFill/>
        </p:spPr>
        <p:txBody>
          <a:bodyPr wrap="square" lIns="0" rIns="0" tIns="0" bIns="0" anchor="t">
            <a:spAutoFit/>
          </a:bodyPr>
          <a:lstStyle/>
          <a:p>
            <a:pPr algn="l">
              <a:lnSpc>
                <a:spcPct val="110000"/>
              </a:lnSpc>
            </a:pPr>
            <a:r>
              <a:rPr sz="1150" b="1" i="0">
                <a:solidFill>
                  <a:srgbClr val="BD582B"/>
                </a:solidFill>
                <a:latin typeface="Calibri"/>
              </a:rPr>
              <a:t>Cacioli (2026)</a:t>
            </a:r>
          </a:p>
        </p:txBody>
      </p:sp>
      <p:sp>
        <p:nvSpPr>
          <p:cNvPr id="18" name="h1"/>
          <p:cNvSpPr txBox="1"/>
          <p:nvPr/>
        </p:nvSpPr>
        <p:spPr>
          <a:xfrm>
            <a:off x="6309360" y="2889504"/>
            <a:ext cx="5212080" cy="713232"/>
          </a:xfrm>
          <a:prstGeom prst="rect">
            <a:avLst/>
          </a:prstGeom>
          <a:noFill/>
        </p:spPr>
        <p:txBody>
          <a:bodyPr wrap="square" lIns="0" rIns="0" tIns="0" bIns="0" anchor="t">
            <a:spAutoFit/>
          </a:bodyPr>
          <a:lstStyle/>
          <a:p>
            <a:pPr algn="l">
              <a:lnSpc>
                <a:spcPct val="112000"/>
              </a:lnSpc>
            </a:pPr>
            <a:r>
              <a:rPr sz="1150" b="0" i="0">
                <a:solidFill>
                  <a:srgbClr val="1A1A1A"/>
                </a:solidFill>
                <a:latin typeface="Calibri"/>
              </a:rPr>
              <a:t>Overlapping method, different target. Their question is what a unit encodes; ours is whether the instrument that answers that question is correct.</a:t>
            </a:r>
          </a:p>
        </p:txBody>
      </p:sp>
      <p:sp>
        <p:nvSpPr>
          <p:cNvPr id="19" name="bg2"/>
          <p:cNvSpPr/>
          <p:nvPr/>
        </p:nvSpPr>
        <p:spPr>
          <a:xfrm>
            <a:off x="548640" y="3730752"/>
            <a:ext cx="11109960" cy="841248"/>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t2"/>
          <p:cNvSpPr/>
          <p:nvPr/>
        </p:nvSpPr>
        <p:spPr>
          <a:xfrm>
            <a:off x="548640" y="3730752"/>
            <a:ext cx="64008" cy="841248"/>
          </a:xfrm>
          <a:prstGeom prst="rect">
            <a:avLst/>
          </a:prstGeom>
          <a:solidFill>
            <a:srgbClr val="BD5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2"/>
          <p:cNvSpPr txBox="1"/>
          <p:nvPr/>
        </p:nvSpPr>
        <p:spPr>
          <a:xfrm>
            <a:off x="777240" y="3822191"/>
            <a:ext cx="3291840" cy="457200"/>
          </a:xfrm>
          <a:prstGeom prst="rect">
            <a:avLst/>
          </a:prstGeom>
          <a:noFill/>
        </p:spPr>
        <p:txBody>
          <a:bodyPr wrap="square" lIns="0" rIns="0" tIns="0" bIns="0" anchor="t">
            <a:spAutoFit/>
          </a:bodyPr>
          <a:lstStyle/>
          <a:p>
            <a:pPr algn="l">
              <a:lnSpc>
                <a:spcPct val="110000"/>
              </a:lnSpc>
            </a:pPr>
            <a:r>
              <a:rPr sz="1350" b="1" i="0">
                <a:solidFill>
                  <a:srgbClr val="1A1A1A"/>
                </a:solidFill>
                <a:latin typeface="Calibri"/>
              </a:rPr>
              <a:t>Introspection with a no-injection control</a:t>
            </a:r>
          </a:p>
        </p:txBody>
      </p:sp>
      <p:sp>
        <p:nvSpPr>
          <p:cNvPr id="22" name="w2"/>
          <p:cNvSpPr txBox="1"/>
          <p:nvPr/>
        </p:nvSpPr>
        <p:spPr>
          <a:xfrm>
            <a:off x="4160520" y="3822191"/>
            <a:ext cx="2011680" cy="457200"/>
          </a:xfrm>
          <a:prstGeom prst="rect">
            <a:avLst/>
          </a:prstGeom>
          <a:noFill/>
        </p:spPr>
        <p:txBody>
          <a:bodyPr wrap="square" lIns="0" rIns="0" tIns="0" bIns="0" anchor="t">
            <a:spAutoFit/>
          </a:bodyPr>
          <a:lstStyle/>
          <a:p>
            <a:pPr algn="l">
              <a:lnSpc>
                <a:spcPct val="110000"/>
              </a:lnSpc>
            </a:pPr>
            <a:r>
              <a:rPr sz="1150" b="1" i="0">
                <a:solidFill>
                  <a:srgbClr val="BD582B"/>
                </a:solidFill>
                <a:latin typeface="Calibri"/>
              </a:rPr>
              <a:t>Macar et al. (2026)</a:t>
            </a:r>
          </a:p>
        </p:txBody>
      </p:sp>
      <p:sp>
        <p:nvSpPr>
          <p:cNvPr id="23" name="h2"/>
          <p:cNvSpPr txBox="1"/>
          <p:nvPr/>
        </p:nvSpPr>
        <p:spPr>
          <a:xfrm>
            <a:off x="6309360" y="3803904"/>
            <a:ext cx="5212080" cy="713232"/>
          </a:xfrm>
          <a:prstGeom prst="rect">
            <a:avLst/>
          </a:prstGeom>
          <a:noFill/>
        </p:spPr>
        <p:txBody>
          <a:bodyPr wrap="square" lIns="0" rIns="0" tIns="0" bIns="0" anchor="t">
            <a:spAutoFit/>
          </a:bodyPr>
          <a:lstStyle/>
          <a:p>
            <a:pPr algn="l">
              <a:lnSpc>
                <a:spcPct val="112000"/>
              </a:lnSpc>
            </a:pPr>
            <a:r>
              <a:rPr sz="1150" b="0" i="0">
                <a:solidFill>
                  <a:srgbClr val="1A1A1A"/>
                </a:solidFill>
                <a:latin typeface="Calibri"/>
              </a:rPr>
              <a:t>Same model, same layer, same prompt. They control against no injection; we control against an injection carrying no content.</a:t>
            </a:r>
          </a:p>
        </p:txBody>
      </p:sp>
      <p:sp>
        <p:nvSpPr>
          <p:cNvPr id="24" name="nhd"/>
          <p:cNvSpPr txBox="1"/>
          <p:nvPr/>
        </p:nvSpPr>
        <p:spPr>
          <a:xfrm>
            <a:off x="777240" y="4791456"/>
            <a:ext cx="10515600" cy="292608"/>
          </a:xfrm>
          <a:prstGeom prst="rect">
            <a:avLst/>
          </a:prstGeom>
          <a:noFill/>
        </p:spPr>
        <p:txBody>
          <a:bodyPr wrap="square" lIns="0" rIns="0" tIns="0" bIns="0" anchor="t">
            <a:spAutoFit/>
          </a:bodyPr>
          <a:lstStyle/>
          <a:p>
            <a:pPr algn="l">
              <a:lnSpc>
                <a:spcPct val="100000"/>
              </a:lnSpc>
            </a:pPr>
            <a:r>
              <a:rPr sz="1450" b="1" i="0">
                <a:solidFill>
                  <a:srgbClr val="1F3864"/>
                </a:solidFill>
                <a:latin typeface="Calibri"/>
              </a:rPr>
              <a:t>What is new, precisely:</a:t>
            </a:r>
          </a:p>
        </p:txBody>
      </p:sp>
      <p:sp>
        <p:nvSpPr>
          <p:cNvPr id="25" name="nd0"/>
          <p:cNvSpPr txBox="1"/>
          <p:nvPr/>
        </p:nvSpPr>
        <p:spPr>
          <a:xfrm>
            <a:off x="868680" y="5148072"/>
            <a:ext cx="274320" cy="274320"/>
          </a:xfrm>
          <a:prstGeom prst="rect">
            <a:avLst/>
          </a:prstGeom>
          <a:noFill/>
        </p:spPr>
        <p:txBody>
          <a:bodyPr wrap="square" lIns="0" rIns="0" tIns="0" bIns="0" anchor="t">
            <a:spAutoFit/>
          </a:bodyPr>
          <a:lstStyle/>
          <a:p>
            <a:pPr algn="l">
              <a:lnSpc>
                <a:spcPct val="100000"/>
              </a:lnSpc>
            </a:pPr>
            <a:r>
              <a:rPr sz="1200" b="1" i="0">
                <a:solidFill>
                  <a:srgbClr val="33CCCC"/>
                </a:solidFill>
                <a:latin typeface="Calibri"/>
              </a:rPr>
              <a:t>▸</a:t>
            </a:r>
          </a:p>
        </p:txBody>
      </p:sp>
      <p:sp>
        <p:nvSpPr>
          <p:cNvPr id="26" name="nb0"/>
          <p:cNvSpPr txBox="1"/>
          <p:nvPr/>
        </p:nvSpPr>
        <p:spPr>
          <a:xfrm>
            <a:off x="1143000" y="5138928"/>
            <a:ext cx="10241280" cy="237744"/>
          </a:xfrm>
          <a:prstGeom prst="rect">
            <a:avLst/>
          </a:prstGeom>
          <a:noFill/>
        </p:spPr>
        <p:txBody>
          <a:bodyPr wrap="square" lIns="0" rIns="0" tIns="0" bIns="0" anchor="t">
            <a:spAutoFit/>
          </a:bodyPr>
          <a:lstStyle/>
          <a:p>
            <a:pPr algn="l">
              <a:lnSpc>
                <a:spcPct val="110000"/>
              </a:lnSpc>
            </a:pPr>
            <a:r>
              <a:rPr sz="1150" b="0" i="0">
                <a:solidFill>
                  <a:srgbClr val="1A1A1A"/>
                </a:solidFill>
                <a:latin typeface="Calibri"/>
              </a:rPr>
              <a:t>Free ground truth at the unit level — an MLP neuron’s true direction is its own weight column, so a real model can serve as its own preparation.</a:t>
            </a:r>
          </a:p>
        </p:txBody>
      </p:sp>
      <p:sp>
        <p:nvSpPr>
          <p:cNvPr id="27" name="nd1"/>
          <p:cNvSpPr txBox="1"/>
          <p:nvPr/>
        </p:nvSpPr>
        <p:spPr>
          <a:xfrm>
            <a:off x="868680" y="5440680"/>
            <a:ext cx="274320" cy="274320"/>
          </a:xfrm>
          <a:prstGeom prst="rect">
            <a:avLst/>
          </a:prstGeom>
          <a:noFill/>
        </p:spPr>
        <p:txBody>
          <a:bodyPr wrap="square" lIns="0" rIns="0" tIns="0" bIns="0" anchor="t">
            <a:spAutoFit/>
          </a:bodyPr>
          <a:lstStyle/>
          <a:p>
            <a:pPr algn="l">
              <a:lnSpc>
                <a:spcPct val="100000"/>
              </a:lnSpc>
            </a:pPr>
            <a:r>
              <a:rPr sz="1200" b="1" i="0">
                <a:solidFill>
                  <a:srgbClr val="33CCCC"/>
                </a:solidFill>
                <a:latin typeface="Calibri"/>
              </a:rPr>
              <a:t>▸</a:t>
            </a:r>
          </a:p>
        </p:txBody>
      </p:sp>
      <p:sp>
        <p:nvSpPr>
          <p:cNvPr id="28" name="nb1"/>
          <p:cNvSpPr txBox="1"/>
          <p:nvPr/>
        </p:nvSpPr>
        <p:spPr>
          <a:xfrm>
            <a:off x="1143000" y="5431536"/>
            <a:ext cx="10241280" cy="237744"/>
          </a:xfrm>
          <a:prstGeom prst="rect">
            <a:avLst/>
          </a:prstGeom>
          <a:noFill/>
        </p:spPr>
        <p:txBody>
          <a:bodyPr wrap="square" lIns="0" rIns="0" tIns="0" bIns="0" anchor="t">
            <a:spAutoFit/>
          </a:bodyPr>
          <a:lstStyle/>
          <a:p>
            <a:pPr algn="l">
              <a:lnSpc>
                <a:spcPct val="110000"/>
              </a:lnSpc>
            </a:pPr>
            <a:r>
              <a:rPr sz="1150" b="0" i="0">
                <a:solidFill>
                  <a:srgbClr val="1A1A1A"/>
                </a:solidFill>
                <a:latin typeface="Calibri"/>
              </a:rPr>
              <a:t>The content-free control at the self level — controlling against an injection with no content, rather than against no injection.</a:t>
            </a:r>
          </a:p>
        </p:txBody>
      </p:sp>
      <p:sp>
        <p:nvSpPr>
          <p:cNvPr id="29" name="nd2"/>
          <p:cNvSpPr txBox="1"/>
          <p:nvPr/>
        </p:nvSpPr>
        <p:spPr>
          <a:xfrm>
            <a:off x="868680" y="5733288"/>
            <a:ext cx="274320" cy="274320"/>
          </a:xfrm>
          <a:prstGeom prst="rect">
            <a:avLst/>
          </a:prstGeom>
          <a:noFill/>
        </p:spPr>
        <p:txBody>
          <a:bodyPr wrap="square" lIns="0" rIns="0" tIns="0" bIns="0" anchor="t">
            <a:spAutoFit/>
          </a:bodyPr>
          <a:lstStyle/>
          <a:p>
            <a:pPr algn="l">
              <a:lnSpc>
                <a:spcPct val="100000"/>
              </a:lnSpc>
            </a:pPr>
            <a:r>
              <a:rPr sz="1200" b="1" i="0">
                <a:solidFill>
                  <a:srgbClr val="33CCCC"/>
                </a:solidFill>
                <a:latin typeface="Calibri"/>
              </a:rPr>
              <a:t>▸</a:t>
            </a:r>
          </a:p>
        </p:txBody>
      </p:sp>
      <p:sp>
        <p:nvSpPr>
          <p:cNvPr id="30" name="nb2"/>
          <p:cNvSpPr txBox="1"/>
          <p:nvPr/>
        </p:nvSpPr>
        <p:spPr>
          <a:xfrm>
            <a:off x="1143000" y="5724144"/>
            <a:ext cx="10241280" cy="237744"/>
          </a:xfrm>
          <a:prstGeom prst="rect">
            <a:avLst/>
          </a:prstGeom>
          <a:noFill/>
        </p:spPr>
        <p:txBody>
          <a:bodyPr wrap="square" lIns="0" rIns="0" tIns="0" bIns="0" anchor="t">
            <a:spAutoFit/>
          </a:bodyPr>
          <a:lstStyle/>
          <a:p>
            <a:pPr algn="l">
              <a:lnSpc>
                <a:spcPct val="110000"/>
              </a:lnSpc>
            </a:pPr>
            <a:r>
              <a:rPr sz="1150" b="0" i="0">
                <a:solidFill>
                  <a:srgbClr val="1A1A1A"/>
                </a:solidFill>
                <a:latin typeface="Calibri"/>
              </a:rPr>
              <a:t>The transfer of the calibration discipline — null, required sample size, pre-registered interval and disagreement flag as one package.</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3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300"/>
                                        <p:tgtEl>
                                          <p:spTgt spid="1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300"/>
                                        <p:tgtEl>
                                          <p:spTgt spid="1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300"/>
                                        <p:tgtEl>
                                          <p:spTgt spid="1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30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300"/>
                                        <p:tgtEl>
                                          <p:spTgt spid="1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300"/>
                                        <p:tgtEl>
                                          <p:spTgt spid="1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300"/>
                                        <p:tgtEl>
                                          <p:spTgt spid="1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300"/>
                                        <p:tgtEl>
                                          <p:spTgt spid="1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300"/>
                                        <p:tgtEl>
                                          <p:spTgt spid="1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300"/>
                                        <p:tgtEl>
                                          <p:spTgt spid="19"/>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300"/>
                                        <p:tgtEl>
                                          <p:spTgt spid="20"/>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300"/>
                                        <p:tgtEl>
                                          <p:spTgt spid="21"/>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300"/>
                                        <p:tgtEl>
                                          <p:spTgt spid="22"/>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300"/>
                                        <p:tgtEl>
                                          <p:spTgt spid="23"/>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300"/>
                                        <p:tgtEl>
                                          <p:spTgt spid="24"/>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fade">
                                      <p:cBhvr>
                                        <p:cTn id="64" dur="300"/>
                                        <p:tgtEl>
                                          <p:spTgt spid="26"/>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300"/>
                                        <p:tgtEl>
                                          <p:spTgt spid="25"/>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28"/>
                                        </p:tgtEl>
                                        <p:attrNameLst>
                                          <p:attrName>style.visibility</p:attrName>
                                        </p:attrNameLst>
                                      </p:cBhvr>
                                      <p:to>
                                        <p:strVal val="visible"/>
                                      </p:to>
                                    </p:set>
                                    <p:animEffect transition="in" filter="fade">
                                      <p:cBhvr>
                                        <p:cTn id="72" dur="300"/>
                                        <p:tgtEl>
                                          <p:spTgt spid="28"/>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7"/>
                                        </p:tgtEl>
                                        <p:attrNameLst>
                                          <p:attrName>style.visibility</p:attrName>
                                        </p:attrNameLst>
                                      </p:cBhvr>
                                      <p:to>
                                        <p:strVal val="visible"/>
                                      </p:to>
                                    </p:set>
                                    <p:animEffect transition="in" filter="fade">
                                      <p:cBhvr>
                                        <p:cTn id="75" dur="300"/>
                                        <p:tgtEl>
                                          <p:spTgt spid="27"/>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30"/>
                                        </p:tgtEl>
                                        <p:attrNameLst>
                                          <p:attrName>style.visibility</p:attrName>
                                        </p:attrNameLst>
                                      </p:cBhvr>
                                      <p:to>
                                        <p:strVal val="visible"/>
                                      </p:to>
                                    </p:set>
                                    <p:animEffect transition="in" filter="fade">
                                      <p:cBhvr>
                                        <p:cTn id="80" dur="300"/>
                                        <p:tgtEl>
                                          <p:spTgt spid="30"/>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9"/>
                                        </p:tgtEl>
                                        <p:attrNameLst>
                                          <p:attrName>style.visibility</p:attrName>
                                        </p:attrNameLst>
                                      </p:cBhvr>
                                      <p:to>
                                        <p:strVal val="visible"/>
                                      </p:to>
                                    </p:set>
                                    <p:animEffect transition="in" filter="fade">
                                      <p:cBhvr>
                                        <p:cTn id="83" dur="3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ogo" descr="PES University - Logo 2.png"/>
          <p:cNvPicPr>
            <a:picLocks noChangeAspect="1"/>
          </p:cNvPicPr>
          <p:nvPr/>
        </p:nvPicPr>
        <p:blipFill>
          <a:blip r:embed="rId2"/>
          <a:stretch>
            <a:fillRect/>
          </a:stretch>
        </p:blipFill>
        <p:spPr>
          <a:xfrm>
            <a:off x="10533888" y="146304"/>
            <a:ext cx="1298448" cy="591337"/>
          </a:xfrm>
          <a:prstGeom prst="rect">
            <a:avLst/>
          </a:prstGeom>
        </p:spPr>
      </p:pic>
      <p:sp>
        <p:nvSpPr>
          <p:cNvPr id="3" name="runhead"/>
          <p:cNvSpPr txBox="1"/>
          <p:nvPr/>
        </p:nvSpPr>
        <p:spPr>
          <a:xfrm>
            <a:off x="411480" y="237744"/>
            <a:ext cx="6858000" cy="274320"/>
          </a:xfrm>
          <a:prstGeom prst="rect">
            <a:avLst/>
          </a:prstGeom>
          <a:noFill/>
        </p:spPr>
        <p:txBody>
          <a:bodyPr wrap="square" lIns="0" rIns="0" tIns="0" bIns="0" anchor="t">
            <a:spAutoFit/>
          </a:bodyPr>
          <a:lstStyle/>
          <a:p>
            <a:pPr algn="l">
              <a:lnSpc>
                <a:spcPct val="100000"/>
              </a:lnSpc>
            </a:pPr>
            <a:r>
              <a:rPr sz="1050" b="1" i="0">
                <a:solidFill>
                  <a:srgbClr val="7F7F7F"/>
                </a:solidFill>
                <a:latin typeface="Calibri"/>
              </a:rPr>
              <a:t>CALIPER: Calibrating Interpretability Readouts for Language Models</a:t>
            </a:r>
          </a:p>
        </p:txBody>
      </p:sp>
      <p:sp>
        <p:nvSpPr>
          <p:cNvPr id="4" name="heading"/>
          <p:cNvSpPr txBox="1"/>
          <p:nvPr/>
        </p:nvSpPr>
        <p:spPr>
          <a:xfrm>
            <a:off x="2926080" y="868680"/>
            <a:ext cx="7452360" cy="502920"/>
          </a:xfrm>
          <a:prstGeom prst="rect">
            <a:avLst/>
          </a:prstGeom>
          <a:noFill/>
        </p:spPr>
        <p:txBody>
          <a:bodyPr wrap="square" lIns="0" rIns="0" tIns="0" bIns="0" anchor="t">
            <a:spAutoFit/>
          </a:bodyPr>
          <a:lstStyle/>
          <a:p>
            <a:pPr algn="r">
              <a:lnSpc>
                <a:spcPct val="100000"/>
              </a:lnSpc>
            </a:pPr>
            <a:r>
              <a:rPr sz="2700" b="0" i="0">
                <a:solidFill>
                  <a:srgbClr val="1A1A1A"/>
                </a:solidFill>
                <a:latin typeface="Calibri"/>
              </a:rPr>
              <a:t>What we do not claim</a:t>
            </a:r>
          </a:p>
        </p:txBody>
      </p:sp>
      <p:sp>
        <p:nvSpPr>
          <p:cNvPr id="5" name="tealrule"/>
          <p:cNvSpPr/>
          <p:nvPr/>
        </p:nvSpPr>
        <p:spPr>
          <a:xfrm>
            <a:off x="3017520" y="1517904"/>
            <a:ext cx="7360920" cy="41148"/>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airline"/>
          <p:cNvSpPr/>
          <p:nvPr/>
        </p:nvSpPr>
        <p:spPr>
          <a:xfrm>
            <a:off x="411480" y="1664208"/>
            <a:ext cx="11018520" cy="7315"/>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band"/>
          <p:cNvSpPr/>
          <p:nvPr/>
        </p:nvSpPr>
        <p:spPr>
          <a:xfrm>
            <a:off x="0" y="6528816"/>
            <a:ext cx="12191695" cy="329184"/>
          </a:xfrm>
          <a:prstGeom prst="rect">
            <a:avLst/>
          </a:prstGeom>
          <a:solidFill>
            <a:srgbClr val="BD5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text"/>
          <p:cNvSpPr txBox="1"/>
          <p:nvPr/>
        </p:nvSpPr>
        <p:spPr>
          <a:xfrm>
            <a:off x="0" y="6620255"/>
            <a:ext cx="12191695" cy="201168"/>
          </a:xfrm>
          <a:prstGeom prst="rect">
            <a:avLst/>
          </a:prstGeom>
          <a:noFill/>
        </p:spPr>
        <p:txBody>
          <a:bodyPr wrap="square" lIns="0" rIns="0" tIns="0" bIns="0" anchor="t">
            <a:spAutoFit/>
          </a:bodyPr>
          <a:lstStyle/>
          <a:p>
            <a:pPr algn="ctr">
              <a:lnSpc>
                <a:spcPct val="100000"/>
              </a:lnSpc>
            </a:pPr>
            <a:r>
              <a:rPr sz="800" b="0" i="0">
                <a:solidFill>
                  <a:srgbClr val="FFFFFF"/>
                </a:solidFill>
                <a:latin typeface="Calibri"/>
              </a:rPr>
              <a:t>SANTOSH CHEETHIRALA_NIVAS REDDY DANDU_C. SREE KRISHNA KOUSHIK_MARREDDY RUSHI ESWAR REDDY</a:t>
            </a:r>
          </a:p>
        </p:txBody>
      </p:sp>
      <p:sp>
        <p:nvSpPr>
          <p:cNvPr id="9" name="x0"/>
          <p:cNvSpPr txBox="1"/>
          <p:nvPr/>
        </p:nvSpPr>
        <p:spPr>
          <a:xfrm>
            <a:off x="731520" y="2011680"/>
            <a:ext cx="365760" cy="310896"/>
          </a:xfrm>
          <a:prstGeom prst="rect">
            <a:avLst/>
          </a:prstGeom>
          <a:noFill/>
        </p:spPr>
        <p:txBody>
          <a:bodyPr wrap="square" lIns="0" rIns="0" tIns="0" bIns="0" anchor="t">
            <a:spAutoFit/>
          </a:bodyPr>
          <a:lstStyle/>
          <a:p>
            <a:pPr algn="l">
              <a:lnSpc>
                <a:spcPct val="100000"/>
              </a:lnSpc>
            </a:pPr>
            <a:r>
              <a:rPr sz="1600" b="1" i="0">
                <a:solidFill>
                  <a:srgbClr val="C00000"/>
                </a:solidFill>
                <a:latin typeface="Calibri"/>
              </a:rPr>
              <a:t>✕</a:t>
            </a:r>
          </a:p>
        </p:txBody>
      </p:sp>
      <p:sp>
        <p:nvSpPr>
          <p:cNvPr id="10" name="t0"/>
          <p:cNvSpPr txBox="1"/>
          <p:nvPr/>
        </p:nvSpPr>
        <p:spPr>
          <a:xfrm>
            <a:off x="1188720" y="1993392"/>
            <a:ext cx="10241280" cy="274320"/>
          </a:xfrm>
          <a:prstGeom prst="rect">
            <a:avLst/>
          </a:prstGeom>
          <a:noFill/>
        </p:spPr>
        <p:txBody>
          <a:bodyPr wrap="square" lIns="0" rIns="0" tIns="0" bIns="0" anchor="t">
            <a:spAutoFit/>
          </a:bodyPr>
          <a:lstStyle/>
          <a:p>
            <a:pPr algn="l">
              <a:lnSpc>
                <a:spcPct val="100000"/>
              </a:lnSpc>
            </a:pPr>
            <a:r>
              <a:rPr sz="1500" b="1" i="0">
                <a:solidFill>
                  <a:srgbClr val="1A1A1A"/>
                </a:solidFill>
                <a:latin typeface="Calibri"/>
              </a:rPr>
              <a:t>We do not say the neuroscience methods “don’t work.”</a:t>
            </a:r>
          </a:p>
        </p:txBody>
      </p:sp>
      <p:sp>
        <p:nvSpPr>
          <p:cNvPr id="11" name="b0"/>
          <p:cNvSpPr txBox="1"/>
          <p:nvPr/>
        </p:nvSpPr>
        <p:spPr>
          <a:xfrm>
            <a:off x="1188720" y="2304288"/>
            <a:ext cx="10241280" cy="274320"/>
          </a:xfrm>
          <a:prstGeom prst="rect">
            <a:avLst/>
          </a:prstGeom>
          <a:noFill/>
        </p:spPr>
        <p:txBody>
          <a:bodyPr wrap="square" lIns="0" rIns="0" tIns="0" bIns="0" anchor="t">
            <a:spAutoFit/>
          </a:bodyPr>
          <a:lstStyle/>
          <a:p>
            <a:pPr algn="l">
              <a:lnSpc>
                <a:spcPct val="112000"/>
              </a:lnSpc>
            </a:pPr>
            <a:r>
              <a:rPr sz="1300" b="0" i="0">
                <a:solidFill>
                  <a:srgbClr val="7F7F7F"/>
                </a:solidFill>
                <a:latin typeface="Calibri"/>
              </a:rPr>
              <a:t>They do not transfer here, and we name the two assumptions that break.</a:t>
            </a:r>
          </a:p>
        </p:txBody>
      </p:sp>
      <p:sp>
        <p:nvSpPr>
          <p:cNvPr id="12" name="x1"/>
          <p:cNvSpPr txBox="1"/>
          <p:nvPr/>
        </p:nvSpPr>
        <p:spPr>
          <a:xfrm>
            <a:off x="731520" y="2889504"/>
            <a:ext cx="365760" cy="310896"/>
          </a:xfrm>
          <a:prstGeom prst="rect">
            <a:avLst/>
          </a:prstGeom>
          <a:noFill/>
        </p:spPr>
        <p:txBody>
          <a:bodyPr wrap="square" lIns="0" rIns="0" tIns="0" bIns="0" anchor="t">
            <a:spAutoFit/>
          </a:bodyPr>
          <a:lstStyle/>
          <a:p>
            <a:pPr algn="l">
              <a:lnSpc>
                <a:spcPct val="100000"/>
              </a:lnSpc>
            </a:pPr>
            <a:r>
              <a:rPr sz="1600" b="1" i="0">
                <a:solidFill>
                  <a:srgbClr val="C00000"/>
                </a:solidFill>
                <a:latin typeface="Calibri"/>
              </a:rPr>
              <a:t>✕</a:t>
            </a:r>
          </a:p>
        </p:txBody>
      </p:sp>
      <p:sp>
        <p:nvSpPr>
          <p:cNvPr id="13" name="t1"/>
          <p:cNvSpPr txBox="1"/>
          <p:nvPr/>
        </p:nvSpPr>
        <p:spPr>
          <a:xfrm>
            <a:off x="1188720" y="2871216"/>
            <a:ext cx="10241280" cy="274320"/>
          </a:xfrm>
          <a:prstGeom prst="rect">
            <a:avLst/>
          </a:prstGeom>
          <a:noFill/>
        </p:spPr>
        <p:txBody>
          <a:bodyPr wrap="square" lIns="0" rIns="0" tIns="0" bIns="0" anchor="t">
            <a:spAutoFit/>
          </a:bodyPr>
          <a:lstStyle/>
          <a:p>
            <a:pPr algn="l">
              <a:lnSpc>
                <a:spcPct val="100000"/>
              </a:lnSpc>
            </a:pPr>
            <a:r>
              <a:rPr sz="1500" b="1" i="0">
                <a:solidFill>
                  <a:srgbClr val="1A1A1A"/>
                </a:solidFill>
                <a:latin typeface="Calibri"/>
              </a:rPr>
              <a:t>We do not say persona vectors are wrong.</a:t>
            </a:r>
          </a:p>
        </p:txBody>
      </p:sp>
      <p:sp>
        <p:nvSpPr>
          <p:cNvPr id="14" name="b1"/>
          <p:cNvSpPr txBox="1"/>
          <p:nvPr/>
        </p:nvSpPr>
        <p:spPr>
          <a:xfrm>
            <a:off x="1188720" y="3182112"/>
            <a:ext cx="10241280" cy="274320"/>
          </a:xfrm>
          <a:prstGeom prst="rect">
            <a:avLst/>
          </a:prstGeom>
          <a:noFill/>
        </p:spPr>
        <p:txBody>
          <a:bodyPr wrap="square" lIns="0" rIns="0" tIns="0" bIns="0" anchor="t">
            <a:spAutoFit/>
          </a:bodyPr>
          <a:lstStyle/>
          <a:p>
            <a:pPr algn="l">
              <a:lnSpc>
                <a:spcPct val="112000"/>
              </a:lnSpc>
            </a:pPr>
            <a:r>
              <a:rPr sz="1300" b="0" i="0">
                <a:solidFill>
                  <a:srgbClr val="7F7F7F"/>
                </a:solidFill>
                <a:latin typeface="Calibri"/>
              </a:rPr>
              <a:t>We have not tested them yet. Same family of method, never checked.</a:t>
            </a:r>
          </a:p>
        </p:txBody>
      </p:sp>
      <p:sp>
        <p:nvSpPr>
          <p:cNvPr id="15" name="x2"/>
          <p:cNvSpPr txBox="1"/>
          <p:nvPr/>
        </p:nvSpPr>
        <p:spPr>
          <a:xfrm>
            <a:off x="731520" y="3767327"/>
            <a:ext cx="365760" cy="310896"/>
          </a:xfrm>
          <a:prstGeom prst="rect">
            <a:avLst/>
          </a:prstGeom>
          <a:noFill/>
        </p:spPr>
        <p:txBody>
          <a:bodyPr wrap="square" lIns="0" rIns="0" tIns="0" bIns="0" anchor="t">
            <a:spAutoFit/>
          </a:bodyPr>
          <a:lstStyle/>
          <a:p>
            <a:pPr algn="l">
              <a:lnSpc>
                <a:spcPct val="100000"/>
              </a:lnSpc>
            </a:pPr>
            <a:r>
              <a:rPr sz="1600" b="1" i="0">
                <a:solidFill>
                  <a:srgbClr val="C00000"/>
                </a:solidFill>
                <a:latin typeface="Calibri"/>
              </a:rPr>
              <a:t>✕</a:t>
            </a:r>
          </a:p>
        </p:txBody>
      </p:sp>
      <p:sp>
        <p:nvSpPr>
          <p:cNvPr id="16" name="t2"/>
          <p:cNvSpPr txBox="1"/>
          <p:nvPr/>
        </p:nvSpPr>
        <p:spPr>
          <a:xfrm>
            <a:off x="1188720" y="3749039"/>
            <a:ext cx="10241280" cy="274320"/>
          </a:xfrm>
          <a:prstGeom prst="rect">
            <a:avLst/>
          </a:prstGeom>
          <a:noFill/>
        </p:spPr>
        <p:txBody>
          <a:bodyPr wrap="square" lIns="0" rIns="0" tIns="0" bIns="0" anchor="t">
            <a:spAutoFit/>
          </a:bodyPr>
          <a:lstStyle/>
          <a:p>
            <a:pPr algn="l">
              <a:lnSpc>
                <a:spcPct val="100000"/>
              </a:lnSpc>
            </a:pPr>
            <a:r>
              <a:rPr sz="1500" b="1" i="0">
                <a:solidFill>
                  <a:srgbClr val="1A1A1A"/>
                </a:solidFill>
                <a:latin typeface="Calibri"/>
              </a:rPr>
              <a:t>We do not claim the validity framing is new.</a:t>
            </a:r>
          </a:p>
        </p:txBody>
      </p:sp>
      <p:sp>
        <p:nvSpPr>
          <p:cNvPr id="17" name="b2"/>
          <p:cNvSpPr txBox="1"/>
          <p:nvPr/>
        </p:nvSpPr>
        <p:spPr>
          <a:xfrm>
            <a:off x="1188720" y="4059935"/>
            <a:ext cx="10241280" cy="274320"/>
          </a:xfrm>
          <a:prstGeom prst="rect">
            <a:avLst/>
          </a:prstGeom>
          <a:noFill/>
        </p:spPr>
        <p:txBody>
          <a:bodyPr wrap="square" lIns="0" rIns="0" tIns="0" bIns="0" anchor="t">
            <a:spAutoFit/>
          </a:bodyPr>
          <a:lstStyle/>
          <a:p>
            <a:pPr algn="l">
              <a:lnSpc>
                <a:spcPct val="112000"/>
              </a:lnSpc>
            </a:pPr>
            <a:r>
              <a:rPr sz="1300" b="0" i="0">
                <a:solidFill>
                  <a:srgbClr val="7F7F7F"/>
                </a:solidFill>
                <a:latin typeface="Calibri"/>
              </a:rPr>
              <a:t>About twelve 2026 papers already use it. The preparation is what we add.</a:t>
            </a:r>
          </a:p>
        </p:txBody>
      </p:sp>
      <p:sp>
        <p:nvSpPr>
          <p:cNvPr id="18" name="x3"/>
          <p:cNvSpPr txBox="1"/>
          <p:nvPr/>
        </p:nvSpPr>
        <p:spPr>
          <a:xfrm>
            <a:off x="731520" y="4645151"/>
            <a:ext cx="365760" cy="310896"/>
          </a:xfrm>
          <a:prstGeom prst="rect">
            <a:avLst/>
          </a:prstGeom>
          <a:noFill/>
        </p:spPr>
        <p:txBody>
          <a:bodyPr wrap="square" lIns="0" rIns="0" tIns="0" bIns="0" anchor="t">
            <a:spAutoFit/>
          </a:bodyPr>
          <a:lstStyle/>
          <a:p>
            <a:pPr algn="l">
              <a:lnSpc>
                <a:spcPct val="100000"/>
              </a:lnSpc>
            </a:pPr>
            <a:r>
              <a:rPr sz="1600" b="1" i="0">
                <a:solidFill>
                  <a:srgbClr val="C00000"/>
                </a:solidFill>
                <a:latin typeface="Calibri"/>
              </a:rPr>
              <a:t>✕</a:t>
            </a:r>
          </a:p>
        </p:txBody>
      </p:sp>
      <p:sp>
        <p:nvSpPr>
          <p:cNvPr id="19" name="t3"/>
          <p:cNvSpPr txBox="1"/>
          <p:nvPr/>
        </p:nvSpPr>
        <p:spPr>
          <a:xfrm>
            <a:off x="1188720" y="4626864"/>
            <a:ext cx="10241280" cy="274320"/>
          </a:xfrm>
          <a:prstGeom prst="rect">
            <a:avLst/>
          </a:prstGeom>
          <a:noFill/>
        </p:spPr>
        <p:txBody>
          <a:bodyPr wrap="square" lIns="0" rIns="0" tIns="0" bIns="0" anchor="t">
            <a:spAutoFit/>
          </a:bodyPr>
          <a:lstStyle/>
          <a:p>
            <a:pPr algn="l">
              <a:lnSpc>
                <a:spcPct val="100000"/>
              </a:lnSpc>
            </a:pPr>
            <a:r>
              <a:rPr sz="1500" b="1" i="0">
                <a:solidFill>
                  <a:srgbClr val="1A1A1A"/>
                </a:solidFill>
                <a:latin typeface="Calibri"/>
              </a:rPr>
              <a:t>We do not claim a model can or cannot introspect.</a:t>
            </a:r>
          </a:p>
        </p:txBody>
      </p:sp>
      <p:sp>
        <p:nvSpPr>
          <p:cNvPr id="20" name="b3"/>
          <p:cNvSpPr txBox="1"/>
          <p:nvPr/>
        </p:nvSpPr>
        <p:spPr>
          <a:xfrm>
            <a:off x="1188720" y="4937759"/>
            <a:ext cx="10241280" cy="274320"/>
          </a:xfrm>
          <a:prstGeom prst="rect">
            <a:avLst/>
          </a:prstGeom>
          <a:noFill/>
        </p:spPr>
        <p:txBody>
          <a:bodyPr wrap="square" lIns="0" rIns="0" tIns="0" bIns="0" anchor="t">
            <a:spAutoFit/>
          </a:bodyPr>
          <a:lstStyle/>
          <a:p>
            <a:pPr algn="l">
              <a:lnSpc>
                <a:spcPct val="112000"/>
              </a:lnSpc>
            </a:pPr>
            <a:r>
              <a:rPr sz="1300" b="0" i="0">
                <a:solidFill>
                  <a:srgbClr val="7F7F7F"/>
                </a:solidFill>
                <a:latin typeface="Calibri"/>
              </a:rPr>
              <a:t>We claim the published protocol cannot distinguish introspection from noticing a disturbance.</a:t>
            </a:r>
          </a:p>
        </p:txBody>
      </p:sp>
      <p:sp>
        <p:nvSpPr>
          <p:cNvPr id="21" name="Rectangle 20"/>
          <p:cNvSpPr/>
          <p:nvPr/>
        </p:nvSpPr>
        <p:spPr>
          <a:xfrm>
            <a:off x="731520" y="5632703"/>
            <a:ext cx="10698480" cy="7315"/>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ail"/>
          <p:cNvSpPr txBox="1"/>
          <p:nvPr/>
        </p:nvSpPr>
        <p:spPr>
          <a:xfrm>
            <a:off x="731520" y="5815583"/>
            <a:ext cx="10698480" cy="640080"/>
          </a:xfrm>
          <a:prstGeom prst="rect">
            <a:avLst/>
          </a:prstGeom>
          <a:noFill/>
        </p:spPr>
        <p:txBody>
          <a:bodyPr wrap="square" lIns="0" rIns="0" tIns="0" bIns="0" anchor="t">
            <a:spAutoFit/>
          </a:bodyPr>
          <a:lstStyle/>
          <a:p>
            <a:pPr algn="l">
              <a:lnSpc>
                <a:spcPct val="120000"/>
              </a:lnSpc>
            </a:pPr>
            <a:r>
              <a:rPr sz="1400" b="0" i="0">
                <a:solidFill>
                  <a:srgbClr val="BD582B"/>
                </a:solidFill>
                <a:latin typeface="Calibri"/>
              </a:rPr>
              <a:t>Tuning curves have been done on vision models. The neuroscience estimators are decades old. Persona vectors and concept injection are published methods. We are testing them, not inventing them.</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32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320"/>
                                        <p:tgtEl>
                                          <p:spTgt spid="1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320"/>
                                        <p:tgtEl>
                                          <p:spTgt spid="11"/>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320"/>
                                        <p:tgtEl>
                                          <p:spTgt spid="1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320"/>
                                        <p:tgtEl>
                                          <p:spTgt spid="1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320"/>
                                        <p:tgtEl>
                                          <p:spTgt spid="1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320"/>
                                        <p:tgtEl>
                                          <p:spTgt spid="15"/>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320"/>
                                        <p:tgtEl>
                                          <p:spTgt spid="16"/>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320"/>
                                        <p:tgtEl>
                                          <p:spTgt spid="17"/>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320"/>
                                        <p:tgtEl>
                                          <p:spTgt spid="1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320"/>
                                        <p:tgtEl>
                                          <p:spTgt spid="19"/>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320"/>
                                        <p:tgtEl>
                                          <p:spTgt spid="20"/>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3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ogo" descr="PES University - Logo 2.png"/>
          <p:cNvPicPr>
            <a:picLocks noChangeAspect="1"/>
          </p:cNvPicPr>
          <p:nvPr/>
        </p:nvPicPr>
        <p:blipFill>
          <a:blip r:embed="rId2"/>
          <a:stretch>
            <a:fillRect/>
          </a:stretch>
        </p:blipFill>
        <p:spPr>
          <a:xfrm>
            <a:off x="10533888" y="146304"/>
            <a:ext cx="1298448" cy="591337"/>
          </a:xfrm>
          <a:prstGeom prst="rect">
            <a:avLst/>
          </a:prstGeom>
        </p:spPr>
      </p:pic>
      <p:sp>
        <p:nvSpPr>
          <p:cNvPr id="3" name="runhead"/>
          <p:cNvSpPr txBox="1"/>
          <p:nvPr/>
        </p:nvSpPr>
        <p:spPr>
          <a:xfrm>
            <a:off x="411480" y="237744"/>
            <a:ext cx="6858000" cy="274320"/>
          </a:xfrm>
          <a:prstGeom prst="rect">
            <a:avLst/>
          </a:prstGeom>
          <a:noFill/>
        </p:spPr>
        <p:txBody>
          <a:bodyPr wrap="square" lIns="0" rIns="0" tIns="0" bIns="0" anchor="t">
            <a:spAutoFit/>
          </a:bodyPr>
          <a:lstStyle/>
          <a:p>
            <a:pPr algn="l">
              <a:lnSpc>
                <a:spcPct val="100000"/>
              </a:lnSpc>
            </a:pPr>
            <a:r>
              <a:rPr sz="1050" b="1" i="0">
                <a:solidFill>
                  <a:srgbClr val="7F7F7F"/>
                </a:solidFill>
                <a:latin typeface="Calibri"/>
              </a:rPr>
              <a:t>CALIPER: Calibrating Interpretability Readouts for Language Models</a:t>
            </a:r>
          </a:p>
        </p:txBody>
      </p:sp>
      <p:sp>
        <p:nvSpPr>
          <p:cNvPr id="4" name="heading"/>
          <p:cNvSpPr txBox="1"/>
          <p:nvPr/>
        </p:nvSpPr>
        <p:spPr>
          <a:xfrm>
            <a:off x="2926080" y="868680"/>
            <a:ext cx="7452360" cy="502920"/>
          </a:xfrm>
          <a:prstGeom prst="rect">
            <a:avLst/>
          </a:prstGeom>
          <a:noFill/>
        </p:spPr>
        <p:txBody>
          <a:bodyPr wrap="square" lIns="0" rIns="0" tIns="0" bIns="0" anchor="t">
            <a:spAutoFit/>
          </a:bodyPr>
          <a:lstStyle/>
          <a:p>
            <a:pPr algn="r">
              <a:lnSpc>
                <a:spcPct val="100000"/>
              </a:lnSpc>
            </a:pPr>
            <a:r>
              <a:rPr sz="2700" b="0" i="0">
                <a:solidFill>
                  <a:srgbClr val="1A1A1A"/>
                </a:solidFill>
                <a:latin typeface="Calibri"/>
              </a:rPr>
              <a:t>Project Timeline</a:t>
            </a:r>
          </a:p>
        </p:txBody>
      </p:sp>
      <p:sp>
        <p:nvSpPr>
          <p:cNvPr id="5" name="tealrule"/>
          <p:cNvSpPr/>
          <p:nvPr/>
        </p:nvSpPr>
        <p:spPr>
          <a:xfrm>
            <a:off x="3017520" y="1517904"/>
            <a:ext cx="7360920" cy="41148"/>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airline"/>
          <p:cNvSpPr/>
          <p:nvPr/>
        </p:nvSpPr>
        <p:spPr>
          <a:xfrm>
            <a:off x="411480" y="1664208"/>
            <a:ext cx="11018520" cy="7315"/>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band"/>
          <p:cNvSpPr/>
          <p:nvPr/>
        </p:nvSpPr>
        <p:spPr>
          <a:xfrm>
            <a:off x="0" y="6528816"/>
            <a:ext cx="12191695" cy="329184"/>
          </a:xfrm>
          <a:prstGeom prst="rect">
            <a:avLst/>
          </a:prstGeom>
          <a:solidFill>
            <a:srgbClr val="BD5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text"/>
          <p:cNvSpPr txBox="1"/>
          <p:nvPr/>
        </p:nvSpPr>
        <p:spPr>
          <a:xfrm>
            <a:off x="0" y="6620255"/>
            <a:ext cx="12191695" cy="201168"/>
          </a:xfrm>
          <a:prstGeom prst="rect">
            <a:avLst/>
          </a:prstGeom>
          <a:noFill/>
        </p:spPr>
        <p:txBody>
          <a:bodyPr wrap="square" lIns="0" rIns="0" tIns="0" bIns="0" anchor="t">
            <a:spAutoFit/>
          </a:bodyPr>
          <a:lstStyle/>
          <a:p>
            <a:pPr algn="ctr">
              <a:lnSpc>
                <a:spcPct val="100000"/>
              </a:lnSpc>
            </a:pPr>
            <a:r>
              <a:rPr sz="800" b="0" i="0">
                <a:solidFill>
                  <a:srgbClr val="FFFFFF"/>
                </a:solidFill>
                <a:latin typeface="Calibri"/>
              </a:rPr>
              <a:t>SANTOSH CHEETHIRALA_NIVAS REDDY DANDU_C. SREE KRISHNA KOUSHIK_MARREDDY RUSHI ESWAR REDDY</a:t>
            </a:r>
          </a:p>
        </p:txBody>
      </p:sp>
      <p:pic>
        <p:nvPicPr>
          <p:cNvPr id="9" name="fig" descr="f7_gantt.png"/>
          <p:cNvPicPr>
            <a:picLocks noChangeAspect="1"/>
          </p:cNvPicPr>
          <p:nvPr/>
        </p:nvPicPr>
        <p:blipFill>
          <a:blip r:embed="rId3"/>
          <a:stretch>
            <a:fillRect/>
          </a:stretch>
        </p:blipFill>
        <p:spPr>
          <a:xfrm>
            <a:off x="685800" y="1883664"/>
            <a:ext cx="10835640" cy="3556847"/>
          </a:xfrm>
          <a:prstGeom prst="rect">
            <a:avLst/>
          </a:prstGeom>
        </p:spPr>
      </p:pic>
      <p:sp>
        <p:nvSpPr>
          <p:cNvPr id="10" name="hd"/>
          <p:cNvSpPr txBox="1"/>
          <p:nvPr/>
        </p:nvSpPr>
        <p:spPr>
          <a:xfrm>
            <a:off x="685800" y="4983480"/>
            <a:ext cx="10789920" cy="274320"/>
          </a:xfrm>
          <a:prstGeom prst="rect">
            <a:avLst/>
          </a:prstGeom>
          <a:noFill/>
        </p:spPr>
        <p:txBody>
          <a:bodyPr wrap="square" lIns="0" rIns="0" tIns="0" bIns="0" anchor="t">
            <a:spAutoFit/>
          </a:bodyPr>
          <a:lstStyle/>
          <a:p>
            <a:pPr algn="l">
              <a:lnSpc>
                <a:spcPct val="100000"/>
              </a:lnSpc>
            </a:pPr>
            <a:r>
              <a:rPr sz="1450" b="1" i="0">
                <a:solidFill>
                  <a:srgbClr val="BD582B"/>
                </a:solidFill>
                <a:latin typeface="Calibri"/>
              </a:rPr>
              <a:t>Semester 5 · four reviews</a:t>
            </a:r>
          </a:p>
        </p:txBody>
      </p:sp>
      <p:sp>
        <p:nvSpPr>
          <p:cNvPr id="11" name="rb0"/>
          <p:cNvSpPr/>
          <p:nvPr/>
        </p:nvSpPr>
        <p:spPr>
          <a:xfrm>
            <a:off x="685800" y="5367528"/>
            <a:ext cx="2606040" cy="786384"/>
          </a:xfrm>
          <a:prstGeom prst="rect">
            <a:avLst/>
          </a:prstGeom>
          <a:solidFill>
            <a:srgbClr val="FD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s0"/>
          <p:cNvSpPr/>
          <p:nvPr/>
        </p:nvSpPr>
        <p:spPr>
          <a:xfrm>
            <a:off x="685800" y="5367528"/>
            <a:ext cx="2606040" cy="50292"/>
          </a:xfrm>
          <a:prstGeom prst="rect">
            <a:avLst/>
          </a:prstGeom>
          <a:solidFill>
            <a:srgbClr val="BD5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t0"/>
          <p:cNvSpPr txBox="1"/>
          <p:nvPr/>
        </p:nvSpPr>
        <p:spPr>
          <a:xfrm>
            <a:off x="850392" y="5495544"/>
            <a:ext cx="2286000" cy="237744"/>
          </a:xfrm>
          <a:prstGeom prst="rect">
            <a:avLst/>
          </a:prstGeom>
          <a:noFill/>
        </p:spPr>
        <p:txBody>
          <a:bodyPr wrap="square" lIns="0" rIns="0" tIns="0" bIns="0" anchor="t">
            <a:spAutoFit/>
          </a:bodyPr>
          <a:lstStyle/>
          <a:p>
            <a:pPr algn="l">
              <a:lnSpc>
                <a:spcPct val="100000"/>
              </a:lnSpc>
            </a:pPr>
            <a:r>
              <a:rPr sz="1300" b="1" i="0">
                <a:solidFill>
                  <a:srgbClr val="BD582B"/>
                </a:solidFill>
                <a:latin typeface="Calibri"/>
              </a:rPr>
              <a:t>Review 1</a:t>
            </a:r>
          </a:p>
        </p:txBody>
      </p:sp>
      <p:sp>
        <p:nvSpPr>
          <p:cNvPr id="14" name="rw0"/>
          <p:cNvSpPr txBox="1"/>
          <p:nvPr/>
        </p:nvSpPr>
        <p:spPr>
          <a:xfrm>
            <a:off x="850392" y="5715000"/>
            <a:ext cx="2286000" cy="201168"/>
          </a:xfrm>
          <a:prstGeom prst="rect">
            <a:avLst/>
          </a:prstGeom>
          <a:noFill/>
        </p:spPr>
        <p:txBody>
          <a:bodyPr wrap="square" lIns="0" rIns="0" tIns="0" bIns="0" anchor="t">
            <a:spAutoFit/>
          </a:bodyPr>
          <a:lstStyle/>
          <a:p>
            <a:pPr algn="l">
              <a:lnSpc>
                <a:spcPct val="100000"/>
              </a:lnSpc>
            </a:pPr>
            <a:r>
              <a:rPr sz="1000" b="0" i="0">
                <a:solidFill>
                  <a:srgbClr val="7F7F7F"/>
                </a:solidFill>
                <a:latin typeface="Calibri"/>
              </a:rPr>
              <a:t>Early Sep</a:t>
            </a:r>
          </a:p>
        </p:txBody>
      </p:sp>
      <p:sp>
        <p:nvSpPr>
          <p:cNvPr id="15" name="rd0"/>
          <p:cNvSpPr txBox="1"/>
          <p:nvPr/>
        </p:nvSpPr>
        <p:spPr>
          <a:xfrm>
            <a:off x="850392" y="5897880"/>
            <a:ext cx="2331720" cy="237744"/>
          </a:xfrm>
          <a:prstGeom prst="rect">
            <a:avLst/>
          </a:prstGeom>
          <a:noFill/>
        </p:spPr>
        <p:txBody>
          <a:bodyPr wrap="square" lIns="0" rIns="0" tIns="0" bIns="0" anchor="t">
            <a:spAutoFit/>
          </a:bodyPr>
          <a:lstStyle/>
          <a:p>
            <a:pPr algn="l">
              <a:lnSpc>
                <a:spcPct val="108000"/>
              </a:lnSpc>
            </a:pPr>
            <a:r>
              <a:rPr sz="1000" b="0" i="0">
                <a:solidFill>
                  <a:srgbClr val="1A1A1A"/>
                </a:solidFill>
                <a:latin typeface="Calibri"/>
              </a:rPr>
              <a:t>Problem, team, literature survey</a:t>
            </a:r>
          </a:p>
        </p:txBody>
      </p:sp>
      <p:sp>
        <p:nvSpPr>
          <p:cNvPr id="16" name="rb1"/>
          <p:cNvSpPr/>
          <p:nvPr/>
        </p:nvSpPr>
        <p:spPr>
          <a:xfrm>
            <a:off x="3447288" y="5367528"/>
            <a:ext cx="2606040" cy="786384"/>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s1"/>
          <p:cNvSpPr/>
          <p:nvPr/>
        </p:nvSpPr>
        <p:spPr>
          <a:xfrm>
            <a:off x="3447288" y="5367528"/>
            <a:ext cx="2606040" cy="50292"/>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t1"/>
          <p:cNvSpPr txBox="1"/>
          <p:nvPr/>
        </p:nvSpPr>
        <p:spPr>
          <a:xfrm>
            <a:off x="3611880" y="5495544"/>
            <a:ext cx="2286000" cy="237744"/>
          </a:xfrm>
          <a:prstGeom prst="rect">
            <a:avLst/>
          </a:prstGeom>
          <a:noFill/>
        </p:spPr>
        <p:txBody>
          <a:bodyPr wrap="square" lIns="0" rIns="0" tIns="0" bIns="0" anchor="t">
            <a:spAutoFit/>
          </a:bodyPr>
          <a:lstStyle/>
          <a:p>
            <a:pPr algn="l">
              <a:lnSpc>
                <a:spcPct val="100000"/>
              </a:lnSpc>
            </a:pPr>
            <a:r>
              <a:rPr sz="1300" b="1" i="0">
                <a:solidFill>
                  <a:srgbClr val="1F3864"/>
                </a:solidFill>
                <a:latin typeface="Calibri"/>
              </a:rPr>
              <a:t>Review 2</a:t>
            </a:r>
          </a:p>
        </p:txBody>
      </p:sp>
      <p:sp>
        <p:nvSpPr>
          <p:cNvPr id="19" name="rw1"/>
          <p:cNvSpPr txBox="1"/>
          <p:nvPr/>
        </p:nvSpPr>
        <p:spPr>
          <a:xfrm>
            <a:off x="3611880" y="5715000"/>
            <a:ext cx="2286000" cy="201168"/>
          </a:xfrm>
          <a:prstGeom prst="rect">
            <a:avLst/>
          </a:prstGeom>
          <a:noFill/>
        </p:spPr>
        <p:txBody>
          <a:bodyPr wrap="square" lIns="0" rIns="0" tIns="0" bIns="0" anchor="t">
            <a:spAutoFit/>
          </a:bodyPr>
          <a:lstStyle/>
          <a:p>
            <a:pPr algn="l">
              <a:lnSpc>
                <a:spcPct val="100000"/>
              </a:lnSpc>
            </a:pPr>
            <a:r>
              <a:rPr sz="1000" b="0" i="0">
                <a:solidFill>
                  <a:srgbClr val="7F7F7F"/>
                </a:solidFill>
                <a:latin typeface="Calibri"/>
              </a:rPr>
              <a:t>Late Sep</a:t>
            </a:r>
          </a:p>
        </p:txBody>
      </p:sp>
      <p:sp>
        <p:nvSpPr>
          <p:cNvPr id="20" name="rd1"/>
          <p:cNvSpPr txBox="1"/>
          <p:nvPr/>
        </p:nvSpPr>
        <p:spPr>
          <a:xfrm>
            <a:off x="3611880" y="5897880"/>
            <a:ext cx="2331720" cy="237744"/>
          </a:xfrm>
          <a:prstGeom prst="rect">
            <a:avLst/>
          </a:prstGeom>
          <a:noFill/>
        </p:spPr>
        <p:txBody>
          <a:bodyPr wrap="square" lIns="0" rIns="0" tIns="0" bIns="0" anchor="t">
            <a:spAutoFit/>
          </a:bodyPr>
          <a:lstStyle/>
          <a:p>
            <a:pPr algn="l">
              <a:lnSpc>
                <a:spcPct val="108000"/>
              </a:lnSpc>
            </a:pPr>
            <a:r>
              <a:rPr sz="1000" b="0" i="0">
                <a:solidFill>
                  <a:srgbClr val="1A1A1A"/>
                </a:solidFill>
                <a:latin typeface="Calibri"/>
              </a:rPr>
              <a:t>Requirements and system design</a:t>
            </a:r>
          </a:p>
        </p:txBody>
      </p:sp>
      <p:sp>
        <p:nvSpPr>
          <p:cNvPr id="21" name="rb2"/>
          <p:cNvSpPr/>
          <p:nvPr/>
        </p:nvSpPr>
        <p:spPr>
          <a:xfrm>
            <a:off x="6208776" y="5367528"/>
            <a:ext cx="2606040" cy="786384"/>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s2"/>
          <p:cNvSpPr/>
          <p:nvPr/>
        </p:nvSpPr>
        <p:spPr>
          <a:xfrm>
            <a:off x="6208776" y="5367528"/>
            <a:ext cx="2606040" cy="50292"/>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t2"/>
          <p:cNvSpPr txBox="1"/>
          <p:nvPr/>
        </p:nvSpPr>
        <p:spPr>
          <a:xfrm>
            <a:off x="6373368" y="5495544"/>
            <a:ext cx="2286000" cy="237744"/>
          </a:xfrm>
          <a:prstGeom prst="rect">
            <a:avLst/>
          </a:prstGeom>
          <a:noFill/>
        </p:spPr>
        <p:txBody>
          <a:bodyPr wrap="square" lIns="0" rIns="0" tIns="0" bIns="0" anchor="t">
            <a:spAutoFit/>
          </a:bodyPr>
          <a:lstStyle/>
          <a:p>
            <a:pPr algn="l">
              <a:lnSpc>
                <a:spcPct val="100000"/>
              </a:lnSpc>
            </a:pPr>
            <a:r>
              <a:rPr sz="1300" b="1" i="0">
                <a:solidFill>
                  <a:srgbClr val="1F3864"/>
                </a:solidFill>
                <a:latin typeface="Calibri"/>
              </a:rPr>
              <a:t>Review 3</a:t>
            </a:r>
          </a:p>
        </p:txBody>
      </p:sp>
      <p:sp>
        <p:nvSpPr>
          <p:cNvPr id="24" name="rw2"/>
          <p:cNvSpPr txBox="1"/>
          <p:nvPr/>
        </p:nvSpPr>
        <p:spPr>
          <a:xfrm>
            <a:off x="6373368" y="5715000"/>
            <a:ext cx="2286000" cy="201168"/>
          </a:xfrm>
          <a:prstGeom prst="rect">
            <a:avLst/>
          </a:prstGeom>
          <a:noFill/>
        </p:spPr>
        <p:txBody>
          <a:bodyPr wrap="square" lIns="0" rIns="0" tIns="0" bIns="0" anchor="t">
            <a:spAutoFit/>
          </a:bodyPr>
          <a:lstStyle/>
          <a:p>
            <a:pPr algn="l">
              <a:lnSpc>
                <a:spcPct val="100000"/>
              </a:lnSpc>
            </a:pPr>
            <a:r>
              <a:rPr sz="1000" b="0" i="0">
                <a:solidFill>
                  <a:srgbClr val="7F7F7F"/>
                </a:solidFill>
                <a:latin typeface="Calibri"/>
              </a:rPr>
              <a:t>Late Oct</a:t>
            </a:r>
          </a:p>
        </p:txBody>
      </p:sp>
      <p:sp>
        <p:nvSpPr>
          <p:cNvPr id="25" name="rd2"/>
          <p:cNvSpPr txBox="1"/>
          <p:nvPr/>
        </p:nvSpPr>
        <p:spPr>
          <a:xfrm>
            <a:off x="6373368" y="5897880"/>
            <a:ext cx="2331720" cy="237744"/>
          </a:xfrm>
          <a:prstGeom prst="rect">
            <a:avLst/>
          </a:prstGeom>
          <a:noFill/>
        </p:spPr>
        <p:txBody>
          <a:bodyPr wrap="square" lIns="0" rIns="0" tIns="0" bIns="0" anchor="t">
            <a:spAutoFit/>
          </a:bodyPr>
          <a:lstStyle/>
          <a:p>
            <a:pPr algn="l">
              <a:lnSpc>
                <a:spcPct val="108000"/>
              </a:lnSpc>
            </a:pPr>
            <a:r>
              <a:rPr sz="1000" b="0" i="0">
                <a:solidFill>
                  <a:srgbClr val="1A1A1A"/>
                </a:solidFill>
                <a:latin typeface="Calibri"/>
              </a:rPr>
              <a:t>Initial prototype, unit level</a:t>
            </a:r>
          </a:p>
        </p:txBody>
      </p:sp>
      <p:sp>
        <p:nvSpPr>
          <p:cNvPr id="26" name="rb3"/>
          <p:cNvSpPr/>
          <p:nvPr/>
        </p:nvSpPr>
        <p:spPr>
          <a:xfrm>
            <a:off x="8970264" y="5367528"/>
            <a:ext cx="2606040" cy="786384"/>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s3"/>
          <p:cNvSpPr/>
          <p:nvPr/>
        </p:nvSpPr>
        <p:spPr>
          <a:xfrm>
            <a:off x="8970264" y="5367528"/>
            <a:ext cx="2606040" cy="50292"/>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t3"/>
          <p:cNvSpPr txBox="1"/>
          <p:nvPr/>
        </p:nvSpPr>
        <p:spPr>
          <a:xfrm>
            <a:off x="9134856" y="5495544"/>
            <a:ext cx="2286000" cy="237744"/>
          </a:xfrm>
          <a:prstGeom prst="rect">
            <a:avLst/>
          </a:prstGeom>
          <a:noFill/>
        </p:spPr>
        <p:txBody>
          <a:bodyPr wrap="square" lIns="0" rIns="0" tIns="0" bIns="0" anchor="t">
            <a:spAutoFit/>
          </a:bodyPr>
          <a:lstStyle/>
          <a:p>
            <a:pPr algn="l">
              <a:lnSpc>
                <a:spcPct val="100000"/>
              </a:lnSpc>
            </a:pPr>
            <a:r>
              <a:rPr sz="1300" b="1" i="0">
                <a:solidFill>
                  <a:srgbClr val="1F3864"/>
                </a:solidFill>
                <a:latin typeface="Calibri"/>
              </a:rPr>
              <a:t>Review 4</a:t>
            </a:r>
          </a:p>
        </p:txBody>
      </p:sp>
      <p:sp>
        <p:nvSpPr>
          <p:cNvPr id="29" name="rw3"/>
          <p:cNvSpPr txBox="1"/>
          <p:nvPr/>
        </p:nvSpPr>
        <p:spPr>
          <a:xfrm>
            <a:off x="9134856" y="5715000"/>
            <a:ext cx="2286000" cy="201168"/>
          </a:xfrm>
          <a:prstGeom prst="rect">
            <a:avLst/>
          </a:prstGeom>
          <a:noFill/>
        </p:spPr>
        <p:txBody>
          <a:bodyPr wrap="square" lIns="0" rIns="0" tIns="0" bIns="0" anchor="t">
            <a:spAutoFit/>
          </a:bodyPr>
          <a:lstStyle/>
          <a:p>
            <a:pPr algn="l">
              <a:lnSpc>
                <a:spcPct val="100000"/>
              </a:lnSpc>
            </a:pPr>
            <a:r>
              <a:rPr sz="1000" b="0" i="0">
                <a:solidFill>
                  <a:srgbClr val="7F7F7F"/>
                </a:solidFill>
                <a:latin typeface="Calibri"/>
              </a:rPr>
              <a:t>Mid Nov</a:t>
            </a:r>
          </a:p>
        </p:txBody>
      </p:sp>
      <p:sp>
        <p:nvSpPr>
          <p:cNvPr id="30" name="rd3"/>
          <p:cNvSpPr txBox="1"/>
          <p:nvPr/>
        </p:nvSpPr>
        <p:spPr>
          <a:xfrm>
            <a:off x="9134856" y="5897880"/>
            <a:ext cx="2331720" cy="237744"/>
          </a:xfrm>
          <a:prstGeom prst="rect">
            <a:avLst/>
          </a:prstGeom>
          <a:noFill/>
        </p:spPr>
        <p:txBody>
          <a:bodyPr wrap="square" lIns="0" rIns="0" tIns="0" bIns="0" anchor="t">
            <a:spAutoFit/>
          </a:bodyPr>
          <a:lstStyle/>
          <a:p>
            <a:pPr algn="l">
              <a:lnSpc>
                <a:spcPct val="108000"/>
              </a:lnSpc>
            </a:pPr>
            <a:r>
              <a:rPr sz="1000" b="0" i="0">
                <a:solidFill>
                  <a:srgbClr val="1A1A1A"/>
                </a:solidFill>
                <a:latin typeface="Calibri"/>
              </a:rPr>
              <a:t>Prototype on a real question; sem 6 plan</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3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3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300"/>
                                        <p:tgtEl>
                                          <p:spTgt spid="1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300"/>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300"/>
                                        <p:tgtEl>
                                          <p:spTgt spid="1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300"/>
                                        <p:tgtEl>
                                          <p:spTgt spid="1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30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300"/>
                                        <p:tgtEl>
                                          <p:spTgt spid="1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300"/>
                                        <p:tgtEl>
                                          <p:spTgt spid="1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300"/>
                                        <p:tgtEl>
                                          <p:spTgt spid="1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300"/>
                                        <p:tgtEl>
                                          <p:spTgt spid="19"/>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300"/>
                                        <p:tgtEl>
                                          <p:spTgt spid="20"/>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300"/>
                                        <p:tgtEl>
                                          <p:spTgt spid="2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300"/>
                                        <p:tgtEl>
                                          <p:spTgt spid="2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300"/>
                                        <p:tgtEl>
                                          <p:spTgt spid="23"/>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300"/>
                                        <p:tgtEl>
                                          <p:spTgt spid="24"/>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300"/>
                                        <p:tgtEl>
                                          <p:spTgt spid="25"/>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300"/>
                                        <p:tgtEl>
                                          <p:spTgt spid="26"/>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7"/>
                                        </p:tgtEl>
                                        <p:attrNameLst>
                                          <p:attrName>style.visibility</p:attrName>
                                        </p:attrNameLst>
                                      </p:cBhvr>
                                      <p:to>
                                        <p:strVal val="visible"/>
                                      </p:to>
                                    </p:set>
                                    <p:animEffect transition="in" filter="fade">
                                      <p:cBhvr>
                                        <p:cTn id="72" dur="300"/>
                                        <p:tgtEl>
                                          <p:spTgt spid="27"/>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fade">
                                      <p:cBhvr>
                                        <p:cTn id="75" dur="300"/>
                                        <p:tgtEl>
                                          <p:spTgt spid="28"/>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9"/>
                                        </p:tgtEl>
                                        <p:attrNameLst>
                                          <p:attrName>style.visibility</p:attrName>
                                        </p:attrNameLst>
                                      </p:cBhvr>
                                      <p:to>
                                        <p:strVal val="visible"/>
                                      </p:to>
                                    </p:set>
                                    <p:animEffect transition="in" filter="fade">
                                      <p:cBhvr>
                                        <p:cTn id="78" dur="300"/>
                                        <p:tgtEl>
                                          <p:spTgt spid="29"/>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0"/>
                                        </p:tgtEl>
                                        <p:attrNameLst>
                                          <p:attrName>style.visibility</p:attrName>
                                        </p:attrNameLst>
                                      </p:cBhvr>
                                      <p:to>
                                        <p:strVal val="visible"/>
                                      </p:to>
                                    </p:set>
                                    <p:animEffect transition="in" filter="fade">
                                      <p:cBhvr>
                                        <p:cTn id="81" dur="3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ogo" descr="PES University - Logo 2.png"/>
          <p:cNvPicPr>
            <a:picLocks noChangeAspect="1"/>
          </p:cNvPicPr>
          <p:nvPr/>
        </p:nvPicPr>
        <p:blipFill>
          <a:blip r:embed="rId2"/>
          <a:stretch>
            <a:fillRect/>
          </a:stretch>
        </p:blipFill>
        <p:spPr>
          <a:xfrm>
            <a:off x="10533888" y="146304"/>
            <a:ext cx="1298448" cy="591337"/>
          </a:xfrm>
          <a:prstGeom prst="rect">
            <a:avLst/>
          </a:prstGeom>
        </p:spPr>
      </p:pic>
      <p:sp>
        <p:nvSpPr>
          <p:cNvPr id="3" name="runhead"/>
          <p:cNvSpPr txBox="1"/>
          <p:nvPr/>
        </p:nvSpPr>
        <p:spPr>
          <a:xfrm>
            <a:off x="411480" y="237744"/>
            <a:ext cx="6858000" cy="274320"/>
          </a:xfrm>
          <a:prstGeom prst="rect">
            <a:avLst/>
          </a:prstGeom>
          <a:noFill/>
        </p:spPr>
        <p:txBody>
          <a:bodyPr wrap="square" lIns="0" rIns="0" tIns="0" bIns="0" anchor="t">
            <a:spAutoFit/>
          </a:bodyPr>
          <a:lstStyle/>
          <a:p>
            <a:pPr algn="l">
              <a:lnSpc>
                <a:spcPct val="100000"/>
              </a:lnSpc>
            </a:pPr>
            <a:r>
              <a:rPr sz="1050" b="1" i="0">
                <a:solidFill>
                  <a:srgbClr val="7F7F7F"/>
                </a:solidFill>
                <a:latin typeface="Calibri"/>
              </a:rPr>
              <a:t>CALIPER: Calibrating Interpretability Readouts for Language Models</a:t>
            </a:r>
          </a:p>
        </p:txBody>
      </p:sp>
      <p:sp>
        <p:nvSpPr>
          <p:cNvPr id="4" name="heading"/>
          <p:cNvSpPr txBox="1"/>
          <p:nvPr/>
        </p:nvSpPr>
        <p:spPr>
          <a:xfrm>
            <a:off x="2926080" y="868680"/>
            <a:ext cx="7452360" cy="502920"/>
          </a:xfrm>
          <a:prstGeom prst="rect">
            <a:avLst/>
          </a:prstGeom>
          <a:noFill/>
        </p:spPr>
        <p:txBody>
          <a:bodyPr wrap="square" lIns="0" rIns="0" tIns="0" bIns="0" anchor="t">
            <a:spAutoFit/>
          </a:bodyPr>
          <a:lstStyle/>
          <a:p>
            <a:pPr algn="r">
              <a:lnSpc>
                <a:spcPct val="100000"/>
              </a:lnSpc>
            </a:pPr>
            <a:r>
              <a:rPr sz="2700" b="0" i="0">
                <a:solidFill>
                  <a:srgbClr val="1A1A1A"/>
                </a:solidFill>
                <a:latin typeface="Calibri"/>
              </a:rPr>
              <a:t>Team Effort Plan</a:t>
            </a:r>
          </a:p>
        </p:txBody>
      </p:sp>
      <p:sp>
        <p:nvSpPr>
          <p:cNvPr id="5" name="tealrule"/>
          <p:cNvSpPr/>
          <p:nvPr/>
        </p:nvSpPr>
        <p:spPr>
          <a:xfrm>
            <a:off x="3017520" y="1517904"/>
            <a:ext cx="7360920" cy="41148"/>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airline"/>
          <p:cNvSpPr/>
          <p:nvPr/>
        </p:nvSpPr>
        <p:spPr>
          <a:xfrm>
            <a:off x="411480" y="1664208"/>
            <a:ext cx="11018520" cy="7315"/>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band"/>
          <p:cNvSpPr/>
          <p:nvPr/>
        </p:nvSpPr>
        <p:spPr>
          <a:xfrm>
            <a:off x="0" y="6528816"/>
            <a:ext cx="12191695" cy="329184"/>
          </a:xfrm>
          <a:prstGeom prst="rect">
            <a:avLst/>
          </a:prstGeom>
          <a:solidFill>
            <a:srgbClr val="BD5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text"/>
          <p:cNvSpPr txBox="1"/>
          <p:nvPr/>
        </p:nvSpPr>
        <p:spPr>
          <a:xfrm>
            <a:off x="0" y="6620255"/>
            <a:ext cx="12191695" cy="201168"/>
          </a:xfrm>
          <a:prstGeom prst="rect">
            <a:avLst/>
          </a:prstGeom>
          <a:noFill/>
        </p:spPr>
        <p:txBody>
          <a:bodyPr wrap="square" lIns="0" rIns="0" tIns="0" bIns="0" anchor="t">
            <a:spAutoFit/>
          </a:bodyPr>
          <a:lstStyle/>
          <a:p>
            <a:pPr algn="ctr">
              <a:lnSpc>
                <a:spcPct val="100000"/>
              </a:lnSpc>
            </a:pPr>
            <a:r>
              <a:rPr sz="800" b="0" i="0">
                <a:solidFill>
                  <a:srgbClr val="FFFFFF"/>
                </a:solidFill>
                <a:latin typeface="Calibri"/>
              </a:rPr>
              <a:t>SANTOSH CHEETHIRALA_NIVAS REDDY DANDU_C. SREE KRISHNA KOUSHIK_MARREDDY RUSHI ESWAR REDDY</a:t>
            </a:r>
          </a:p>
        </p:txBody>
      </p:sp>
      <p:sp>
        <p:nvSpPr>
          <p:cNvPr id="9" name="hd"/>
          <p:cNvSpPr txBox="1"/>
          <p:nvPr/>
        </p:nvSpPr>
        <p:spPr>
          <a:xfrm>
            <a:off x="685800" y="1901952"/>
            <a:ext cx="5486400" cy="292608"/>
          </a:xfrm>
          <a:prstGeom prst="rect">
            <a:avLst/>
          </a:prstGeom>
          <a:noFill/>
        </p:spPr>
        <p:txBody>
          <a:bodyPr wrap="square" lIns="0" rIns="0" tIns="0" bIns="0" anchor="t">
            <a:spAutoFit/>
          </a:bodyPr>
          <a:lstStyle/>
          <a:p>
            <a:pPr algn="l">
              <a:lnSpc>
                <a:spcPct val="100000"/>
              </a:lnSpc>
            </a:pPr>
            <a:r>
              <a:rPr sz="1600" b="1" i="0">
                <a:solidFill>
                  <a:srgbClr val="BD582B"/>
                </a:solidFill>
                <a:latin typeface="Calibri"/>
              </a:rPr>
              <a:t>Four separable tracks</a:t>
            </a:r>
          </a:p>
        </p:txBody>
      </p:sp>
      <p:sp>
        <p:nvSpPr>
          <p:cNvPr id="10" name="bg0"/>
          <p:cNvSpPr/>
          <p:nvPr/>
        </p:nvSpPr>
        <p:spPr>
          <a:xfrm>
            <a:off x="685800" y="2322576"/>
            <a:ext cx="6903720" cy="786384"/>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t0"/>
          <p:cNvSpPr/>
          <p:nvPr/>
        </p:nvSpPr>
        <p:spPr>
          <a:xfrm>
            <a:off x="685800" y="2322576"/>
            <a:ext cx="64008" cy="786384"/>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0"/>
          <p:cNvSpPr txBox="1"/>
          <p:nvPr/>
        </p:nvSpPr>
        <p:spPr>
          <a:xfrm>
            <a:off x="914400" y="2395728"/>
            <a:ext cx="3657600" cy="256032"/>
          </a:xfrm>
          <a:prstGeom prst="rect">
            <a:avLst/>
          </a:prstGeom>
          <a:noFill/>
        </p:spPr>
        <p:txBody>
          <a:bodyPr wrap="square" lIns="0" rIns="0" tIns="0" bIns="0" anchor="t">
            <a:spAutoFit/>
          </a:bodyPr>
          <a:lstStyle/>
          <a:p>
            <a:pPr algn="l">
              <a:lnSpc>
                <a:spcPct val="100000"/>
              </a:lnSpc>
            </a:pPr>
            <a:r>
              <a:rPr sz="1300" b="1" i="0">
                <a:solidFill>
                  <a:srgbClr val="1A1A1A"/>
                </a:solidFill>
                <a:latin typeface="Calibri"/>
              </a:rPr>
              <a:t>Estimator and integration</a:t>
            </a:r>
          </a:p>
        </p:txBody>
      </p:sp>
      <p:sp>
        <p:nvSpPr>
          <p:cNvPr id="13" name="o0"/>
          <p:cNvSpPr txBox="1"/>
          <p:nvPr/>
        </p:nvSpPr>
        <p:spPr>
          <a:xfrm>
            <a:off x="4617720" y="2395728"/>
            <a:ext cx="2834640" cy="256032"/>
          </a:xfrm>
          <a:prstGeom prst="rect">
            <a:avLst/>
          </a:prstGeom>
          <a:noFill/>
        </p:spPr>
        <p:txBody>
          <a:bodyPr wrap="square" lIns="0" rIns="0" tIns="0" bIns="0" anchor="t">
            <a:spAutoFit/>
          </a:bodyPr>
          <a:lstStyle/>
          <a:p>
            <a:pPr algn="l">
              <a:lnSpc>
                <a:spcPct val="100000"/>
              </a:lnSpc>
            </a:pPr>
            <a:r>
              <a:rPr sz="1100" b="1" i="0">
                <a:solidFill>
                  <a:srgbClr val="BD582B"/>
                </a:solidFill>
                <a:latin typeface="Calibri"/>
              </a:rPr>
              <a:t>SANTOSH CHEETHIRALA</a:t>
            </a:r>
          </a:p>
        </p:txBody>
      </p:sp>
      <p:sp>
        <p:nvSpPr>
          <p:cNvPr id="14" name="d0"/>
          <p:cNvSpPr txBox="1"/>
          <p:nvPr/>
        </p:nvSpPr>
        <p:spPr>
          <a:xfrm>
            <a:off x="914400" y="2688336"/>
            <a:ext cx="6446520" cy="384048"/>
          </a:xfrm>
          <a:prstGeom prst="rect">
            <a:avLst/>
          </a:prstGeom>
          <a:noFill/>
        </p:spPr>
        <p:txBody>
          <a:bodyPr wrap="square" lIns="0" rIns="0" tIns="0" bIns="0" anchor="t">
            <a:spAutoFit/>
          </a:bodyPr>
          <a:lstStyle/>
          <a:p>
            <a:pPr algn="l">
              <a:lnSpc>
                <a:spcPct val="110000"/>
              </a:lnSpc>
            </a:pPr>
            <a:r>
              <a:rPr sz="1050" b="0" i="0">
                <a:solidFill>
                  <a:srgbClr val="7F7F7F"/>
                </a:solidFill>
                <a:latin typeface="Calibri"/>
              </a:rPr>
              <a:t>Readout implementation, the measurement pipeline, cross-level integration</a:t>
            </a:r>
          </a:p>
        </p:txBody>
      </p:sp>
      <p:sp>
        <p:nvSpPr>
          <p:cNvPr id="15" name="bg1"/>
          <p:cNvSpPr/>
          <p:nvPr/>
        </p:nvSpPr>
        <p:spPr>
          <a:xfrm>
            <a:off x="685800" y="3182112"/>
            <a:ext cx="6903720" cy="7863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t1"/>
          <p:cNvSpPr/>
          <p:nvPr/>
        </p:nvSpPr>
        <p:spPr>
          <a:xfrm>
            <a:off x="685800" y="3182112"/>
            <a:ext cx="64008" cy="786384"/>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1"/>
          <p:cNvSpPr txBox="1"/>
          <p:nvPr/>
        </p:nvSpPr>
        <p:spPr>
          <a:xfrm>
            <a:off x="914400" y="3255264"/>
            <a:ext cx="3657600" cy="256032"/>
          </a:xfrm>
          <a:prstGeom prst="rect">
            <a:avLst/>
          </a:prstGeom>
          <a:noFill/>
        </p:spPr>
        <p:txBody>
          <a:bodyPr wrap="square" lIns="0" rIns="0" tIns="0" bIns="0" anchor="t">
            <a:spAutoFit/>
          </a:bodyPr>
          <a:lstStyle/>
          <a:p>
            <a:pPr algn="l">
              <a:lnSpc>
                <a:spcPct val="100000"/>
              </a:lnSpc>
            </a:pPr>
            <a:r>
              <a:rPr sz="1300" b="1" i="0">
                <a:solidFill>
                  <a:srgbClr val="1A1A1A"/>
                </a:solidFill>
                <a:latin typeface="Calibri"/>
              </a:rPr>
              <a:t>Literature and framing</a:t>
            </a:r>
          </a:p>
        </p:txBody>
      </p:sp>
      <p:sp>
        <p:nvSpPr>
          <p:cNvPr id="18" name="o1"/>
          <p:cNvSpPr txBox="1"/>
          <p:nvPr/>
        </p:nvSpPr>
        <p:spPr>
          <a:xfrm>
            <a:off x="4617720" y="3255264"/>
            <a:ext cx="2834640" cy="256032"/>
          </a:xfrm>
          <a:prstGeom prst="rect">
            <a:avLst/>
          </a:prstGeom>
          <a:noFill/>
        </p:spPr>
        <p:txBody>
          <a:bodyPr wrap="square" lIns="0" rIns="0" tIns="0" bIns="0" anchor="t">
            <a:spAutoFit/>
          </a:bodyPr>
          <a:lstStyle/>
          <a:p>
            <a:pPr algn="l">
              <a:lnSpc>
                <a:spcPct val="100000"/>
              </a:lnSpc>
            </a:pPr>
            <a:r>
              <a:rPr sz="1100" b="1" i="0">
                <a:solidFill>
                  <a:srgbClr val="BD582B"/>
                </a:solidFill>
                <a:latin typeface="Calibri"/>
              </a:rPr>
              <a:t>[MEMBER B]</a:t>
            </a:r>
          </a:p>
        </p:txBody>
      </p:sp>
      <p:sp>
        <p:nvSpPr>
          <p:cNvPr id="19" name="d1"/>
          <p:cNvSpPr txBox="1"/>
          <p:nvPr/>
        </p:nvSpPr>
        <p:spPr>
          <a:xfrm>
            <a:off x="914400" y="3547872"/>
            <a:ext cx="6446520" cy="384048"/>
          </a:xfrm>
          <a:prstGeom prst="rect">
            <a:avLst/>
          </a:prstGeom>
          <a:noFill/>
        </p:spPr>
        <p:txBody>
          <a:bodyPr wrap="square" lIns="0" rIns="0" tIns="0" bIns="0" anchor="t">
            <a:spAutoFit/>
          </a:bodyPr>
          <a:lstStyle/>
          <a:p>
            <a:pPr algn="l">
              <a:lnSpc>
                <a:spcPct val="110000"/>
              </a:lnSpc>
            </a:pPr>
            <a:r>
              <a:rPr sz="1050" b="0" i="0">
                <a:solidFill>
                  <a:srgbClr val="7F7F7F"/>
                </a:solidFill>
                <a:latin typeface="Calibri"/>
              </a:rPr>
              <a:t>The paper matrix, the neuroscience method map, related-work sections</a:t>
            </a:r>
          </a:p>
        </p:txBody>
      </p:sp>
      <p:sp>
        <p:nvSpPr>
          <p:cNvPr id="20" name="bg2"/>
          <p:cNvSpPr/>
          <p:nvPr/>
        </p:nvSpPr>
        <p:spPr>
          <a:xfrm>
            <a:off x="685800" y="4041648"/>
            <a:ext cx="6903720" cy="786384"/>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t2"/>
          <p:cNvSpPr/>
          <p:nvPr/>
        </p:nvSpPr>
        <p:spPr>
          <a:xfrm>
            <a:off x="685800" y="4041648"/>
            <a:ext cx="64008" cy="786384"/>
          </a:xfrm>
          <a:prstGeom prst="rect">
            <a:avLst/>
          </a:prstGeom>
          <a:solidFill>
            <a:srgbClr val="BD5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2"/>
          <p:cNvSpPr txBox="1"/>
          <p:nvPr/>
        </p:nvSpPr>
        <p:spPr>
          <a:xfrm>
            <a:off x="914400" y="4114800"/>
            <a:ext cx="3657600" cy="256032"/>
          </a:xfrm>
          <a:prstGeom prst="rect">
            <a:avLst/>
          </a:prstGeom>
          <a:noFill/>
        </p:spPr>
        <p:txBody>
          <a:bodyPr wrap="square" lIns="0" rIns="0" tIns="0" bIns="0" anchor="t">
            <a:spAutoFit/>
          </a:bodyPr>
          <a:lstStyle/>
          <a:p>
            <a:pPr algn="l">
              <a:lnSpc>
                <a:spcPct val="100000"/>
              </a:lnSpc>
            </a:pPr>
            <a:r>
              <a:rPr sz="1300" b="1" i="0">
                <a:solidFill>
                  <a:srgbClr val="1A1A1A"/>
                </a:solidFill>
                <a:latin typeface="Calibri"/>
              </a:rPr>
              <a:t>Second-model replication</a:t>
            </a:r>
          </a:p>
        </p:txBody>
      </p:sp>
      <p:sp>
        <p:nvSpPr>
          <p:cNvPr id="23" name="o2"/>
          <p:cNvSpPr txBox="1"/>
          <p:nvPr/>
        </p:nvSpPr>
        <p:spPr>
          <a:xfrm>
            <a:off x="4617720" y="4114800"/>
            <a:ext cx="2834640" cy="256032"/>
          </a:xfrm>
          <a:prstGeom prst="rect">
            <a:avLst/>
          </a:prstGeom>
          <a:noFill/>
        </p:spPr>
        <p:txBody>
          <a:bodyPr wrap="square" lIns="0" rIns="0" tIns="0" bIns="0" anchor="t">
            <a:spAutoFit/>
          </a:bodyPr>
          <a:lstStyle/>
          <a:p>
            <a:pPr algn="l">
              <a:lnSpc>
                <a:spcPct val="100000"/>
              </a:lnSpc>
            </a:pPr>
            <a:r>
              <a:rPr sz="1100" b="1" i="0">
                <a:solidFill>
                  <a:srgbClr val="BD582B"/>
                </a:solidFill>
                <a:latin typeface="Calibri"/>
              </a:rPr>
              <a:t>[MEMBER C]</a:t>
            </a:r>
          </a:p>
        </p:txBody>
      </p:sp>
      <p:sp>
        <p:nvSpPr>
          <p:cNvPr id="24" name="d2"/>
          <p:cNvSpPr txBox="1"/>
          <p:nvPr/>
        </p:nvSpPr>
        <p:spPr>
          <a:xfrm>
            <a:off x="914400" y="4407408"/>
            <a:ext cx="6446520" cy="384048"/>
          </a:xfrm>
          <a:prstGeom prst="rect">
            <a:avLst/>
          </a:prstGeom>
          <a:noFill/>
        </p:spPr>
        <p:txBody>
          <a:bodyPr wrap="square" lIns="0" rIns="0" tIns="0" bIns="0" anchor="t">
            <a:spAutoFit/>
          </a:bodyPr>
          <a:lstStyle/>
          <a:p>
            <a:pPr algn="l">
              <a:lnSpc>
                <a:spcPct val="110000"/>
              </a:lnSpc>
            </a:pPr>
            <a:r>
              <a:rPr sz="1050" b="0" i="0">
                <a:solidFill>
                  <a:srgbClr val="7F7F7F"/>
                </a:solidFill>
                <a:latin typeface="Calibri"/>
              </a:rPr>
              <a:t>Independent replication of every self-level result on a second open model</a:t>
            </a:r>
          </a:p>
        </p:txBody>
      </p:sp>
      <p:sp>
        <p:nvSpPr>
          <p:cNvPr id="25" name="bg3"/>
          <p:cNvSpPr/>
          <p:nvPr/>
        </p:nvSpPr>
        <p:spPr>
          <a:xfrm>
            <a:off x="685800" y="4901183"/>
            <a:ext cx="6903720" cy="7863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t3"/>
          <p:cNvSpPr/>
          <p:nvPr/>
        </p:nvSpPr>
        <p:spPr>
          <a:xfrm>
            <a:off x="685800" y="4901183"/>
            <a:ext cx="64008" cy="786384"/>
          </a:xfrm>
          <a:prstGeom prst="rect">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3"/>
          <p:cNvSpPr txBox="1"/>
          <p:nvPr/>
        </p:nvSpPr>
        <p:spPr>
          <a:xfrm>
            <a:off x="914400" y="4974336"/>
            <a:ext cx="3657600" cy="256032"/>
          </a:xfrm>
          <a:prstGeom prst="rect">
            <a:avLst/>
          </a:prstGeom>
          <a:noFill/>
        </p:spPr>
        <p:txBody>
          <a:bodyPr wrap="square" lIns="0" rIns="0" tIns="0" bIns="0" anchor="t">
            <a:spAutoFit/>
          </a:bodyPr>
          <a:lstStyle/>
          <a:p>
            <a:pPr algn="l">
              <a:lnSpc>
                <a:spcPct val="100000"/>
              </a:lnSpc>
            </a:pPr>
            <a:r>
              <a:rPr sz="1300" b="1" i="0">
                <a:solidFill>
                  <a:srgbClr val="1A1A1A"/>
                </a:solidFill>
                <a:latin typeface="Calibri"/>
              </a:rPr>
              <a:t>Calibration and benchmarking</a:t>
            </a:r>
          </a:p>
        </p:txBody>
      </p:sp>
      <p:sp>
        <p:nvSpPr>
          <p:cNvPr id="28" name="o3"/>
          <p:cNvSpPr txBox="1"/>
          <p:nvPr/>
        </p:nvSpPr>
        <p:spPr>
          <a:xfrm>
            <a:off x="4617720" y="4974336"/>
            <a:ext cx="2834640" cy="256032"/>
          </a:xfrm>
          <a:prstGeom prst="rect">
            <a:avLst/>
          </a:prstGeom>
          <a:noFill/>
        </p:spPr>
        <p:txBody>
          <a:bodyPr wrap="square" lIns="0" rIns="0" tIns="0" bIns="0" anchor="t">
            <a:spAutoFit/>
          </a:bodyPr>
          <a:lstStyle/>
          <a:p>
            <a:pPr algn="l">
              <a:lnSpc>
                <a:spcPct val="100000"/>
              </a:lnSpc>
            </a:pPr>
            <a:r>
              <a:rPr sz="1100" b="1" i="0">
                <a:solidFill>
                  <a:srgbClr val="BD582B"/>
                </a:solidFill>
                <a:latin typeface="Calibri"/>
              </a:rPr>
              <a:t>[MEMBER D]</a:t>
            </a:r>
          </a:p>
        </p:txBody>
      </p:sp>
      <p:sp>
        <p:nvSpPr>
          <p:cNvPr id="29" name="d3"/>
          <p:cNvSpPr txBox="1"/>
          <p:nvPr/>
        </p:nvSpPr>
        <p:spPr>
          <a:xfrm>
            <a:off x="914400" y="5266944"/>
            <a:ext cx="6446520" cy="384048"/>
          </a:xfrm>
          <a:prstGeom prst="rect">
            <a:avLst/>
          </a:prstGeom>
          <a:noFill/>
        </p:spPr>
        <p:txBody>
          <a:bodyPr wrap="square" lIns="0" rIns="0" tIns="0" bIns="0" anchor="t">
            <a:spAutoFit/>
          </a:bodyPr>
          <a:lstStyle/>
          <a:p>
            <a:pPr algn="l">
              <a:lnSpc>
                <a:spcPct val="110000"/>
              </a:lnSpc>
            </a:pPr>
            <a:r>
              <a:rPr sz="1050" b="0" i="0">
                <a:solidFill>
                  <a:srgbClr val="7F7F7F"/>
                </a:solidFill>
                <a:latin typeface="Calibri"/>
              </a:rPr>
              <a:t>Planted-latent networks, false-discovery rates, statistics. CPU only</a:t>
            </a:r>
          </a:p>
        </p:txBody>
      </p:sp>
      <p:sp>
        <p:nvSpPr>
          <p:cNvPr id="30" name="hd2"/>
          <p:cNvSpPr txBox="1"/>
          <p:nvPr/>
        </p:nvSpPr>
        <p:spPr>
          <a:xfrm>
            <a:off x="7955279" y="1901952"/>
            <a:ext cx="3657600" cy="292608"/>
          </a:xfrm>
          <a:prstGeom prst="rect">
            <a:avLst/>
          </a:prstGeom>
          <a:noFill/>
        </p:spPr>
        <p:txBody>
          <a:bodyPr wrap="square" lIns="0" rIns="0" tIns="0" bIns="0" anchor="t">
            <a:spAutoFit/>
          </a:bodyPr>
          <a:lstStyle/>
          <a:p>
            <a:pPr algn="l">
              <a:lnSpc>
                <a:spcPct val="100000"/>
              </a:lnSpc>
            </a:pPr>
            <a:r>
              <a:rPr sz="1600" b="1" i="0">
                <a:solidFill>
                  <a:srgbClr val="BD582B"/>
                </a:solidFill>
                <a:latin typeface="Calibri"/>
              </a:rPr>
              <a:t>Stage-wise tasks</a:t>
            </a:r>
          </a:p>
        </p:txBody>
      </p:sp>
      <p:sp>
        <p:nvSpPr>
          <p:cNvPr id="31" name="w0"/>
          <p:cNvSpPr txBox="1"/>
          <p:nvPr/>
        </p:nvSpPr>
        <p:spPr>
          <a:xfrm>
            <a:off x="7955279" y="2322576"/>
            <a:ext cx="3566160" cy="237744"/>
          </a:xfrm>
          <a:prstGeom prst="rect">
            <a:avLst/>
          </a:prstGeom>
          <a:noFill/>
        </p:spPr>
        <p:txBody>
          <a:bodyPr wrap="square" lIns="0" rIns="0" tIns="0" bIns="0" anchor="t">
            <a:spAutoFit/>
          </a:bodyPr>
          <a:lstStyle/>
          <a:p>
            <a:pPr algn="l">
              <a:lnSpc>
                <a:spcPct val="100000"/>
              </a:lnSpc>
            </a:pPr>
            <a:r>
              <a:rPr sz="1250" b="1" i="0">
                <a:solidFill>
                  <a:srgbClr val="33CCCC"/>
                </a:solidFill>
                <a:latin typeface="Calibri"/>
              </a:rPr>
              <a:t>Weeks 1–4</a:t>
            </a:r>
          </a:p>
        </p:txBody>
      </p:sp>
      <p:sp>
        <p:nvSpPr>
          <p:cNvPr id="32" name="s0"/>
          <p:cNvSpPr txBox="1"/>
          <p:nvPr/>
        </p:nvSpPr>
        <p:spPr>
          <a:xfrm>
            <a:off x="7955279" y="2578608"/>
            <a:ext cx="3611880" cy="457200"/>
          </a:xfrm>
          <a:prstGeom prst="rect">
            <a:avLst/>
          </a:prstGeom>
          <a:noFill/>
        </p:spPr>
        <p:txBody>
          <a:bodyPr wrap="square" lIns="0" rIns="0" tIns="0" bIns="0" anchor="t">
            <a:spAutoFit/>
          </a:bodyPr>
          <a:lstStyle/>
          <a:p>
            <a:pPr algn="l">
              <a:lnSpc>
                <a:spcPct val="112000"/>
              </a:lnSpc>
            </a:pPr>
            <a:r>
              <a:rPr sz="1100" b="0" i="0">
                <a:solidFill>
                  <a:srgbClr val="1A1A1A"/>
                </a:solidFill>
                <a:latin typeface="Calibri"/>
              </a:rPr>
              <a:t>Problem definition, proposal audit, mentor selection</a:t>
            </a:r>
          </a:p>
        </p:txBody>
      </p:sp>
      <p:sp>
        <p:nvSpPr>
          <p:cNvPr id="33" name="w1"/>
          <p:cNvSpPr txBox="1"/>
          <p:nvPr/>
        </p:nvSpPr>
        <p:spPr>
          <a:xfrm>
            <a:off x="7955279" y="3182112"/>
            <a:ext cx="3566160" cy="237744"/>
          </a:xfrm>
          <a:prstGeom prst="rect">
            <a:avLst/>
          </a:prstGeom>
          <a:noFill/>
        </p:spPr>
        <p:txBody>
          <a:bodyPr wrap="square" lIns="0" rIns="0" tIns="0" bIns="0" anchor="t">
            <a:spAutoFit/>
          </a:bodyPr>
          <a:lstStyle/>
          <a:p>
            <a:pPr algn="l">
              <a:lnSpc>
                <a:spcPct val="100000"/>
              </a:lnSpc>
            </a:pPr>
            <a:r>
              <a:rPr sz="1250" b="1" i="0">
                <a:solidFill>
                  <a:srgbClr val="33CCCC"/>
                </a:solidFill>
                <a:latin typeface="Calibri"/>
              </a:rPr>
              <a:t>Weeks 5–10</a:t>
            </a:r>
          </a:p>
        </p:txBody>
      </p:sp>
      <p:sp>
        <p:nvSpPr>
          <p:cNvPr id="34" name="s1"/>
          <p:cNvSpPr txBox="1"/>
          <p:nvPr/>
        </p:nvSpPr>
        <p:spPr>
          <a:xfrm>
            <a:off x="7955279" y="3438144"/>
            <a:ext cx="3611880" cy="457200"/>
          </a:xfrm>
          <a:prstGeom prst="rect">
            <a:avLst/>
          </a:prstGeom>
          <a:noFill/>
        </p:spPr>
        <p:txBody>
          <a:bodyPr wrap="square" lIns="0" rIns="0" tIns="0" bIns="0" anchor="t">
            <a:spAutoFit/>
          </a:bodyPr>
          <a:lstStyle/>
          <a:p>
            <a:pPr algn="l">
              <a:lnSpc>
                <a:spcPct val="112000"/>
              </a:lnSpc>
            </a:pPr>
            <a:r>
              <a:rPr sz="1100" b="0" i="0">
                <a:solidFill>
                  <a:srgbClr val="1A1A1A"/>
                </a:solidFill>
                <a:latin typeface="Calibri"/>
              </a:rPr>
              <a:t>Literature survey across four strands</a:t>
            </a:r>
          </a:p>
        </p:txBody>
      </p:sp>
      <p:sp>
        <p:nvSpPr>
          <p:cNvPr id="35" name="w2"/>
          <p:cNvSpPr txBox="1"/>
          <p:nvPr/>
        </p:nvSpPr>
        <p:spPr>
          <a:xfrm>
            <a:off x="7955279" y="4041648"/>
            <a:ext cx="3566160" cy="237744"/>
          </a:xfrm>
          <a:prstGeom prst="rect">
            <a:avLst/>
          </a:prstGeom>
          <a:noFill/>
        </p:spPr>
        <p:txBody>
          <a:bodyPr wrap="square" lIns="0" rIns="0" tIns="0" bIns="0" anchor="t">
            <a:spAutoFit/>
          </a:bodyPr>
          <a:lstStyle/>
          <a:p>
            <a:pPr algn="l">
              <a:lnSpc>
                <a:spcPct val="100000"/>
              </a:lnSpc>
            </a:pPr>
            <a:r>
              <a:rPr sz="1250" b="1" i="0">
                <a:solidFill>
                  <a:srgbClr val="33CCCC"/>
                </a:solidFill>
                <a:latin typeface="Calibri"/>
              </a:rPr>
              <a:t>Weeks 11–14</a:t>
            </a:r>
          </a:p>
        </p:txBody>
      </p:sp>
      <p:sp>
        <p:nvSpPr>
          <p:cNvPr id="36" name="s2"/>
          <p:cNvSpPr txBox="1"/>
          <p:nvPr/>
        </p:nvSpPr>
        <p:spPr>
          <a:xfrm>
            <a:off x="7955279" y="4297680"/>
            <a:ext cx="3611880" cy="457200"/>
          </a:xfrm>
          <a:prstGeom prst="rect">
            <a:avLst/>
          </a:prstGeom>
          <a:noFill/>
        </p:spPr>
        <p:txBody>
          <a:bodyPr wrap="square" lIns="0" rIns="0" tIns="0" bIns="0" anchor="t">
            <a:spAutoFit/>
          </a:bodyPr>
          <a:lstStyle/>
          <a:p>
            <a:pPr algn="l">
              <a:lnSpc>
                <a:spcPct val="112000"/>
              </a:lnSpc>
            </a:pPr>
            <a:r>
              <a:rPr sz="1100" b="0" i="0">
                <a:solidFill>
                  <a:srgbClr val="1A1A1A"/>
                </a:solidFill>
                <a:latin typeface="Calibri"/>
              </a:rPr>
              <a:t>Requirements, system design, calibration protocol</a:t>
            </a:r>
          </a:p>
        </p:txBody>
      </p:sp>
      <p:sp>
        <p:nvSpPr>
          <p:cNvPr id="37" name="w3"/>
          <p:cNvSpPr txBox="1"/>
          <p:nvPr/>
        </p:nvSpPr>
        <p:spPr>
          <a:xfrm>
            <a:off x="7955279" y="4901183"/>
            <a:ext cx="3566160" cy="237744"/>
          </a:xfrm>
          <a:prstGeom prst="rect">
            <a:avLst/>
          </a:prstGeom>
          <a:noFill/>
        </p:spPr>
        <p:txBody>
          <a:bodyPr wrap="square" lIns="0" rIns="0" tIns="0" bIns="0" anchor="t">
            <a:spAutoFit/>
          </a:bodyPr>
          <a:lstStyle/>
          <a:p>
            <a:pPr algn="l">
              <a:lnSpc>
                <a:spcPct val="100000"/>
              </a:lnSpc>
            </a:pPr>
            <a:r>
              <a:rPr sz="1250" b="1" i="0">
                <a:solidFill>
                  <a:srgbClr val="33CCCC"/>
                </a:solidFill>
                <a:latin typeface="Calibri"/>
              </a:rPr>
              <a:t>Weeks 15–17</a:t>
            </a:r>
          </a:p>
        </p:txBody>
      </p:sp>
      <p:sp>
        <p:nvSpPr>
          <p:cNvPr id="38" name="s3"/>
          <p:cNvSpPr txBox="1"/>
          <p:nvPr/>
        </p:nvSpPr>
        <p:spPr>
          <a:xfrm>
            <a:off x="7955279" y="5157216"/>
            <a:ext cx="3611880" cy="457200"/>
          </a:xfrm>
          <a:prstGeom prst="rect">
            <a:avLst/>
          </a:prstGeom>
          <a:noFill/>
        </p:spPr>
        <p:txBody>
          <a:bodyPr wrap="square" lIns="0" rIns="0" tIns="0" bIns="0" anchor="t">
            <a:spAutoFit/>
          </a:bodyPr>
          <a:lstStyle/>
          <a:p>
            <a:pPr algn="l">
              <a:lnSpc>
                <a:spcPct val="112000"/>
              </a:lnSpc>
            </a:pPr>
            <a:r>
              <a:rPr sz="1100" b="0" i="0">
                <a:solidFill>
                  <a:srgbClr val="1A1A1A"/>
                </a:solidFill>
                <a:latin typeface="Calibri"/>
              </a:rPr>
              <a:t>Initial prototype and review preparation</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30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3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3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300"/>
                                        <p:tgtEl>
                                          <p:spTgt spid="1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300"/>
                                        <p:tgtEl>
                                          <p:spTgt spid="1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300"/>
                                        <p:tgtEl>
                                          <p:spTgt spid="1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300"/>
                                        <p:tgtEl>
                                          <p:spTgt spid="15"/>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300"/>
                                        <p:tgtEl>
                                          <p:spTgt spid="16"/>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300"/>
                                        <p:tgtEl>
                                          <p:spTgt spid="17"/>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300"/>
                                        <p:tgtEl>
                                          <p:spTgt spid="1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30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300"/>
                                        <p:tgtEl>
                                          <p:spTgt spid="20"/>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300"/>
                                        <p:tgtEl>
                                          <p:spTgt spid="21"/>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300"/>
                                        <p:tgtEl>
                                          <p:spTgt spid="22"/>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300"/>
                                        <p:tgtEl>
                                          <p:spTgt spid="23"/>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300"/>
                                        <p:tgtEl>
                                          <p:spTgt spid="24"/>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300"/>
                                        <p:tgtEl>
                                          <p:spTgt spid="25"/>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300"/>
                                        <p:tgtEl>
                                          <p:spTgt spid="26"/>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300"/>
                                        <p:tgtEl>
                                          <p:spTgt spid="27"/>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8"/>
                                        </p:tgtEl>
                                        <p:attrNameLst>
                                          <p:attrName>style.visibility</p:attrName>
                                        </p:attrNameLst>
                                      </p:cBhvr>
                                      <p:to>
                                        <p:strVal val="visible"/>
                                      </p:to>
                                    </p:set>
                                    <p:animEffect transition="in" filter="fade">
                                      <p:cBhvr>
                                        <p:cTn id="73" dur="300"/>
                                        <p:tgtEl>
                                          <p:spTgt spid="28"/>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9"/>
                                        </p:tgtEl>
                                        <p:attrNameLst>
                                          <p:attrName>style.visibility</p:attrName>
                                        </p:attrNameLst>
                                      </p:cBhvr>
                                      <p:to>
                                        <p:strVal val="visible"/>
                                      </p:to>
                                    </p:set>
                                    <p:animEffect transition="in" filter="fade">
                                      <p:cBhvr>
                                        <p:cTn id="76" dur="300"/>
                                        <p:tgtEl>
                                          <p:spTgt spid="29"/>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30"/>
                                        </p:tgtEl>
                                        <p:attrNameLst>
                                          <p:attrName>style.visibility</p:attrName>
                                        </p:attrNameLst>
                                      </p:cBhvr>
                                      <p:to>
                                        <p:strVal val="visible"/>
                                      </p:to>
                                    </p:set>
                                    <p:animEffect transition="in" filter="fade">
                                      <p:cBhvr>
                                        <p:cTn id="81" dur="300"/>
                                        <p:tgtEl>
                                          <p:spTgt spid="30"/>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grpId="0" nodeType="clickEffect">
                                  <p:stCondLst>
                                    <p:cond delay="0"/>
                                  </p:stCondLst>
                                  <p:childTnLst>
                                    <p:set>
                                      <p:cBhvr>
                                        <p:cTn id="85" dur="1" fill="hold">
                                          <p:stCondLst>
                                            <p:cond delay="0"/>
                                          </p:stCondLst>
                                        </p:cTn>
                                        <p:tgtEl>
                                          <p:spTgt spid="31"/>
                                        </p:tgtEl>
                                        <p:attrNameLst>
                                          <p:attrName>style.visibility</p:attrName>
                                        </p:attrNameLst>
                                      </p:cBhvr>
                                      <p:to>
                                        <p:strVal val="visible"/>
                                      </p:to>
                                    </p:set>
                                    <p:animEffect transition="in" filter="fade">
                                      <p:cBhvr>
                                        <p:cTn id="86" dur="300"/>
                                        <p:tgtEl>
                                          <p:spTgt spid="31"/>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2"/>
                                        </p:tgtEl>
                                        <p:attrNameLst>
                                          <p:attrName>style.visibility</p:attrName>
                                        </p:attrNameLst>
                                      </p:cBhvr>
                                      <p:to>
                                        <p:strVal val="visible"/>
                                      </p:to>
                                    </p:set>
                                    <p:animEffect transition="in" filter="fade">
                                      <p:cBhvr>
                                        <p:cTn id="89" dur="300"/>
                                        <p:tgtEl>
                                          <p:spTgt spid="32"/>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33"/>
                                        </p:tgtEl>
                                        <p:attrNameLst>
                                          <p:attrName>style.visibility</p:attrName>
                                        </p:attrNameLst>
                                      </p:cBhvr>
                                      <p:to>
                                        <p:strVal val="visible"/>
                                      </p:to>
                                    </p:set>
                                    <p:animEffect transition="in" filter="fade">
                                      <p:cBhvr>
                                        <p:cTn id="94" dur="300"/>
                                        <p:tgtEl>
                                          <p:spTgt spid="33"/>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4"/>
                                        </p:tgtEl>
                                        <p:attrNameLst>
                                          <p:attrName>style.visibility</p:attrName>
                                        </p:attrNameLst>
                                      </p:cBhvr>
                                      <p:to>
                                        <p:strVal val="visible"/>
                                      </p:to>
                                    </p:set>
                                    <p:animEffect transition="in" filter="fade">
                                      <p:cBhvr>
                                        <p:cTn id="97" dur="300"/>
                                        <p:tgtEl>
                                          <p:spTgt spid="34"/>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35"/>
                                        </p:tgtEl>
                                        <p:attrNameLst>
                                          <p:attrName>style.visibility</p:attrName>
                                        </p:attrNameLst>
                                      </p:cBhvr>
                                      <p:to>
                                        <p:strVal val="visible"/>
                                      </p:to>
                                    </p:set>
                                    <p:animEffect transition="in" filter="fade">
                                      <p:cBhvr>
                                        <p:cTn id="102" dur="300"/>
                                        <p:tgtEl>
                                          <p:spTgt spid="35"/>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6"/>
                                        </p:tgtEl>
                                        <p:attrNameLst>
                                          <p:attrName>style.visibility</p:attrName>
                                        </p:attrNameLst>
                                      </p:cBhvr>
                                      <p:to>
                                        <p:strVal val="visible"/>
                                      </p:to>
                                    </p:set>
                                    <p:animEffect transition="in" filter="fade">
                                      <p:cBhvr>
                                        <p:cTn id="105" dur="300"/>
                                        <p:tgtEl>
                                          <p:spTgt spid="36"/>
                                        </p:tgtEl>
                                      </p:cBhvr>
                                    </p:animEffect>
                                  </p:childTnLst>
                                </p:cTn>
                              </p:par>
                            </p:childTnLst>
                          </p:cTn>
                        </p:par>
                      </p:childTnLst>
                    </p:cTn>
                  </p:par>
                  <p:par>
                    <p:cTn id="106" fill="hold">
                      <p:stCondLst>
                        <p:cond delay="indefinite"/>
                      </p:stCondLst>
                      <p:childTnLst>
                        <p:par>
                          <p:cTn id="107" fill="hold">
                            <p:stCondLst>
                              <p:cond delay="0"/>
                            </p:stCondLst>
                            <p:childTnLst>
                              <p:par>
                                <p:cTn id="108" presetID="10" presetClass="entr" presetSubtype="0" fill="hold" grpId="0" nodeType="clickEffect">
                                  <p:stCondLst>
                                    <p:cond delay="0"/>
                                  </p:stCondLst>
                                  <p:childTnLst>
                                    <p:set>
                                      <p:cBhvr>
                                        <p:cTn id="109" dur="1" fill="hold">
                                          <p:stCondLst>
                                            <p:cond delay="0"/>
                                          </p:stCondLst>
                                        </p:cTn>
                                        <p:tgtEl>
                                          <p:spTgt spid="37"/>
                                        </p:tgtEl>
                                        <p:attrNameLst>
                                          <p:attrName>style.visibility</p:attrName>
                                        </p:attrNameLst>
                                      </p:cBhvr>
                                      <p:to>
                                        <p:strVal val="visible"/>
                                      </p:to>
                                    </p:set>
                                    <p:animEffect transition="in" filter="fade">
                                      <p:cBhvr>
                                        <p:cTn id="110" dur="300"/>
                                        <p:tgtEl>
                                          <p:spTgt spid="37"/>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38"/>
                                        </p:tgtEl>
                                        <p:attrNameLst>
                                          <p:attrName>style.visibility</p:attrName>
                                        </p:attrNameLst>
                                      </p:cBhvr>
                                      <p:to>
                                        <p:strVal val="visible"/>
                                      </p:to>
                                    </p:set>
                                    <p:animEffect transition="in" filter="fade">
                                      <p:cBhvr>
                                        <p:cTn id="113" dur="3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ogo" descr="PES University - Logo 2.png"/>
          <p:cNvPicPr>
            <a:picLocks noChangeAspect="1"/>
          </p:cNvPicPr>
          <p:nvPr/>
        </p:nvPicPr>
        <p:blipFill>
          <a:blip r:embed="rId2"/>
          <a:stretch>
            <a:fillRect/>
          </a:stretch>
        </p:blipFill>
        <p:spPr>
          <a:xfrm>
            <a:off x="10533888" y="146304"/>
            <a:ext cx="1298448" cy="591337"/>
          </a:xfrm>
          <a:prstGeom prst="rect">
            <a:avLst/>
          </a:prstGeom>
        </p:spPr>
      </p:pic>
      <p:sp>
        <p:nvSpPr>
          <p:cNvPr id="3" name="runhead"/>
          <p:cNvSpPr txBox="1"/>
          <p:nvPr/>
        </p:nvSpPr>
        <p:spPr>
          <a:xfrm>
            <a:off x="411480" y="237744"/>
            <a:ext cx="6858000" cy="274320"/>
          </a:xfrm>
          <a:prstGeom prst="rect">
            <a:avLst/>
          </a:prstGeom>
          <a:noFill/>
        </p:spPr>
        <p:txBody>
          <a:bodyPr wrap="square" lIns="0" rIns="0" tIns="0" bIns="0" anchor="t">
            <a:spAutoFit/>
          </a:bodyPr>
          <a:lstStyle/>
          <a:p>
            <a:pPr algn="l">
              <a:lnSpc>
                <a:spcPct val="100000"/>
              </a:lnSpc>
            </a:pPr>
            <a:r>
              <a:rPr sz="1050" b="1" i="0">
                <a:solidFill>
                  <a:srgbClr val="7F7F7F"/>
                </a:solidFill>
                <a:latin typeface="Calibri"/>
              </a:rPr>
              <a:t>CALIPER: Calibrating Interpretability Readouts for Language Models</a:t>
            </a:r>
          </a:p>
        </p:txBody>
      </p:sp>
      <p:sp>
        <p:nvSpPr>
          <p:cNvPr id="4" name="heading"/>
          <p:cNvSpPr txBox="1"/>
          <p:nvPr/>
        </p:nvSpPr>
        <p:spPr>
          <a:xfrm>
            <a:off x="2926080" y="868680"/>
            <a:ext cx="7452360" cy="502920"/>
          </a:xfrm>
          <a:prstGeom prst="rect">
            <a:avLst/>
          </a:prstGeom>
          <a:noFill/>
        </p:spPr>
        <p:txBody>
          <a:bodyPr wrap="square" lIns="0" rIns="0" tIns="0" bIns="0" anchor="t">
            <a:spAutoFit/>
          </a:bodyPr>
          <a:lstStyle/>
          <a:p>
            <a:pPr algn="r">
              <a:lnSpc>
                <a:spcPct val="100000"/>
              </a:lnSpc>
            </a:pPr>
            <a:r>
              <a:rPr sz="2700" b="0" i="0">
                <a:solidFill>
                  <a:srgbClr val="1A1A1A"/>
                </a:solidFill>
                <a:latin typeface="Calibri"/>
              </a:rPr>
              <a:t>Any other information</a:t>
            </a:r>
          </a:p>
        </p:txBody>
      </p:sp>
      <p:sp>
        <p:nvSpPr>
          <p:cNvPr id="5" name="tealrule"/>
          <p:cNvSpPr/>
          <p:nvPr/>
        </p:nvSpPr>
        <p:spPr>
          <a:xfrm>
            <a:off x="3017520" y="1517904"/>
            <a:ext cx="7360920" cy="41148"/>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airline"/>
          <p:cNvSpPr/>
          <p:nvPr/>
        </p:nvSpPr>
        <p:spPr>
          <a:xfrm>
            <a:off x="411480" y="1664208"/>
            <a:ext cx="11018520" cy="7315"/>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band"/>
          <p:cNvSpPr/>
          <p:nvPr/>
        </p:nvSpPr>
        <p:spPr>
          <a:xfrm>
            <a:off x="0" y="6528816"/>
            <a:ext cx="12191695" cy="329184"/>
          </a:xfrm>
          <a:prstGeom prst="rect">
            <a:avLst/>
          </a:prstGeom>
          <a:solidFill>
            <a:srgbClr val="BD5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text"/>
          <p:cNvSpPr txBox="1"/>
          <p:nvPr/>
        </p:nvSpPr>
        <p:spPr>
          <a:xfrm>
            <a:off x="0" y="6620255"/>
            <a:ext cx="12191695" cy="201168"/>
          </a:xfrm>
          <a:prstGeom prst="rect">
            <a:avLst/>
          </a:prstGeom>
          <a:noFill/>
        </p:spPr>
        <p:txBody>
          <a:bodyPr wrap="square" lIns="0" rIns="0" tIns="0" bIns="0" anchor="t">
            <a:spAutoFit/>
          </a:bodyPr>
          <a:lstStyle/>
          <a:p>
            <a:pPr algn="ctr">
              <a:lnSpc>
                <a:spcPct val="100000"/>
              </a:lnSpc>
            </a:pPr>
            <a:r>
              <a:rPr sz="800" b="0" i="0">
                <a:solidFill>
                  <a:srgbClr val="FFFFFF"/>
                </a:solidFill>
                <a:latin typeface="Calibri"/>
              </a:rPr>
              <a:t>SANTOSH CHEETHIRALA_NIVAS REDDY DANDU_C. SREE KRISHNA KOUSHIK_MARREDDY RUSHI ESWAR REDDY</a:t>
            </a:r>
          </a:p>
        </p:txBody>
      </p:sp>
      <p:sp>
        <p:nvSpPr>
          <p:cNvPr id="9" name="bul0"/>
          <p:cNvSpPr txBox="1"/>
          <p:nvPr/>
        </p:nvSpPr>
        <p:spPr>
          <a:xfrm>
            <a:off x="1115568" y="1901952"/>
            <a:ext cx="10222992" cy="548640"/>
          </a:xfrm>
          <a:prstGeom prst="rect">
            <a:avLst/>
          </a:prstGeom>
          <a:noFill/>
        </p:spPr>
        <p:txBody>
          <a:bodyPr wrap="square" lIns="0" rIns="0" tIns="0" bIns="0" anchor="t">
            <a:spAutoFit/>
          </a:bodyPr>
          <a:lstStyle/>
          <a:p>
            <a:pPr algn="l">
              <a:lnSpc>
                <a:spcPct val="118000"/>
              </a:lnSpc>
            </a:pPr>
            <a:r>
              <a:rPr sz="1500" b="0" i="0">
                <a:solidFill>
                  <a:srgbClr val="1A1A1A"/>
                </a:solidFill>
                <a:latin typeface="Calibri"/>
              </a:rPr>
              <a:t>The problem was selected on 18 August 2026 from a set of seven candidate proposals. The mentor chose this one for its neuroscience framing.</a:t>
            </a:r>
          </a:p>
        </p:txBody>
      </p:sp>
      <p:sp>
        <p:nvSpPr>
          <p:cNvPr id="10" name="dot0"/>
          <p:cNvSpPr txBox="1"/>
          <p:nvPr/>
        </p:nvSpPr>
        <p:spPr>
          <a:xfrm>
            <a:off x="822960" y="1920240"/>
            <a:ext cx="274320" cy="274320"/>
          </a:xfrm>
          <a:prstGeom prst="rect">
            <a:avLst/>
          </a:prstGeom>
          <a:noFill/>
        </p:spPr>
        <p:txBody>
          <a:bodyPr wrap="square" lIns="0" rIns="0" tIns="0" bIns="0" anchor="t">
            <a:spAutoFit/>
          </a:bodyPr>
          <a:lstStyle/>
          <a:p>
            <a:pPr algn="l">
              <a:lnSpc>
                <a:spcPct val="100000"/>
              </a:lnSpc>
            </a:pPr>
            <a:r>
              <a:rPr sz="1500" b="1" i="0">
                <a:solidFill>
                  <a:srgbClr val="BD582B"/>
                </a:solidFill>
                <a:latin typeface="Calibri"/>
              </a:rPr>
              <a:t>•</a:t>
            </a:r>
          </a:p>
        </p:txBody>
      </p:sp>
      <p:sp>
        <p:nvSpPr>
          <p:cNvPr id="11" name="bul1"/>
          <p:cNvSpPr txBox="1"/>
          <p:nvPr/>
        </p:nvSpPr>
        <p:spPr>
          <a:xfrm>
            <a:off x="1115568" y="2542032"/>
            <a:ext cx="10222992" cy="548640"/>
          </a:xfrm>
          <a:prstGeom prst="rect">
            <a:avLst/>
          </a:prstGeom>
          <a:noFill/>
        </p:spPr>
        <p:txBody>
          <a:bodyPr wrap="square" lIns="0" rIns="0" tIns="0" bIns="0" anchor="t">
            <a:spAutoFit/>
          </a:bodyPr>
          <a:lstStyle/>
          <a:p>
            <a:pPr algn="l">
              <a:lnSpc>
                <a:spcPct val="118000"/>
              </a:lnSpc>
            </a:pPr>
            <a:r>
              <a:rPr sz="1500" b="0" i="0">
                <a:solidFill>
                  <a:srgbClr val="1A1A1A"/>
                </a:solidFill>
                <a:latin typeface="Calibri"/>
              </a:rPr>
              <a:t>One earlier framing was audited and killed before any work was committed to it — a published theorem and two prior papers made the claim untenable. Reporting that is part of the method.</a:t>
            </a:r>
          </a:p>
        </p:txBody>
      </p:sp>
      <p:sp>
        <p:nvSpPr>
          <p:cNvPr id="12" name="dot1"/>
          <p:cNvSpPr txBox="1"/>
          <p:nvPr/>
        </p:nvSpPr>
        <p:spPr>
          <a:xfrm>
            <a:off x="822960" y="2560320"/>
            <a:ext cx="274320" cy="274320"/>
          </a:xfrm>
          <a:prstGeom prst="rect">
            <a:avLst/>
          </a:prstGeom>
          <a:noFill/>
        </p:spPr>
        <p:txBody>
          <a:bodyPr wrap="square" lIns="0" rIns="0" tIns="0" bIns="0" anchor="t">
            <a:spAutoFit/>
          </a:bodyPr>
          <a:lstStyle/>
          <a:p>
            <a:pPr algn="l">
              <a:lnSpc>
                <a:spcPct val="100000"/>
              </a:lnSpc>
            </a:pPr>
            <a:r>
              <a:rPr sz="1500" b="1" i="0">
                <a:solidFill>
                  <a:srgbClr val="BD582B"/>
                </a:solidFill>
                <a:latin typeface="Calibri"/>
              </a:rPr>
              <a:t>•</a:t>
            </a:r>
          </a:p>
        </p:txBody>
      </p:sp>
      <p:sp>
        <p:nvSpPr>
          <p:cNvPr id="13" name="bul2"/>
          <p:cNvSpPr txBox="1"/>
          <p:nvPr/>
        </p:nvSpPr>
        <p:spPr>
          <a:xfrm>
            <a:off x="1115568" y="3182112"/>
            <a:ext cx="10222992" cy="548640"/>
          </a:xfrm>
          <a:prstGeom prst="rect">
            <a:avLst/>
          </a:prstGeom>
          <a:noFill/>
        </p:spPr>
        <p:txBody>
          <a:bodyPr wrap="square" lIns="0" rIns="0" tIns="0" bIns="0" anchor="t">
            <a:spAutoFit/>
          </a:bodyPr>
          <a:lstStyle/>
          <a:p>
            <a:pPr algn="l">
              <a:lnSpc>
                <a:spcPct val="118000"/>
              </a:lnSpc>
            </a:pPr>
            <a:r>
              <a:rPr sz="1500" b="0" i="0">
                <a:solidFill>
                  <a:srgbClr val="1A1A1A"/>
                </a:solidFill>
                <a:latin typeface="Calibri"/>
              </a:rPr>
              <a:t>Every experiment is pre-registered: the criterion is written down and committed before the run, so a result cannot be tuned after the fact.</a:t>
            </a:r>
          </a:p>
        </p:txBody>
      </p:sp>
      <p:sp>
        <p:nvSpPr>
          <p:cNvPr id="14" name="dot2"/>
          <p:cNvSpPr txBox="1"/>
          <p:nvPr/>
        </p:nvSpPr>
        <p:spPr>
          <a:xfrm>
            <a:off x="822960" y="3200400"/>
            <a:ext cx="274320" cy="274320"/>
          </a:xfrm>
          <a:prstGeom prst="rect">
            <a:avLst/>
          </a:prstGeom>
          <a:noFill/>
        </p:spPr>
        <p:txBody>
          <a:bodyPr wrap="square" lIns="0" rIns="0" tIns="0" bIns="0" anchor="t">
            <a:spAutoFit/>
          </a:bodyPr>
          <a:lstStyle/>
          <a:p>
            <a:pPr algn="l">
              <a:lnSpc>
                <a:spcPct val="100000"/>
              </a:lnSpc>
            </a:pPr>
            <a:r>
              <a:rPr sz="1500" b="1" i="0">
                <a:solidFill>
                  <a:srgbClr val="BD582B"/>
                </a:solidFill>
                <a:latin typeface="Calibri"/>
              </a:rPr>
              <a:t>•</a:t>
            </a:r>
          </a:p>
        </p:txBody>
      </p:sp>
      <p:sp>
        <p:nvSpPr>
          <p:cNvPr id="15" name="bul3"/>
          <p:cNvSpPr txBox="1"/>
          <p:nvPr/>
        </p:nvSpPr>
        <p:spPr>
          <a:xfrm>
            <a:off x="1115568" y="3822192"/>
            <a:ext cx="10222992" cy="274320"/>
          </a:xfrm>
          <a:prstGeom prst="rect">
            <a:avLst/>
          </a:prstGeom>
          <a:noFill/>
        </p:spPr>
        <p:txBody>
          <a:bodyPr wrap="square" lIns="0" rIns="0" tIns="0" bIns="0" anchor="t">
            <a:spAutoFit/>
          </a:bodyPr>
          <a:lstStyle/>
          <a:p>
            <a:pPr algn="l">
              <a:lnSpc>
                <a:spcPct val="118000"/>
              </a:lnSpc>
            </a:pPr>
            <a:r>
              <a:rPr sz="1500" b="0" i="0">
                <a:solidFill>
                  <a:srgbClr val="1A1A1A"/>
                </a:solidFill>
                <a:latin typeface="Calibri"/>
              </a:rPr>
              <a:t>No personal data. No proprietary data. No paid compute.</a:t>
            </a:r>
          </a:p>
        </p:txBody>
      </p:sp>
      <p:sp>
        <p:nvSpPr>
          <p:cNvPr id="16" name="dot3"/>
          <p:cNvSpPr txBox="1"/>
          <p:nvPr/>
        </p:nvSpPr>
        <p:spPr>
          <a:xfrm>
            <a:off x="822960" y="3840480"/>
            <a:ext cx="274320" cy="274320"/>
          </a:xfrm>
          <a:prstGeom prst="rect">
            <a:avLst/>
          </a:prstGeom>
          <a:noFill/>
        </p:spPr>
        <p:txBody>
          <a:bodyPr wrap="square" lIns="0" rIns="0" tIns="0" bIns="0" anchor="t">
            <a:spAutoFit/>
          </a:bodyPr>
          <a:lstStyle/>
          <a:p>
            <a:pPr algn="l">
              <a:lnSpc>
                <a:spcPct val="100000"/>
              </a:lnSpc>
            </a:pPr>
            <a:r>
              <a:rPr sz="1500" b="1" i="0">
                <a:solidFill>
                  <a:srgbClr val="BD582B"/>
                </a:solidFill>
                <a:latin typeface="Calibri"/>
              </a:rPr>
              <a:t>•</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5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5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50"/>
                                        <p:tgtEl>
                                          <p:spTgt spid="12"/>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50"/>
                                        <p:tgtEl>
                                          <p:spTgt spid="1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45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4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ogo" descr="PES University - Logo 2.png"/>
          <p:cNvPicPr>
            <a:picLocks noChangeAspect="1"/>
          </p:cNvPicPr>
          <p:nvPr/>
        </p:nvPicPr>
        <p:blipFill>
          <a:blip r:embed="rId2"/>
          <a:stretch>
            <a:fillRect/>
          </a:stretch>
        </p:blipFill>
        <p:spPr>
          <a:xfrm>
            <a:off x="10533888" y="146304"/>
            <a:ext cx="1298448" cy="591337"/>
          </a:xfrm>
          <a:prstGeom prst="rect">
            <a:avLst/>
          </a:prstGeom>
        </p:spPr>
      </p:pic>
      <p:sp>
        <p:nvSpPr>
          <p:cNvPr id="3" name="runhead"/>
          <p:cNvSpPr txBox="1"/>
          <p:nvPr/>
        </p:nvSpPr>
        <p:spPr>
          <a:xfrm>
            <a:off x="411480" y="237744"/>
            <a:ext cx="6858000" cy="274320"/>
          </a:xfrm>
          <a:prstGeom prst="rect">
            <a:avLst/>
          </a:prstGeom>
          <a:noFill/>
        </p:spPr>
        <p:txBody>
          <a:bodyPr wrap="square" lIns="0" rIns="0" tIns="0" bIns="0" anchor="t">
            <a:spAutoFit/>
          </a:bodyPr>
          <a:lstStyle/>
          <a:p>
            <a:pPr algn="l">
              <a:lnSpc>
                <a:spcPct val="100000"/>
              </a:lnSpc>
            </a:pPr>
            <a:r>
              <a:rPr sz="1050" b="1" i="0">
                <a:solidFill>
                  <a:srgbClr val="7F7F7F"/>
                </a:solidFill>
                <a:latin typeface="Calibri"/>
              </a:rPr>
              <a:t>CALIPER: Calibrating Interpretability Readouts for Language Models</a:t>
            </a:r>
          </a:p>
        </p:txBody>
      </p:sp>
      <p:sp>
        <p:nvSpPr>
          <p:cNvPr id="4" name="heading"/>
          <p:cNvSpPr txBox="1"/>
          <p:nvPr/>
        </p:nvSpPr>
        <p:spPr>
          <a:xfrm>
            <a:off x="2926080" y="868680"/>
            <a:ext cx="7452360" cy="502920"/>
          </a:xfrm>
          <a:prstGeom prst="rect">
            <a:avLst/>
          </a:prstGeom>
          <a:noFill/>
        </p:spPr>
        <p:txBody>
          <a:bodyPr wrap="square" lIns="0" rIns="0" tIns="0" bIns="0" anchor="t">
            <a:spAutoFit/>
          </a:bodyPr>
          <a:lstStyle/>
          <a:p>
            <a:pPr algn="r">
              <a:lnSpc>
                <a:spcPct val="100000"/>
              </a:lnSpc>
            </a:pPr>
            <a:r>
              <a:rPr sz="2700" b="0" i="0">
                <a:solidFill>
                  <a:srgbClr val="1A1A1A"/>
                </a:solidFill>
                <a:latin typeface="Calibri"/>
              </a:rPr>
              <a:t>References</a:t>
            </a:r>
          </a:p>
        </p:txBody>
      </p:sp>
      <p:sp>
        <p:nvSpPr>
          <p:cNvPr id="5" name="tealrule"/>
          <p:cNvSpPr/>
          <p:nvPr/>
        </p:nvSpPr>
        <p:spPr>
          <a:xfrm>
            <a:off x="3017520" y="1517904"/>
            <a:ext cx="7360920" cy="41148"/>
          </a:xfrm>
          <a:prstGeom prst="rect">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airline"/>
          <p:cNvSpPr/>
          <p:nvPr/>
        </p:nvSpPr>
        <p:spPr>
          <a:xfrm>
            <a:off x="411480" y="1664208"/>
            <a:ext cx="11018520" cy="7315"/>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ootband"/>
          <p:cNvSpPr/>
          <p:nvPr/>
        </p:nvSpPr>
        <p:spPr>
          <a:xfrm>
            <a:off x="0" y="6528816"/>
            <a:ext cx="12191695" cy="329184"/>
          </a:xfrm>
          <a:prstGeom prst="rect">
            <a:avLst/>
          </a:prstGeom>
          <a:solidFill>
            <a:srgbClr val="BD5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oottext"/>
          <p:cNvSpPr txBox="1"/>
          <p:nvPr/>
        </p:nvSpPr>
        <p:spPr>
          <a:xfrm>
            <a:off x="0" y="6620255"/>
            <a:ext cx="12191695" cy="201168"/>
          </a:xfrm>
          <a:prstGeom prst="rect">
            <a:avLst/>
          </a:prstGeom>
          <a:noFill/>
        </p:spPr>
        <p:txBody>
          <a:bodyPr wrap="square" lIns="0" rIns="0" tIns="0" bIns="0" anchor="t">
            <a:spAutoFit/>
          </a:bodyPr>
          <a:lstStyle/>
          <a:p>
            <a:pPr algn="ctr">
              <a:lnSpc>
                <a:spcPct val="100000"/>
              </a:lnSpc>
            </a:pPr>
            <a:r>
              <a:rPr sz="800" b="0" i="0">
                <a:solidFill>
                  <a:srgbClr val="FFFFFF"/>
                </a:solidFill>
                <a:latin typeface="Calibri"/>
              </a:rPr>
              <a:t>SANTOSH CHEETHIRALA_NIVAS REDDY DANDU_C. SREE KRISHNA KOUSHIK_MARREDDY RUSHI ESWAR REDDY</a:t>
            </a:r>
          </a:p>
        </p:txBody>
      </p:sp>
      <p:sp>
        <p:nvSpPr>
          <p:cNvPr id="9" name="TextBox 8"/>
          <p:cNvSpPr txBox="1"/>
          <p:nvPr/>
        </p:nvSpPr>
        <p:spPr>
          <a:xfrm>
            <a:off x="731520" y="1892807"/>
            <a:ext cx="320040" cy="219456"/>
          </a:xfrm>
          <a:prstGeom prst="rect">
            <a:avLst/>
          </a:prstGeom>
          <a:noFill/>
        </p:spPr>
        <p:txBody>
          <a:bodyPr wrap="square" lIns="0" rIns="0" tIns="0" bIns="0" anchor="t">
            <a:spAutoFit/>
          </a:bodyPr>
          <a:lstStyle/>
          <a:p>
            <a:pPr algn="l">
              <a:lnSpc>
                <a:spcPct val="100000"/>
              </a:lnSpc>
            </a:pPr>
            <a:r>
              <a:rPr sz="1050" b="1" i="0">
                <a:solidFill>
                  <a:srgbClr val="33CCCC"/>
                </a:solidFill>
                <a:latin typeface="Calibri"/>
              </a:rPr>
              <a:t>[1]</a:t>
            </a:r>
          </a:p>
        </p:txBody>
      </p:sp>
      <p:sp>
        <p:nvSpPr>
          <p:cNvPr id="10" name="TextBox 9"/>
          <p:cNvSpPr txBox="1"/>
          <p:nvPr/>
        </p:nvSpPr>
        <p:spPr>
          <a:xfrm>
            <a:off x="1143000" y="1883664"/>
            <a:ext cx="10332720" cy="402336"/>
          </a:xfrm>
          <a:prstGeom prst="rect">
            <a:avLst/>
          </a:prstGeom>
          <a:noFill/>
        </p:spPr>
        <p:txBody>
          <a:bodyPr wrap="square" lIns="0" rIns="0" tIns="0" bIns="0" anchor="t">
            <a:spAutoFit/>
          </a:bodyPr>
          <a:lstStyle/>
          <a:p>
            <a:pPr algn="l">
              <a:lnSpc>
                <a:spcPct val="112000"/>
              </a:lnSpc>
            </a:pPr>
            <a:r>
              <a:rPr sz="1050" b="0" i="0">
                <a:solidFill>
                  <a:srgbClr val="1A1A1A"/>
                </a:solidFill>
                <a:latin typeface="Calibri"/>
              </a:rPr>
              <a:t>Sharpee, T., Rust, N. C., &amp; Bialek, W. (2004). Analyzing neural responses to natural signals: maximally informative dimensions. Neural Computation, 16(2), 223–250.</a:t>
            </a:r>
          </a:p>
        </p:txBody>
      </p:sp>
      <p:sp>
        <p:nvSpPr>
          <p:cNvPr id="11" name="TextBox 10"/>
          <p:cNvSpPr txBox="1"/>
          <p:nvPr/>
        </p:nvSpPr>
        <p:spPr>
          <a:xfrm>
            <a:off x="731520" y="2363724"/>
            <a:ext cx="320040" cy="219456"/>
          </a:xfrm>
          <a:prstGeom prst="rect">
            <a:avLst/>
          </a:prstGeom>
          <a:noFill/>
        </p:spPr>
        <p:txBody>
          <a:bodyPr wrap="square" lIns="0" rIns="0" tIns="0" bIns="0" anchor="t">
            <a:spAutoFit/>
          </a:bodyPr>
          <a:lstStyle/>
          <a:p>
            <a:pPr algn="l">
              <a:lnSpc>
                <a:spcPct val="100000"/>
              </a:lnSpc>
            </a:pPr>
            <a:r>
              <a:rPr sz="1050" b="1" i="0">
                <a:solidFill>
                  <a:srgbClr val="33CCCC"/>
                </a:solidFill>
                <a:latin typeface="Calibri"/>
              </a:rPr>
              <a:t>[2]</a:t>
            </a:r>
          </a:p>
        </p:txBody>
      </p:sp>
      <p:sp>
        <p:nvSpPr>
          <p:cNvPr id="12" name="TextBox 11"/>
          <p:cNvSpPr txBox="1"/>
          <p:nvPr/>
        </p:nvSpPr>
        <p:spPr>
          <a:xfrm>
            <a:off x="1143000" y="2354580"/>
            <a:ext cx="10332720" cy="402336"/>
          </a:xfrm>
          <a:prstGeom prst="rect">
            <a:avLst/>
          </a:prstGeom>
          <a:noFill/>
        </p:spPr>
        <p:txBody>
          <a:bodyPr wrap="square" lIns="0" rIns="0" tIns="0" bIns="0" anchor="t">
            <a:spAutoFit/>
          </a:bodyPr>
          <a:lstStyle/>
          <a:p>
            <a:pPr algn="l">
              <a:lnSpc>
                <a:spcPct val="112000"/>
              </a:lnSpc>
            </a:pPr>
            <a:r>
              <a:rPr sz="1050" b="0" i="0">
                <a:solidFill>
                  <a:srgbClr val="1A1A1A"/>
                </a:solidFill>
                <a:latin typeface="Calibri"/>
              </a:rPr>
              <a:t>Williamson, R. S., Sahani, M., &amp; Pillow, J. W. (2015). The equivalence of information-theoretic and likelihood-based methods for neural dimensionality reduction. PLoS Computational Biology, 11(4), e1004141.</a:t>
            </a:r>
          </a:p>
        </p:txBody>
      </p:sp>
      <p:sp>
        <p:nvSpPr>
          <p:cNvPr id="13" name="TextBox 12"/>
          <p:cNvSpPr txBox="1"/>
          <p:nvPr/>
        </p:nvSpPr>
        <p:spPr>
          <a:xfrm>
            <a:off x="731520" y="2834640"/>
            <a:ext cx="320040" cy="219456"/>
          </a:xfrm>
          <a:prstGeom prst="rect">
            <a:avLst/>
          </a:prstGeom>
          <a:noFill/>
        </p:spPr>
        <p:txBody>
          <a:bodyPr wrap="square" lIns="0" rIns="0" tIns="0" bIns="0" anchor="t">
            <a:spAutoFit/>
          </a:bodyPr>
          <a:lstStyle/>
          <a:p>
            <a:pPr algn="l">
              <a:lnSpc>
                <a:spcPct val="100000"/>
              </a:lnSpc>
            </a:pPr>
            <a:r>
              <a:rPr sz="1050" b="1" i="0">
                <a:solidFill>
                  <a:srgbClr val="33CCCC"/>
                </a:solidFill>
                <a:latin typeface="Calibri"/>
              </a:rPr>
              <a:t>[3]</a:t>
            </a:r>
          </a:p>
        </p:txBody>
      </p:sp>
      <p:sp>
        <p:nvSpPr>
          <p:cNvPr id="14" name="TextBox 13"/>
          <p:cNvSpPr txBox="1"/>
          <p:nvPr/>
        </p:nvSpPr>
        <p:spPr>
          <a:xfrm>
            <a:off x="1143000" y="2825496"/>
            <a:ext cx="10332720" cy="402336"/>
          </a:xfrm>
          <a:prstGeom prst="rect">
            <a:avLst/>
          </a:prstGeom>
          <a:noFill/>
        </p:spPr>
        <p:txBody>
          <a:bodyPr wrap="square" lIns="0" rIns="0" tIns="0" bIns="0" anchor="t">
            <a:spAutoFit/>
          </a:bodyPr>
          <a:lstStyle/>
          <a:p>
            <a:pPr algn="l">
              <a:lnSpc>
                <a:spcPct val="112000"/>
              </a:lnSpc>
            </a:pPr>
            <a:r>
              <a:rPr sz="1050" b="0" i="0">
                <a:solidFill>
                  <a:srgbClr val="1A1A1A"/>
                </a:solidFill>
                <a:latin typeface="Calibri"/>
              </a:rPr>
              <a:t>Olah, C., Cammarata, N., Schubert, L., Goh, G., Petrov, M., &amp; Carter, S. (2020). Zoom In: An Introduction to Circuits. Distill, 5(3).</a:t>
            </a:r>
          </a:p>
        </p:txBody>
      </p:sp>
      <p:sp>
        <p:nvSpPr>
          <p:cNvPr id="15" name="TextBox 14"/>
          <p:cNvSpPr txBox="1"/>
          <p:nvPr/>
        </p:nvSpPr>
        <p:spPr>
          <a:xfrm>
            <a:off x="731520" y="3305556"/>
            <a:ext cx="320040" cy="219456"/>
          </a:xfrm>
          <a:prstGeom prst="rect">
            <a:avLst/>
          </a:prstGeom>
          <a:noFill/>
        </p:spPr>
        <p:txBody>
          <a:bodyPr wrap="square" lIns="0" rIns="0" tIns="0" bIns="0" anchor="t">
            <a:spAutoFit/>
          </a:bodyPr>
          <a:lstStyle/>
          <a:p>
            <a:pPr algn="l">
              <a:lnSpc>
                <a:spcPct val="100000"/>
              </a:lnSpc>
            </a:pPr>
            <a:r>
              <a:rPr sz="1050" b="1" i="0">
                <a:solidFill>
                  <a:srgbClr val="33CCCC"/>
                </a:solidFill>
                <a:latin typeface="Calibri"/>
              </a:rPr>
              <a:t>[4]</a:t>
            </a:r>
          </a:p>
        </p:txBody>
      </p:sp>
      <p:sp>
        <p:nvSpPr>
          <p:cNvPr id="16" name="TextBox 15"/>
          <p:cNvSpPr txBox="1"/>
          <p:nvPr/>
        </p:nvSpPr>
        <p:spPr>
          <a:xfrm>
            <a:off x="1143000" y="3296412"/>
            <a:ext cx="10332720" cy="402336"/>
          </a:xfrm>
          <a:prstGeom prst="rect">
            <a:avLst/>
          </a:prstGeom>
          <a:noFill/>
        </p:spPr>
        <p:txBody>
          <a:bodyPr wrap="square" lIns="0" rIns="0" tIns="0" bIns="0" anchor="t">
            <a:spAutoFit/>
          </a:bodyPr>
          <a:lstStyle/>
          <a:p>
            <a:pPr algn="l">
              <a:lnSpc>
                <a:spcPct val="112000"/>
              </a:lnSpc>
            </a:pPr>
            <a:r>
              <a:rPr sz="1050" b="0" i="0">
                <a:solidFill>
                  <a:srgbClr val="1A1A1A"/>
                </a:solidFill>
                <a:latin typeface="Calibri"/>
              </a:rPr>
              <a:t>Willmore, B., &amp; Tolhurst, D. J. (2001). Characterizing the sparseness of neural codes. Network: Computation in Neural Systems, 12(3), 255–270.</a:t>
            </a:r>
          </a:p>
        </p:txBody>
      </p:sp>
      <p:sp>
        <p:nvSpPr>
          <p:cNvPr id="17" name="TextBox 16"/>
          <p:cNvSpPr txBox="1"/>
          <p:nvPr/>
        </p:nvSpPr>
        <p:spPr>
          <a:xfrm>
            <a:off x="731520" y="3776472"/>
            <a:ext cx="320040" cy="219456"/>
          </a:xfrm>
          <a:prstGeom prst="rect">
            <a:avLst/>
          </a:prstGeom>
          <a:noFill/>
        </p:spPr>
        <p:txBody>
          <a:bodyPr wrap="square" lIns="0" rIns="0" tIns="0" bIns="0" anchor="t">
            <a:spAutoFit/>
          </a:bodyPr>
          <a:lstStyle/>
          <a:p>
            <a:pPr algn="l">
              <a:lnSpc>
                <a:spcPct val="100000"/>
              </a:lnSpc>
            </a:pPr>
            <a:r>
              <a:rPr sz="1050" b="1" i="0">
                <a:solidFill>
                  <a:srgbClr val="33CCCC"/>
                </a:solidFill>
                <a:latin typeface="Calibri"/>
              </a:rPr>
              <a:t>[5]</a:t>
            </a:r>
          </a:p>
        </p:txBody>
      </p:sp>
      <p:sp>
        <p:nvSpPr>
          <p:cNvPr id="18" name="TextBox 17"/>
          <p:cNvSpPr txBox="1"/>
          <p:nvPr/>
        </p:nvSpPr>
        <p:spPr>
          <a:xfrm>
            <a:off x="1143000" y="3767328"/>
            <a:ext cx="10332720" cy="402336"/>
          </a:xfrm>
          <a:prstGeom prst="rect">
            <a:avLst/>
          </a:prstGeom>
          <a:noFill/>
        </p:spPr>
        <p:txBody>
          <a:bodyPr wrap="square" lIns="0" rIns="0" tIns="0" bIns="0" anchor="t">
            <a:spAutoFit/>
          </a:bodyPr>
          <a:lstStyle/>
          <a:p>
            <a:pPr algn="l">
              <a:lnSpc>
                <a:spcPct val="112000"/>
              </a:lnSpc>
            </a:pPr>
            <a:r>
              <a:rPr sz="1050" b="0" i="0">
                <a:solidFill>
                  <a:srgbClr val="1A1A1A"/>
                </a:solidFill>
                <a:latin typeface="Calibri"/>
              </a:rPr>
              <a:t>Chen, R., et al. (2025). Persona vectors: monitoring and controlling character traits in language models. arXiv preprint arXiv:2507.21509.</a:t>
            </a:r>
          </a:p>
        </p:txBody>
      </p:sp>
      <p:sp>
        <p:nvSpPr>
          <p:cNvPr id="19" name="TextBox 18"/>
          <p:cNvSpPr txBox="1"/>
          <p:nvPr/>
        </p:nvSpPr>
        <p:spPr>
          <a:xfrm>
            <a:off x="731520" y="4247388"/>
            <a:ext cx="320040" cy="219456"/>
          </a:xfrm>
          <a:prstGeom prst="rect">
            <a:avLst/>
          </a:prstGeom>
          <a:noFill/>
        </p:spPr>
        <p:txBody>
          <a:bodyPr wrap="square" lIns="0" rIns="0" tIns="0" bIns="0" anchor="t">
            <a:spAutoFit/>
          </a:bodyPr>
          <a:lstStyle/>
          <a:p>
            <a:pPr algn="l">
              <a:lnSpc>
                <a:spcPct val="100000"/>
              </a:lnSpc>
            </a:pPr>
            <a:r>
              <a:rPr sz="1050" b="1" i="0">
                <a:solidFill>
                  <a:srgbClr val="33CCCC"/>
                </a:solidFill>
                <a:latin typeface="Calibri"/>
              </a:rPr>
              <a:t>[6]</a:t>
            </a:r>
          </a:p>
        </p:txBody>
      </p:sp>
      <p:sp>
        <p:nvSpPr>
          <p:cNvPr id="20" name="TextBox 19"/>
          <p:cNvSpPr txBox="1"/>
          <p:nvPr/>
        </p:nvSpPr>
        <p:spPr>
          <a:xfrm>
            <a:off x="1143000" y="4238244"/>
            <a:ext cx="10332720" cy="201168"/>
          </a:xfrm>
          <a:prstGeom prst="rect">
            <a:avLst/>
          </a:prstGeom>
          <a:noFill/>
        </p:spPr>
        <p:txBody>
          <a:bodyPr wrap="square" lIns="0" rIns="0" tIns="0" bIns="0" anchor="t">
            <a:spAutoFit/>
          </a:bodyPr>
          <a:lstStyle/>
          <a:p>
            <a:pPr algn="l">
              <a:lnSpc>
                <a:spcPct val="112000"/>
              </a:lnSpc>
            </a:pPr>
            <a:r>
              <a:rPr sz="1050" b="0" i="0">
                <a:solidFill>
                  <a:srgbClr val="1A1A1A"/>
                </a:solidFill>
                <a:latin typeface="Calibri"/>
              </a:rPr>
              <a:t>Turner, A. M., et al. (2023). Steering language models with activation engineering. arXiv preprint arXiv:2308.10248.</a:t>
            </a:r>
          </a:p>
        </p:txBody>
      </p:sp>
      <p:sp>
        <p:nvSpPr>
          <p:cNvPr id="21" name="TextBox 20"/>
          <p:cNvSpPr txBox="1"/>
          <p:nvPr/>
        </p:nvSpPr>
        <p:spPr>
          <a:xfrm>
            <a:off x="731520" y="4517136"/>
            <a:ext cx="320040" cy="219456"/>
          </a:xfrm>
          <a:prstGeom prst="rect">
            <a:avLst/>
          </a:prstGeom>
          <a:noFill/>
        </p:spPr>
        <p:txBody>
          <a:bodyPr wrap="square" lIns="0" rIns="0" tIns="0" bIns="0" anchor="t">
            <a:spAutoFit/>
          </a:bodyPr>
          <a:lstStyle/>
          <a:p>
            <a:pPr algn="l">
              <a:lnSpc>
                <a:spcPct val="100000"/>
              </a:lnSpc>
            </a:pPr>
            <a:r>
              <a:rPr sz="1050" b="1" i="0">
                <a:solidFill>
                  <a:srgbClr val="33CCCC"/>
                </a:solidFill>
                <a:latin typeface="Calibri"/>
              </a:rPr>
              <a:t>[7]</a:t>
            </a:r>
          </a:p>
        </p:txBody>
      </p:sp>
      <p:sp>
        <p:nvSpPr>
          <p:cNvPr id="22" name="TextBox 21"/>
          <p:cNvSpPr txBox="1"/>
          <p:nvPr/>
        </p:nvSpPr>
        <p:spPr>
          <a:xfrm>
            <a:off x="1143000" y="4507992"/>
            <a:ext cx="10332720" cy="402336"/>
          </a:xfrm>
          <a:prstGeom prst="rect">
            <a:avLst/>
          </a:prstGeom>
          <a:noFill/>
        </p:spPr>
        <p:txBody>
          <a:bodyPr wrap="square" lIns="0" rIns="0" tIns="0" bIns="0" anchor="t">
            <a:spAutoFit/>
          </a:bodyPr>
          <a:lstStyle/>
          <a:p>
            <a:pPr algn="l">
              <a:lnSpc>
                <a:spcPct val="112000"/>
              </a:lnSpc>
            </a:pPr>
            <a:r>
              <a:rPr sz="1050" b="0" i="0">
                <a:solidFill>
                  <a:srgbClr val="1A1A1A"/>
                </a:solidFill>
                <a:latin typeface="Calibri"/>
              </a:rPr>
              <a:t>Campbell, D. T., &amp; Fiske, D. W. (1959). Convergent and discriminant validation by the multitrait–multimethod matrix. Psychological Bulletin, 56(2), 81–105.</a:t>
            </a:r>
          </a:p>
        </p:txBody>
      </p:sp>
      <p:sp>
        <p:nvSpPr>
          <p:cNvPr id="23" name="TextBox 22"/>
          <p:cNvSpPr txBox="1"/>
          <p:nvPr/>
        </p:nvSpPr>
        <p:spPr>
          <a:xfrm>
            <a:off x="731520" y="4988051"/>
            <a:ext cx="320040" cy="219456"/>
          </a:xfrm>
          <a:prstGeom prst="rect">
            <a:avLst/>
          </a:prstGeom>
          <a:noFill/>
        </p:spPr>
        <p:txBody>
          <a:bodyPr wrap="square" lIns="0" rIns="0" tIns="0" bIns="0" anchor="t">
            <a:spAutoFit/>
          </a:bodyPr>
          <a:lstStyle/>
          <a:p>
            <a:pPr algn="l">
              <a:lnSpc>
                <a:spcPct val="100000"/>
              </a:lnSpc>
            </a:pPr>
            <a:r>
              <a:rPr sz="1050" b="1" i="0">
                <a:solidFill>
                  <a:srgbClr val="33CCCC"/>
                </a:solidFill>
                <a:latin typeface="Calibri"/>
              </a:rPr>
              <a:t>[8]</a:t>
            </a:r>
          </a:p>
        </p:txBody>
      </p:sp>
      <p:sp>
        <p:nvSpPr>
          <p:cNvPr id="24" name="TextBox 23"/>
          <p:cNvSpPr txBox="1"/>
          <p:nvPr/>
        </p:nvSpPr>
        <p:spPr>
          <a:xfrm>
            <a:off x="1143000" y="4978907"/>
            <a:ext cx="10332720" cy="402336"/>
          </a:xfrm>
          <a:prstGeom prst="rect">
            <a:avLst/>
          </a:prstGeom>
          <a:noFill/>
        </p:spPr>
        <p:txBody>
          <a:bodyPr wrap="square" lIns="0" rIns="0" tIns="0" bIns="0" anchor="t">
            <a:spAutoFit/>
          </a:bodyPr>
          <a:lstStyle/>
          <a:p>
            <a:pPr algn="l">
              <a:lnSpc>
                <a:spcPct val="112000"/>
              </a:lnSpc>
            </a:pPr>
            <a:r>
              <a:rPr sz="1050" b="0" i="0">
                <a:solidFill>
                  <a:srgbClr val="1A1A1A"/>
                </a:solidFill>
                <a:latin typeface="Calibri"/>
              </a:rPr>
              <a:t>Cronbach, L. J., &amp; Meehl, P. E. (1955). Construct validity in psychological tests. Psychological Bulletin, 52(4), 281–302.</a:t>
            </a:r>
          </a:p>
        </p:txBody>
      </p:sp>
      <p:sp>
        <p:nvSpPr>
          <p:cNvPr id="25" name="TextBox 24"/>
          <p:cNvSpPr txBox="1"/>
          <p:nvPr/>
        </p:nvSpPr>
        <p:spPr>
          <a:xfrm>
            <a:off x="731520" y="5458967"/>
            <a:ext cx="320040" cy="219456"/>
          </a:xfrm>
          <a:prstGeom prst="rect">
            <a:avLst/>
          </a:prstGeom>
          <a:noFill/>
        </p:spPr>
        <p:txBody>
          <a:bodyPr wrap="square" lIns="0" rIns="0" tIns="0" bIns="0" anchor="t">
            <a:spAutoFit/>
          </a:bodyPr>
          <a:lstStyle/>
          <a:p>
            <a:pPr algn="l">
              <a:lnSpc>
                <a:spcPct val="100000"/>
              </a:lnSpc>
            </a:pPr>
            <a:r>
              <a:rPr sz="1050" b="1" i="0">
                <a:solidFill>
                  <a:srgbClr val="33CCCC"/>
                </a:solidFill>
                <a:latin typeface="Calibri"/>
              </a:rPr>
              <a:t>[9]</a:t>
            </a:r>
          </a:p>
        </p:txBody>
      </p:sp>
      <p:sp>
        <p:nvSpPr>
          <p:cNvPr id="26" name="TextBox 25"/>
          <p:cNvSpPr txBox="1"/>
          <p:nvPr/>
        </p:nvSpPr>
        <p:spPr>
          <a:xfrm>
            <a:off x="1143000" y="5449823"/>
            <a:ext cx="10332720" cy="402336"/>
          </a:xfrm>
          <a:prstGeom prst="rect">
            <a:avLst/>
          </a:prstGeom>
          <a:noFill/>
        </p:spPr>
        <p:txBody>
          <a:bodyPr wrap="square" lIns="0" rIns="0" tIns="0" bIns="0" anchor="t">
            <a:spAutoFit/>
          </a:bodyPr>
          <a:lstStyle/>
          <a:p>
            <a:pPr algn="l">
              <a:lnSpc>
                <a:spcPct val="112000"/>
              </a:lnSpc>
            </a:pPr>
            <a:r>
              <a:rPr sz="1050" b="0" i="0">
                <a:solidFill>
                  <a:srgbClr val="1A1A1A"/>
                </a:solidFill>
                <a:latin typeface="Calibri"/>
              </a:rPr>
              <a:t>Nisbett, R. E., &amp; Wilson, T. D. (1977). Telling more than we can know: verbal reports on mental processes. Psychological Review, 84(3), 231–259.</a:t>
            </a:r>
          </a:p>
        </p:txBody>
      </p:sp>
      <p:sp>
        <p:nvSpPr>
          <p:cNvPr id="27" name="TextBox 26"/>
          <p:cNvSpPr txBox="1"/>
          <p:nvPr/>
        </p:nvSpPr>
        <p:spPr>
          <a:xfrm>
            <a:off x="731520" y="5929883"/>
            <a:ext cx="320040" cy="219456"/>
          </a:xfrm>
          <a:prstGeom prst="rect">
            <a:avLst/>
          </a:prstGeom>
          <a:noFill/>
        </p:spPr>
        <p:txBody>
          <a:bodyPr wrap="square" lIns="0" rIns="0" tIns="0" bIns="0" anchor="t">
            <a:spAutoFit/>
          </a:bodyPr>
          <a:lstStyle/>
          <a:p>
            <a:pPr algn="l">
              <a:lnSpc>
                <a:spcPct val="100000"/>
              </a:lnSpc>
            </a:pPr>
            <a:r>
              <a:rPr sz="1050" b="1" i="0">
                <a:solidFill>
                  <a:srgbClr val="33CCCC"/>
                </a:solidFill>
                <a:latin typeface="Calibri"/>
              </a:rPr>
              <a:t>[10]</a:t>
            </a:r>
          </a:p>
        </p:txBody>
      </p:sp>
      <p:sp>
        <p:nvSpPr>
          <p:cNvPr id="28" name="TextBox 27"/>
          <p:cNvSpPr txBox="1"/>
          <p:nvPr/>
        </p:nvSpPr>
        <p:spPr>
          <a:xfrm>
            <a:off x="1143000" y="5920739"/>
            <a:ext cx="10332720" cy="402336"/>
          </a:xfrm>
          <a:prstGeom prst="rect">
            <a:avLst/>
          </a:prstGeom>
          <a:noFill/>
        </p:spPr>
        <p:txBody>
          <a:bodyPr wrap="square" lIns="0" rIns="0" tIns="0" bIns="0" anchor="t">
            <a:spAutoFit/>
          </a:bodyPr>
          <a:lstStyle/>
          <a:p>
            <a:pPr algn="l">
              <a:lnSpc>
                <a:spcPct val="112000"/>
              </a:lnSpc>
            </a:pPr>
            <a:r>
              <a:rPr sz="1050" b="0" i="0">
                <a:solidFill>
                  <a:srgbClr val="1A1A1A"/>
                </a:solidFill>
                <a:latin typeface="Calibri"/>
              </a:rPr>
              <a:t>Butlin, P., et al. (2023). Consciousness in artificial intelligence: insights from the science of consciousness. arXiv:2308.08708.</a:t>
            </a:r>
          </a:p>
        </p:txBody>
      </p:sp>
      <p:sp>
        <p:nvSpPr>
          <p:cNvPr id="29" name="TextBox 28"/>
          <p:cNvSpPr txBox="1"/>
          <p:nvPr/>
        </p:nvSpPr>
        <p:spPr>
          <a:xfrm>
            <a:off x="731520" y="6400799"/>
            <a:ext cx="320040" cy="219456"/>
          </a:xfrm>
          <a:prstGeom prst="rect">
            <a:avLst/>
          </a:prstGeom>
          <a:noFill/>
        </p:spPr>
        <p:txBody>
          <a:bodyPr wrap="square" lIns="0" rIns="0" tIns="0" bIns="0" anchor="t">
            <a:spAutoFit/>
          </a:bodyPr>
          <a:lstStyle/>
          <a:p>
            <a:pPr algn="l">
              <a:lnSpc>
                <a:spcPct val="100000"/>
              </a:lnSpc>
            </a:pPr>
            <a:r>
              <a:rPr sz="1050" b="1" i="0">
                <a:solidFill>
                  <a:srgbClr val="33CCCC"/>
                </a:solidFill>
                <a:latin typeface="Calibri"/>
              </a:rPr>
              <a:t>[11]</a:t>
            </a:r>
          </a:p>
        </p:txBody>
      </p:sp>
      <p:sp>
        <p:nvSpPr>
          <p:cNvPr id="30" name="TextBox 29"/>
          <p:cNvSpPr txBox="1"/>
          <p:nvPr/>
        </p:nvSpPr>
        <p:spPr>
          <a:xfrm>
            <a:off x="1143000" y="6391655"/>
            <a:ext cx="10332720" cy="402336"/>
          </a:xfrm>
          <a:prstGeom prst="rect">
            <a:avLst/>
          </a:prstGeom>
          <a:noFill/>
        </p:spPr>
        <p:txBody>
          <a:bodyPr wrap="square" lIns="0" rIns="0" tIns="0" bIns="0" anchor="t">
            <a:spAutoFit/>
          </a:bodyPr>
          <a:lstStyle/>
          <a:p>
            <a:pPr algn="l">
              <a:lnSpc>
                <a:spcPct val="112000"/>
              </a:lnSpc>
            </a:pPr>
            <a:r>
              <a:rPr sz="1050" b="0" i="0">
                <a:solidFill>
                  <a:srgbClr val="1A1A1A"/>
                </a:solidFill>
                <a:latin typeface="Calibri"/>
              </a:rPr>
              <a:t>Schwartz, O., Pillow, J. W., Rust, N. C., &amp; Simoncelli, E. P. (2006). Spike-triggered neural characterization. Journal of Vision, 6(4), 484–507.</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logo" descr="PES University - Logo 2.png"/>
          <p:cNvPicPr>
            <a:picLocks noChangeAspect="1"/>
          </p:cNvPicPr>
          <p:nvPr/>
        </p:nvPicPr>
        <p:blipFill>
          <a:blip r:embed="rId2"/>
          <a:stretch>
            <a:fillRect/>
          </a:stretch>
        </p:blipFill>
        <p:spPr>
          <a:xfrm>
            <a:off x="10533888" y="146304"/>
            <a:ext cx="1298448" cy="591337"/>
          </a:xfrm>
          <a:prstGeom prst="rect">
            <a:avLst/>
          </a:prstGeom>
        </p:spPr>
      </p:pic>
      <p:sp>
        <p:nvSpPr>
          <p:cNvPr id="3" name="Rectangle 2"/>
          <p:cNvSpPr/>
          <p:nvPr/>
        </p:nvSpPr>
        <p:spPr>
          <a:xfrm>
            <a:off x="411480" y="1664208"/>
            <a:ext cx="11018520" cy="7315"/>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y"/>
          <p:cNvSpPr txBox="1"/>
          <p:nvPr/>
        </p:nvSpPr>
        <p:spPr>
          <a:xfrm>
            <a:off x="0" y="2880360"/>
            <a:ext cx="12191695" cy="822960"/>
          </a:xfrm>
          <a:prstGeom prst="rect">
            <a:avLst/>
          </a:prstGeom>
          <a:noFill/>
        </p:spPr>
        <p:txBody>
          <a:bodyPr wrap="square" lIns="0" rIns="0" tIns="0" bIns="0" anchor="t">
            <a:spAutoFit/>
          </a:bodyPr>
          <a:lstStyle/>
          <a:p>
            <a:pPr algn="ctr">
              <a:lnSpc>
                <a:spcPct val="100000"/>
              </a:lnSpc>
            </a:pPr>
            <a:r>
              <a:rPr sz="4400" b="0" i="0">
                <a:solidFill>
                  <a:srgbClr val="1A1A1A"/>
                </a:solidFill>
                <a:latin typeface="Calibri"/>
              </a:rPr>
              <a:t>Thank You</a:t>
            </a:r>
          </a:p>
        </p:txBody>
      </p:sp>
      <p:sp>
        <p:nvSpPr>
          <p:cNvPr id="5" name="q"/>
          <p:cNvSpPr txBox="1"/>
          <p:nvPr/>
        </p:nvSpPr>
        <p:spPr>
          <a:xfrm>
            <a:off x="0" y="3886200"/>
            <a:ext cx="12191695" cy="457200"/>
          </a:xfrm>
          <a:prstGeom prst="rect">
            <a:avLst/>
          </a:prstGeom>
          <a:noFill/>
        </p:spPr>
        <p:txBody>
          <a:bodyPr wrap="square" lIns="0" rIns="0" tIns="0" bIns="0" anchor="t">
            <a:spAutoFit/>
          </a:bodyPr>
          <a:lstStyle/>
          <a:p>
            <a:pPr algn="ctr">
              <a:lnSpc>
                <a:spcPct val="100000"/>
              </a:lnSpc>
            </a:pPr>
            <a:r>
              <a:rPr sz="1700" b="0" i="1">
                <a:solidFill>
                  <a:srgbClr val="BD582B"/>
                </a:solidFill>
                <a:latin typeface="Calibri"/>
              </a:rPr>
              <a:t>Does the mind-reading kit work? Building preparations for language models.</a:t>
            </a:r>
          </a:p>
        </p:txBody>
      </p:sp>
      <p:sp>
        <p:nvSpPr>
          <p:cNvPr id="6" name="Rectangle 5"/>
          <p:cNvSpPr/>
          <p:nvPr/>
        </p:nvSpPr>
        <p:spPr>
          <a:xfrm>
            <a:off x="0" y="6528816"/>
            <a:ext cx="12191695" cy="329184"/>
          </a:xfrm>
          <a:prstGeom prst="rect">
            <a:avLst/>
          </a:prstGeom>
          <a:solidFill>
            <a:srgbClr val="BD5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0" y="6620255"/>
            <a:ext cx="12191695" cy="201168"/>
          </a:xfrm>
          <a:prstGeom prst="rect">
            <a:avLst/>
          </a:prstGeom>
          <a:noFill/>
        </p:spPr>
        <p:txBody>
          <a:bodyPr wrap="square" lIns="0" rIns="0" tIns="0" bIns="0" anchor="t">
            <a:spAutoFit/>
          </a:bodyPr>
          <a:lstStyle/>
          <a:p>
            <a:pPr algn="ctr">
              <a:lnSpc>
                <a:spcPct val="100000"/>
              </a:lnSpc>
            </a:pPr>
            <a:r>
              <a:rPr sz="800" b="0" i="0">
                <a:solidFill>
                  <a:srgbClr val="FFFFFF"/>
                </a:solidFill>
                <a:latin typeface="Calibri"/>
              </a:rPr>
              <a:t>SANTOSH CHEETHIRALA_NIVAS REDDY DANDU_C. SREE KRISHNA KOUSHIK_MARREDDY RUSHI ESWAR REDDY</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600"/>
                                        <p:tgtEl>
                                          <p:spTgt spid="4"/>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6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