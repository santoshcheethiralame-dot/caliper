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course"/>
          <p:cNvSpPr txBox="1"/>
          <p:nvPr/>
        </p:nvSpPr>
        <p:spPr>
          <a:xfrm>
            <a:off x="822960" y="658368"/>
            <a:ext cx="9418320" cy="548640"/>
          </a:xfrm>
          <a:prstGeom prst="rect">
            <a:avLst/>
          </a:prstGeom>
          <a:noFill/>
        </p:spPr>
        <p:txBody>
          <a:bodyPr wrap="square" lIns="0" rIns="0" tIns="0" bIns="0" anchor="t">
            <a:spAutoFit/>
          </a:bodyPr>
          <a:lstStyle/>
          <a:p>
            <a:pPr algn="ctr">
              <a:lnSpc>
                <a:spcPct val="100000"/>
              </a:lnSpc>
            </a:pPr>
            <a:r>
              <a:rPr sz="2600" b="1" i="0">
                <a:solidFill>
                  <a:srgbClr val="1A1A1A"/>
                </a:solidFill>
                <a:latin typeface="Calibri"/>
              </a:rPr>
              <a:t>UE23CS320A – Capstone Project Approval</a:t>
            </a:r>
          </a:p>
        </p:txBody>
      </p:sp>
      <p:sp>
        <p:nvSpPr>
          <p:cNvPr id="4" name="Rectangle 3"/>
          <p:cNvSpPr/>
          <p:nvPr/>
        </p:nvSpPr>
        <p:spPr>
          <a:xfrm>
            <a:off x="822960" y="1389888"/>
            <a:ext cx="1051560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17320" y="2103120"/>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Title</a:t>
            </a:r>
          </a:p>
        </p:txBody>
      </p:sp>
      <p:sp>
        <p:nvSpPr>
          <p:cNvPr id="6" name="TextBox 5"/>
          <p:cNvSpPr txBox="1"/>
          <p:nvPr/>
        </p:nvSpPr>
        <p:spPr>
          <a:xfrm>
            <a:off x="3429000" y="2103120"/>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7" name="TextBox 6"/>
          <p:cNvSpPr txBox="1"/>
          <p:nvPr/>
        </p:nvSpPr>
        <p:spPr>
          <a:xfrm>
            <a:off x="3703320" y="2103120"/>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CALIPER: Calibrating Interpretability Readouts for Language Models</a:t>
            </a:r>
          </a:p>
        </p:txBody>
      </p:sp>
      <p:sp>
        <p:nvSpPr>
          <p:cNvPr id="8" name="TextBox 7"/>
          <p:cNvSpPr txBox="1"/>
          <p:nvPr/>
        </p:nvSpPr>
        <p:spPr>
          <a:xfrm>
            <a:off x="1417320" y="2971800"/>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ID</a:t>
            </a:r>
          </a:p>
        </p:txBody>
      </p:sp>
      <p:sp>
        <p:nvSpPr>
          <p:cNvPr id="9" name="TextBox 8"/>
          <p:cNvSpPr txBox="1"/>
          <p:nvPr/>
        </p:nvSpPr>
        <p:spPr>
          <a:xfrm>
            <a:off x="3429000" y="2971800"/>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0" name="TextBox 9"/>
          <p:cNvSpPr txBox="1"/>
          <p:nvPr/>
        </p:nvSpPr>
        <p:spPr>
          <a:xfrm>
            <a:off x="3703320" y="2971800"/>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[PROJECT ID]</a:t>
            </a:r>
          </a:p>
        </p:txBody>
      </p:sp>
      <p:sp>
        <p:nvSpPr>
          <p:cNvPr id="11" name="TextBox 10"/>
          <p:cNvSpPr txBox="1"/>
          <p:nvPr/>
        </p:nvSpPr>
        <p:spPr>
          <a:xfrm>
            <a:off x="1417320" y="3538728"/>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Guide</a:t>
            </a:r>
          </a:p>
        </p:txBody>
      </p:sp>
      <p:sp>
        <p:nvSpPr>
          <p:cNvPr id="12" name="TextBox 11"/>
          <p:cNvSpPr txBox="1"/>
          <p:nvPr/>
        </p:nvSpPr>
        <p:spPr>
          <a:xfrm>
            <a:off x="3429000" y="3538728"/>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3" name="TextBox 12"/>
          <p:cNvSpPr txBox="1"/>
          <p:nvPr/>
        </p:nvSpPr>
        <p:spPr>
          <a:xfrm>
            <a:off x="3703320" y="3538728"/>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[GUIDE NAME]</a:t>
            </a:r>
          </a:p>
        </p:txBody>
      </p:sp>
      <p:sp>
        <p:nvSpPr>
          <p:cNvPr id="14" name="TextBox 13"/>
          <p:cNvSpPr txBox="1"/>
          <p:nvPr/>
        </p:nvSpPr>
        <p:spPr>
          <a:xfrm>
            <a:off x="1417320" y="4151376"/>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Team</a:t>
            </a:r>
          </a:p>
        </p:txBody>
      </p:sp>
      <p:sp>
        <p:nvSpPr>
          <p:cNvPr id="15" name="TextBox 14"/>
          <p:cNvSpPr txBox="1"/>
          <p:nvPr/>
        </p:nvSpPr>
        <p:spPr>
          <a:xfrm>
            <a:off x="3429000" y="4151376"/>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6" name="TextBox 15"/>
          <p:cNvSpPr txBox="1"/>
          <p:nvPr/>
        </p:nvSpPr>
        <p:spPr>
          <a:xfrm>
            <a:off x="3703320" y="4151376"/>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SANTOSH CHEETHIRALA</a:t>
            </a:r>
          </a:p>
        </p:txBody>
      </p:sp>
      <p:sp>
        <p:nvSpPr>
          <p:cNvPr id="17" name="TextBox 16"/>
          <p:cNvSpPr txBox="1"/>
          <p:nvPr/>
        </p:nvSpPr>
        <p:spPr>
          <a:xfrm>
            <a:off x="7863840" y="4151376"/>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PES1UG24CS127</a:t>
            </a:r>
          </a:p>
        </p:txBody>
      </p:sp>
      <p:sp>
        <p:nvSpPr>
          <p:cNvPr id="18" name="TextBox 17"/>
          <p:cNvSpPr txBox="1"/>
          <p:nvPr/>
        </p:nvSpPr>
        <p:spPr>
          <a:xfrm>
            <a:off x="3703320" y="4480560"/>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NIVAS REDDY DANDU</a:t>
            </a:r>
          </a:p>
        </p:txBody>
      </p:sp>
      <p:sp>
        <p:nvSpPr>
          <p:cNvPr id="19" name="TextBox 18"/>
          <p:cNvSpPr txBox="1"/>
          <p:nvPr/>
        </p:nvSpPr>
        <p:spPr>
          <a:xfrm>
            <a:off x="7863840" y="4480560"/>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PES1UG24AM075</a:t>
            </a:r>
          </a:p>
        </p:txBody>
      </p:sp>
      <p:sp>
        <p:nvSpPr>
          <p:cNvPr id="20" name="TextBox 19"/>
          <p:cNvSpPr txBox="1"/>
          <p:nvPr/>
        </p:nvSpPr>
        <p:spPr>
          <a:xfrm>
            <a:off x="3703320" y="4809744"/>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C. SREE KRISHNA KOUSHIK</a:t>
            </a:r>
          </a:p>
        </p:txBody>
      </p:sp>
      <p:sp>
        <p:nvSpPr>
          <p:cNvPr id="21" name="TextBox 20"/>
          <p:cNvSpPr txBox="1"/>
          <p:nvPr/>
        </p:nvSpPr>
        <p:spPr>
          <a:xfrm>
            <a:off x="7863840" y="4809744"/>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PES1UG24CS128</a:t>
            </a:r>
          </a:p>
        </p:txBody>
      </p:sp>
      <p:sp>
        <p:nvSpPr>
          <p:cNvPr id="22" name="TextBox 21"/>
          <p:cNvSpPr txBox="1"/>
          <p:nvPr/>
        </p:nvSpPr>
        <p:spPr>
          <a:xfrm>
            <a:off x="3703320" y="5138928"/>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MARREDDY RUSHI ESWAR REDDY</a:t>
            </a:r>
          </a:p>
        </p:txBody>
      </p:sp>
      <p:sp>
        <p:nvSpPr>
          <p:cNvPr id="23" name="TextBox 22"/>
          <p:cNvSpPr txBox="1"/>
          <p:nvPr/>
        </p:nvSpPr>
        <p:spPr>
          <a:xfrm>
            <a:off x="7863840" y="5138928"/>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PES1UG24AM158</a:t>
            </a:r>
          </a:p>
        </p:txBody>
      </p:sp>
      <p:sp>
        <p:nvSpPr>
          <p:cNvPr id="24" name="Rectangle 23"/>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Department of Computer Science and Engineering  ·  PES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Outline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num0"/>
          <p:cNvSpPr txBox="1"/>
          <p:nvPr/>
        </p:nvSpPr>
        <p:spPr>
          <a:xfrm>
            <a:off x="2788920" y="2039112"/>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01</a:t>
            </a:r>
          </a:p>
        </p:txBody>
      </p:sp>
      <p:sp>
        <p:nvSpPr>
          <p:cNvPr id="10" name="item0"/>
          <p:cNvSpPr txBox="1"/>
          <p:nvPr/>
        </p:nvSpPr>
        <p:spPr>
          <a:xfrm>
            <a:off x="3429000" y="2039112"/>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Introduction</a:t>
            </a:r>
          </a:p>
        </p:txBody>
      </p:sp>
      <p:sp>
        <p:nvSpPr>
          <p:cNvPr id="11" name="num1"/>
          <p:cNvSpPr txBox="1"/>
          <p:nvPr/>
        </p:nvSpPr>
        <p:spPr>
          <a:xfrm>
            <a:off x="2788920" y="2551176"/>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02</a:t>
            </a:r>
          </a:p>
        </p:txBody>
      </p:sp>
      <p:sp>
        <p:nvSpPr>
          <p:cNvPr id="12" name="item1"/>
          <p:cNvSpPr txBox="1"/>
          <p:nvPr/>
        </p:nvSpPr>
        <p:spPr>
          <a:xfrm>
            <a:off x="3429000" y="2551176"/>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Problem Statement</a:t>
            </a:r>
          </a:p>
        </p:txBody>
      </p:sp>
      <p:sp>
        <p:nvSpPr>
          <p:cNvPr id="13" name="num2"/>
          <p:cNvSpPr txBox="1"/>
          <p:nvPr/>
        </p:nvSpPr>
        <p:spPr>
          <a:xfrm>
            <a:off x="2788920" y="3063240"/>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03</a:t>
            </a:r>
          </a:p>
        </p:txBody>
      </p:sp>
      <p:sp>
        <p:nvSpPr>
          <p:cNvPr id="14" name="item2"/>
          <p:cNvSpPr txBox="1"/>
          <p:nvPr/>
        </p:nvSpPr>
        <p:spPr>
          <a:xfrm>
            <a:off x="3429000" y="3063240"/>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Work Flow</a:t>
            </a:r>
          </a:p>
        </p:txBody>
      </p:sp>
      <p:sp>
        <p:nvSpPr>
          <p:cNvPr id="15" name="num3"/>
          <p:cNvSpPr txBox="1"/>
          <p:nvPr/>
        </p:nvSpPr>
        <p:spPr>
          <a:xfrm>
            <a:off x="2788920" y="3575304"/>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04</a:t>
            </a:r>
          </a:p>
        </p:txBody>
      </p:sp>
      <p:sp>
        <p:nvSpPr>
          <p:cNvPr id="16" name="item3"/>
          <p:cNvSpPr txBox="1"/>
          <p:nvPr/>
        </p:nvSpPr>
        <p:spPr>
          <a:xfrm>
            <a:off x="3429000" y="3575304"/>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Scope and Feasibility study</a:t>
            </a:r>
          </a:p>
        </p:txBody>
      </p:sp>
      <p:sp>
        <p:nvSpPr>
          <p:cNvPr id="17" name="num4"/>
          <p:cNvSpPr txBox="1"/>
          <p:nvPr/>
        </p:nvSpPr>
        <p:spPr>
          <a:xfrm>
            <a:off x="2788920" y="4087368"/>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05</a:t>
            </a:r>
          </a:p>
        </p:txBody>
      </p:sp>
      <p:sp>
        <p:nvSpPr>
          <p:cNvPr id="18" name="item4"/>
          <p:cNvSpPr txBox="1"/>
          <p:nvPr/>
        </p:nvSpPr>
        <p:spPr>
          <a:xfrm>
            <a:off x="3429000" y="4087368"/>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Applications / Use cases</a:t>
            </a:r>
          </a:p>
        </p:txBody>
      </p:sp>
      <p:sp>
        <p:nvSpPr>
          <p:cNvPr id="19" name="num5"/>
          <p:cNvSpPr txBox="1"/>
          <p:nvPr/>
        </p:nvSpPr>
        <p:spPr>
          <a:xfrm>
            <a:off x="2788920" y="4599432"/>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06</a:t>
            </a:r>
          </a:p>
        </p:txBody>
      </p:sp>
      <p:sp>
        <p:nvSpPr>
          <p:cNvPr id="20" name="item5"/>
          <p:cNvSpPr txBox="1"/>
          <p:nvPr/>
        </p:nvSpPr>
        <p:spPr>
          <a:xfrm>
            <a:off x="3429000" y="4599432"/>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Background Study</a:t>
            </a:r>
          </a:p>
        </p:txBody>
      </p:sp>
      <p:sp>
        <p:nvSpPr>
          <p:cNvPr id="21" name="num6"/>
          <p:cNvSpPr txBox="1"/>
          <p:nvPr/>
        </p:nvSpPr>
        <p:spPr>
          <a:xfrm>
            <a:off x="2788920" y="5111496"/>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07</a:t>
            </a:r>
          </a:p>
        </p:txBody>
      </p:sp>
      <p:sp>
        <p:nvSpPr>
          <p:cNvPr id="22" name="item6"/>
          <p:cNvSpPr txBox="1"/>
          <p:nvPr/>
        </p:nvSpPr>
        <p:spPr>
          <a:xfrm>
            <a:off x="3429000" y="5111496"/>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Project Timeline and Team Effort Plan</a:t>
            </a:r>
          </a:p>
        </p:txBody>
      </p:sp>
      <p:sp>
        <p:nvSpPr>
          <p:cNvPr id="23" name="num7"/>
          <p:cNvSpPr txBox="1"/>
          <p:nvPr/>
        </p:nvSpPr>
        <p:spPr>
          <a:xfrm>
            <a:off x="2788920" y="5623560"/>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08</a:t>
            </a:r>
          </a:p>
        </p:txBody>
      </p:sp>
      <p:sp>
        <p:nvSpPr>
          <p:cNvPr id="24" name="item7"/>
          <p:cNvSpPr txBox="1"/>
          <p:nvPr/>
        </p:nvSpPr>
        <p:spPr>
          <a:xfrm>
            <a:off x="3429000" y="5623560"/>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Introduction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A language model is made of billions of numbers. Almost none of them have a known meaning.</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1" name="bul1"/>
          <p:cNvSpPr txBox="1"/>
          <p:nvPr/>
        </p:nvSpPr>
        <p:spPr>
          <a:xfrm>
            <a:off x="1115568" y="2267712"/>
            <a:ext cx="10222992" cy="822959"/>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Interpretability is the field that tries to read those numbers — to say “this unit responds to X”, “this direction is the model’s honesty trait”, “the model can report on its own internal state”.</a:t>
            </a:r>
          </a:p>
        </p:txBody>
      </p:sp>
      <p:sp>
        <p:nvSpPr>
          <p:cNvPr id="12" name="dot1"/>
          <p:cNvSpPr txBox="1"/>
          <p:nvPr/>
        </p:nvSpPr>
        <p:spPr>
          <a:xfrm>
            <a:off x="822960" y="228600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3" name="bul2"/>
          <p:cNvSpPr txBox="1"/>
          <p:nvPr/>
        </p:nvSpPr>
        <p:spPr>
          <a:xfrm>
            <a:off x="1115568" y="318211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Every one of those is a reading, produced by an instrument.</a:t>
            </a:r>
          </a:p>
        </p:txBody>
      </p:sp>
      <p:sp>
        <p:nvSpPr>
          <p:cNvPr id="14" name="dot2"/>
          <p:cNvSpPr txBox="1"/>
          <p:nvPr/>
        </p:nvSpPr>
        <p:spPr>
          <a:xfrm>
            <a:off x="822960" y="320040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5" name="bul3"/>
          <p:cNvSpPr txBox="1"/>
          <p:nvPr/>
        </p:nvSpPr>
        <p:spPr>
          <a:xfrm>
            <a:off x="1115568" y="354787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And an instrument is only worth what its calibration is worth.</a:t>
            </a:r>
          </a:p>
        </p:txBody>
      </p:sp>
      <p:sp>
        <p:nvSpPr>
          <p:cNvPr id="16" name="dot3"/>
          <p:cNvSpPr txBox="1"/>
          <p:nvPr/>
        </p:nvSpPr>
        <p:spPr>
          <a:xfrm>
            <a:off x="822960" y="356616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Introduction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Why an instrument is trusted</a:t>
            </a:r>
          </a:p>
        </p:txBody>
      </p:sp>
      <p:pic>
        <p:nvPicPr>
          <p:cNvPr id="10" name="fig" descr="f1_thermometer.png"/>
          <p:cNvPicPr>
            <a:picLocks noChangeAspect="1"/>
          </p:cNvPicPr>
          <p:nvPr/>
        </p:nvPicPr>
        <p:blipFill>
          <a:blip r:embed="rId3"/>
          <a:stretch>
            <a:fillRect/>
          </a:stretch>
        </p:blipFill>
        <p:spPr>
          <a:xfrm>
            <a:off x="1340967" y="2450591"/>
            <a:ext cx="9509760" cy="4214185"/>
          </a:xfrm>
          <a:prstGeom prst="rect">
            <a:avLst/>
          </a:prstGeom>
        </p:spPr>
      </p:pic>
      <p:sp>
        <p:nvSpPr>
          <p:cNvPr id="11" name="cap"/>
          <p:cNvSpPr txBox="1"/>
          <p:nvPr/>
        </p:nvSpPr>
        <p:spPr>
          <a:xfrm>
            <a:off x="822960" y="5989320"/>
            <a:ext cx="10515600" cy="365760"/>
          </a:xfrm>
          <a:prstGeom prst="rect">
            <a:avLst/>
          </a:prstGeom>
          <a:noFill/>
        </p:spPr>
        <p:txBody>
          <a:bodyPr wrap="square" lIns="0" rIns="0" tIns="0" bIns="0" anchor="t">
            <a:spAutoFit/>
          </a:bodyPr>
          <a:lstStyle/>
          <a:p>
            <a:pPr algn="ctr">
              <a:lnSpc>
                <a:spcPct val="100000"/>
              </a:lnSpc>
            </a:pPr>
            <a:r>
              <a:rPr sz="1400" b="0" i="1">
                <a:solidFill>
                  <a:srgbClr val="7F7F7F"/>
                </a:solidFill>
                <a:latin typeface="Calibri"/>
              </a:rPr>
              <a:t>Nobody has done this for the tools that read language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Problem Statement</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statement"/>
          <p:cNvSpPr txBox="1"/>
          <p:nvPr/>
        </p:nvSpPr>
        <p:spPr>
          <a:xfrm>
            <a:off x="914400" y="2011680"/>
            <a:ext cx="10332720" cy="3108960"/>
          </a:xfrm>
          <a:prstGeom prst="rect">
            <a:avLst/>
          </a:prstGeom>
          <a:noFill/>
        </p:spPr>
        <p:txBody>
          <a:bodyPr wrap="square" lIns="0" rIns="0">
            <a:spAutoFit/>
          </a:bodyPr>
          <a:lstStyle/>
          <a:p>
            <a:pPr algn="l">
              <a:lnSpc>
                <a:spcPct val="132000"/>
              </a:lnSpc>
            </a:pPr>
            <a:r>
              <a:rPr sz="1800">
                <a:solidFill>
                  <a:srgbClr val="1A1A1A"/>
                </a:solidFill>
                <a:latin typeface="Calibri"/>
              </a:rPr>
              <a:t>Interpretability tools claim to read a model’s mind: which direction a neuron responds to, which vector encodes a personality trait, whether the model can report on its own internal states. None of these tools has ever been checked against a case where the right answer was already known. Neuroscience solved this a century ago with the preparation — the squid axon, the sea slug, the worm — a system simple enough that a new instrument could be tested against a known answer before being trusted on an unknown one. We build preparations for language models at three levels — unit, trait, self — and use them to measure how often each reading tool is right, how often it is silently wrong, and what it takes to tell the difference.</a:t>
            </a:r>
          </a:p>
        </p:txBody>
      </p:sp>
      <p:sp>
        <p:nvSpPr>
          <p:cNvPr id="10" name="accent"/>
          <p:cNvSpPr/>
          <p:nvPr/>
        </p:nvSpPr>
        <p:spPr>
          <a:xfrm>
            <a:off x="566928" y="2011680"/>
            <a:ext cx="64008" cy="2971800"/>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gline"/>
          <p:cNvSpPr txBox="1"/>
          <p:nvPr/>
        </p:nvSpPr>
        <p:spPr>
          <a:xfrm>
            <a:off x="822960" y="5440680"/>
            <a:ext cx="10515600" cy="640080"/>
          </a:xfrm>
          <a:prstGeom prst="rect">
            <a:avLst/>
          </a:prstGeom>
          <a:noFill/>
        </p:spPr>
        <p:txBody>
          <a:bodyPr wrap="square" lIns="0" rIns="0" tIns="0" bIns="0" anchor="t">
            <a:spAutoFit/>
          </a:bodyPr>
          <a:lstStyle/>
          <a:p>
            <a:pPr algn="ctr">
              <a:lnSpc>
                <a:spcPct val="100000"/>
              </a:lnSpc>
            </a:pPr>
            <a:r>
              <a:rPr sz="2100" b="1" i="0">
                <a:solidFill>
                  <a:srgbClr val="BD582B"/>
                </a:solidFill>
                <a:latin typeface="Calibri"/>
              </a:rPr>
              <a:t>Does the mind-reading kit work? Building preparations for language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Problem Statement</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Three levels. Three published families of tool.</a:t>
            </a:r>
          </a:p>
        </p:txBody>
      </p:sp>
      <p:pic>
        <p:nvPicPr>
          <p:cNvPr id="10" name="fig" descr="f2_levels.png"/>
          <p:cNvPicPr>
            <a:picLocks noChangeAspect="1"/>
          </p:cNvPicPr>
          <p:nvPr/>
        </p:nvPicPr>
        <p:blipFill>
          <a:blip r:embed="rId3"/>
          <a:stretch>
            <a:fillRect/>
          </a:stretch>
        </p:blipFill>
        <p:spPr>
          <a:xfrm>
            <a:off x="655167" y="2450591"/>
            <a:ext cx="10881360" cy="38546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The neuroscience framing</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A preparation is a system chosen because the answer is knowable</a:t>
            </a:r>
          </a:p>
        </p:txBody>
      </p:sp>
      <p:pic>
        <p:nvPicPr>
          <p:cNvPr id="10" name="fig" descr="f3_preparations.png"/>
          <p:cNvPicPr>
            <a:picLocks noChangeAspect="1"/>
          </p:cNvPicPr>
          <p:nvPr/>
        </p:nvPicPr>
        <p:blipFill>
          <a:blip r:embed="rId3"/>
          <a:stretch>
            <a:fillRect/>
          </a:stretch>
        </p:blipFill>
        <p:spPr>
          <a:xfrm>
            <a:off x="655167" y="2450591"/>
            <a:ext cx="10881360" cy="27836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The neuroscience framing</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54864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In biology a preparation is the system you choose because it makes an otherwise impossible measurement tractable.</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1" name="bul1"/>
          <p:cNvSpPr txBox="1"/>
          <p:nvPr/>
        </p:nvSpPr>
        <p:spPr>
          <a:xfrm>
            <a:off x="1115568" y="2542032"/>
            <a:ext cx="10222992" cy="822959"/>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The squid giant axon was picked because it is wide enough to put an electrode inside. Aplysia, because it has large countable neurons. C. elegans, because every one of its 302 neurons could be mapped.</a:t>
            </a:r>
          </a:p>
        </p:txBody>
      </p:sp>
      <p:sp>
        <p:nvSpPr>
          <p:cNvPr id="12" name="dot1"/>
          <p:cNvSpPr txBox="1"/>
          <p:nvPr/>
        </p:nvSpPr>
        <p:spPr>
          <a:xfrm>
            <a:off x="822960" y="256032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3" name="bul2"/>
          <p:cNvSpPr txBox="1"/>
          <p:nvPr/>
        </p:nvSpPr>
        <p:spPr>
          <a:xfrm>
            <a:off x="1115568" y="3456432"/>
            <a:ext cx="10222992" cy="54864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In each case the instrument was proven where the answer was knowable before it was trusted where it was not.</a:t>
            </a:r>
          </a:p>
        </p:txBody>
      </p:sp>
      <p:sp>
        <p:nvSpPr>
          <p:cNvPr id="14" name="dot2"/>
          <p:cNvSpPr txBox="1"/>
          <p:nvPr/>
        </p:nvSpPr>
        <p:spPr>
          <a:xfrm>
            <a:off x="822960" y="347472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5" name="bul3"/>
          <p:cNvSpPr txBox="1"/>
          <p:nvPr/>
        </p:nvSpPr>
        <p:spPr>
          <a:xfrm>
            <a:off x="1115568" y="4096512"/>
            <a:ext cx="10222992" cy="27432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A language model is the first system where all three of our questions have a knowable answer.</a:t>
            </a:r>
          </a:p>
        </p:txBody>
      </p:sp>
      <p:sp>
        <p:nvSpPr>
          <p:cNvPr id="16" name="dot3"/>
          <p:cNvSpPr txBox="1"/>
          <p:nvPr/>
        </p:nvSpPr>
        <p:spPr>
          <a:xfrm>
            <a:off x="822960" y="411480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Ground truth, for free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pic>
        <p:nvPicPr>
          <p:cNvPr id="9" name="fig" descr="f4_ground_truth.png"/>
          <p:cNvPicPr>
            <a:picLocks noChangeAspect="1"/>
          </p:cNvPicPr>
          <p:nvPr/>
        </p:nvPicPr>
        <p:blipFill>
          <a:blip r:embed="rId3"/>
          <a:stretch>
            <a:fillRect/>
          </a:stretch>
        </p:blipFill>
        <p:spPr>
          <a:xfrm>
            <a:off x="883767" y="1947672"/>
            <a:ext cx="10424160" cy="3919918"/>
          </a:xfrm>
          <a:prstGeom prst="rect">
            <a:avLst/>
          </a:prstGeom>
        </p:spPr>
      </p:pic>
      <p:sp>
        <p:nvSpPr>
          <p:cNvPr id="10" name="cap"/>
          <p:cNvSpPr txBox="1"/>
          <p:nvPr/>
        </p:nvSpPr>
        <p:spPr>
          <a:xfrm>
            <a:off x="822960" y="5989320"/>
            <a:ext cx="10515600" cy="365760"/>
          </a:xfrm>
          <a:prstGeom prst="rect">
            <a:avLst/>
          </a:prstGeom>
          <a:noFill/>
        </p:spPr>
        <p:txBody>
          <a:bodyPr wrap="square" lIns="0" rIns="0" tIns="0" bIns="0" anchor="t">
            <a:spAutoFit/>
          </a:bodyPr>
          <a:lstStyle/>
          <a:p>
            <a:pPr algn="ctr">
              <a:lnSpc>
                <a:spcPct val="100000"/>
              </a:lnSpc>
            </a:pPr>
            <a:r>
              <a:rPr sz="1400" b="0" i="1">
                <a:solidFill>
                  <a:srgbClr val="7F7F7F"/>
                </a:solidFill>
                <a:latin typeface="Calibri"/>
              </a:rPr>
              <a:t>At the trait and self levels there is no free truth, so we plant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Work Flow</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01952"/>
            <a:ext cx="10515600" cy="365760"/>
          </a:xfrm>
          <a:prstGeom prst="rect">
            <a:avLst/>
          </a:prstGeom>
          <a:noFill/>
        </p:spPr>
        <p:txBody>
          <a:bodyPr wrap="square" lIns="0" rIns="0" tIns="0" bIns="0" anchor="t">
            <a:spAutoFit/>
          </a:bodyPr>
          <a:lstStyle/>
          <a:p>
            <a:pPr algn="ctr">
              <a:lnSpc>
                <a:spcPct val="100000"/>
              </a:lnSpc>
            </a:pPr>
            <a:r>
              <a:rPr sz="1700" b="1" i="0">
                <a:solidFill>
                  <a:srgbClr val="1F3864"/>
                </a:solidFill>
                <a:latin typeface="Calibri"/>
              </a:rPr>
              <a:t>One measurement pipeline, applied at each level</a:t>
            </a:r>
          </a:p>
        </p:txBody>
      </p:sp>
      <p:pic>
        <p:nvPicPr>
          <p:cNvPr id="10" name="stage1" descr="f5_pipeline_1.png"/>
          <p:cNvPicPr>
            <a:picLocks noChangeAspect="1"/>
          </p:cNvPicPr>
          <p:nvPr/>
        </p:nvPicPr>
        <p:blipFill>
          <a:blip r:embed="rId3"/>
          <a:stretch>
            <a:fillRect/>
          </a:stretch>
        </p:blipFill>
        <p:spPr>
          <a:xfrm>
            <a:off x="548640" y="2404872"/>
            <a:ext cx="11064240" cy="3055254"/>
          </a:xfrm>
          <a:prstGeom prst="rect">
            <a:avLst/>
          </a:prstGeom>
        </p:spPr>
      </p:pic>
      <p:pic>
        <p:nvPicPr>
          <p:cNvPr id="11" name="stage2" descr="f5_pipeline_2.png"/>
          <p:cNvPicPr>
            <a:picLocks noChangeAspect="1"/>
          </p:cNvPicPr>
          <p:nvPr/>
        </p:nvPicPr>
        <p:blipFill>
          <a:blip r:embed="rId4"/>
          <a:stretch>
            <a:fillRect/>
          </a:stretch>
        </p:blipFill>
        <p:spPr>
          <a:xfrm>
            <a:off x="548640" y="2404872"/>
            <a:ext cx="11064240" cy="3055254"/>
          </a:xfrm>
          <a:prstGeom prst="rect">
            <a:avLst/>
          </a:prstGeom>
        </p:spPr>
      </p:pic>
      <p:pic>
        <p:nvPicPr>
          <p:cNvPr id="12" name="stage3" descr="f5_pipeline_3.png"/>
          <p:cNvPicPr>
            <a:picLocks noChangeAspect="1"/>
          </p:cNvPicPr>
          <p:nvPr/>
        </p:nvPicPr>
        <p:blipFill>
          <a:blip r:embed="rId5"/>
          <a:stretch>
            <a:fillRect/>
          </a:stretch>
        </p:blipFill>
        <p:spPr>
          <a:xfrm>
            <a:off x="548640" y="2404872"/>
            <a:ext cx="11064240" cy="3055254"/>
          </a:xfrm>
          <a:prstGeom prst="rect">
            <a:avLst/>
          </a:prstGeom>
        </p:spPr>
      </p:pic>
      <p:pic>
        <p:nvPicPr>
          <p:cNvPr id="13" name="stage4" descr="f5_pipeline_4.png"/>
          <p:cNvPicPr>
            <a:picLocks noChangeAspect="1"/>
          </p:cNvPicPr>
          <p:nvPr/>
        </p:nvPicPr>
        <p:blipFill>
          <a:blip r:embed="rId6"/>
          <a:stretch>
            <a:fillRect/>
          </a:stretch>
        </p:blipFill>
        <p:spPr>
          <a:xfrm>
            <a:off x="548640" y="2404872"/>
            <a:ext cx="11064240" cy="3055254"/>
          </a:xfrm>
          <a:prstGeom prst="rect">
            <a:avLst/>
          </a:prstGeom>
        </p:spPr>
      </p:pic>
      <p:pic>
        <p:nvPicPr>
          <p:cNvPr id="14" name="stage5" descr="f5_pipeline_5.png"/>
          <p:cNvPicPr>
            <a:picLocks noChangeAspect="1"/>
          </p:cNvPicPr>
          <p:nvPr/>
        </p:nvPicPr>
        <p:blipFill>
          <a:blip r:embed="rId7"/>
          <a:stretch>
            <a:fillRect/>
          </a:stretch>
        </p:blipFill>
        <p:spPr>
          <a:xfrm>
            <a:off x="548640" y="2404872"/>
            <a:ext cx="11064240" cy="3055254"/>
          </a:xfrm>
          <a:prstGeom prst="rect">
            <a:avLst/>
          </a:prstGeom>
        </p:spPr>
      </p:pic>
      <p:pic>
        <p:nvPicPr>
          <p:cNvPr id="15" name="stage6" descr="f5_pipeline_6.png"/>
          <p:cNvPicPr>
            <a:picLocks noChangeAspect="1"/>
          </p:cNvPicPr>
          <p:nvPr/>
        </p:nvPicPr>
        <p:blipFill>
          <a:blip r:embed="rId8"/>
          <a:stretch>
            <a:fillRect/>
          </a:stretch>
        </p:blipFill>
        <p:spPr>
          <a:xfrm>
            <a:off x="548640" y="2404872"/>
            <a:ext cx="11064240" cy="3055254"/>
          </a:xfrm>
          <a:prstGeom prst="rect">
            <a:avLst/>
          </a:prstGeom>
        </p:spPr>
      </p:pic>
      <p:sp>
        <p:nvSpPr>
          <p:cNvPr id="16" name="note"/>
          <p:cNvSpPr txBox="1"/>
          <p:nvPr/>
        </p:nvSpPr>
        <p:spPr>
          <a:xfrm>
            <a:off x="822960" y="5742432"/>
            <a:ext cx="10515600" cy="640080"/>
          </a:xfrm>
          <a:prstGeom prst="rect">
            <a:avLst/>
          </a:prstGeom>
          <a:noFill/>
        </p:spPr>
        <p:txBody>
          <a:bodyPr wrap="square" lIns="0" rIns="0" tIns="0" bIns="0" anchor="t">
            <a:spAutoFit/>
          </a:bodyPr>
          <a:lstStyle/>
          <a:p>
            <a:pPr algn="ctr">
              <a:lnSpc>
                <a:spcPct val="115000"/>
              </a:lnSpc>
            </a:pPr>
            <a:r>
              <a:rPr sz="1300" b="0" i="0">
                <a:solidFill>
                  <a:srgbClr val="7F7F7F"/>
                </a:solidFill>
                <a:latin typeface="Calibri"/>
              </a:rPr>
              <a:t>Every study reports the same four quantities, so the three levels read as one instrument characterised at three depths rather than three separate projects.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Scope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0"/>
          <p:cNvSpPr/>
          <p:nvPr/>
        </p:nvSpPr>
        <p:spPr>
          <a:xfrm>
            <a:off x="685800" y="1901952"/>
            <a:ext cx="5212080" cy="4206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t0"/>
          <p:cNvSpPr txBox="1"/>
          <p:nvPr/>
        </p:nvSpPr>
        <p:spPr>
          <a:xfrm>
            <a:off x="914400" y="1993392"/>
            <a:ext cx="4754880" cy="274320"/>
          </a:xfrm>
          <a:prstGeom prst="rect">
            <a:avLst/>
          </a:prstGeom>
          <a:noFill/>
        </p:spPr>
        <p:txBody>
          <a:bodyPr wrap="square" lIns="0" rIns="0" tIns="0" bIns="0" anchor="t">
            <a:spAutoFit/>
          </a:bodyPr>
          <a:lstStyle/>
          <a:p>
            <a:pPr algn="l">
              <a:lnSpc>
                <a:spcPct val="100000"/>
              </a:lnSpc>
            </a:pPr>
            <a:r>
              <a:rPr sz="1600" b="1" i="0">
                <a:solidFill>
                  <a:srgbClr val="FFFFFF"/>
                </a:solidFill>
                <a:latin typeface="Calibri"/>
              </a:rPr>
              <a:t>In scope</a:t>
            </a:r>
          </a:p>
        </p:txBody>
      </p:sp>
      <p:sp>
        <p:nvSpPr>
          <p:cNvPr id="11" name="d00"/>
          <p:cNvSpPr txBox="1"/>
          <p:nvPr/>
        </p:nvSpPr>
        <p:spPr>
          <a:xfrm>
            <a:off x="777240" y="2578608"/>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2" name="b00"/>
          <p:cNvSpPr txBox="1"/>
          <p:nvPr/>
        </p:nvSpPr>
        <p:spPr>
          <a:xfrm>
            <a:off x="1069848" y="2560320"/>
            <a:ext cx="4709160" cy="246888"/>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Three levels of readout: unit, trait, self.</a:t>
            </a:r>
          </a:p>
        </p:txBody>
      </p:sp>
      <p:sp>
        <p:nvSpPr>
          <p:cNvPr id="13" name="d01"/>
          <p:cNvSpPr txBox="1"/>
          <p:nvPr/>
        </p:nvSpPr>
        <p:spPr>
          <a:xfrm>
            <a:off x="777240" y="2971800"/>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4" name="b01"/>
          <p:cNvSpPr txBox="1"/>
          <p:nvPr/>
        </p:nvSpPr>
        <p:spPr>
          <a:xfrm>
            <a:off x="1069848" y="2953512"/>
            <a:ext cx="4709160" cy="740664"/>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Open-weight models only — GPT-2 small for the unit level, one ≥ 27B instruct model for trait and self.</a:t>
            </a:r>
          </a:p>
        </p:txBody>
      </p:sp>
      <p:sp>
        <p:nvSpPr>
          <p:cNvPr id="15" name="d02"/>
          <p:cNvSpPr txBox="1"/>
          <p:nvPr/>
        </p:nvSpPr>
        <p:spPr>
          <a:xfrm>
            <a:off x="777240" y="3858768"/>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6" name="b02"/>
          <p:cNvSpPr txBox="1"/>
          <p:nvPr/>
        </p:nvSpPr>
        <p:spPr>
          <a:xfrm>
            <a:off x="1069848" y="3840480"/>
            <a:ext cx="4709160" cy="246888"/>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English text, public-domain corpora.</a:t>
            </a:r>
          </a:p>
        </p:txBody>
      </p:sp>
      <p:sp>
        <p:nvSpPr>
          <p:cNvPr id="17" name="d03"/>
          <p:cNvSpPr txBox="1"/>
          <p:nvPr/>
        </p:nvSpPr>
        <p:spPr>
          <a:xfrm>
            <a:off x="777240" y="4251959"/>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8" name="b03"/>
          <p:cNvSpPr txBox="1"/>
          <p:nvPr/>
        </p:nvSpPr>
        <p:spPr>
          <a:xfrm>
            <a:off x="1069848" y="4233672"/>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Readouts that are already published. We test instruments, we do not invent them.</a:t>
            </a:r>
          </a:p>
        </p:txBody>
      </p:sp>
      <p:sp>
        <p:nvSpPr>
          <p:cNvPr id="19" name="hd1"/>
          <p:cNvSpPr/>
          <p:nvPr/>
        </p:nvSpPr>
        <p:spPr>
          <a:xfrm>
            <a:off x="6309360" y="1901952"/>
            <a:ext cx="5212080" cy="42062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t1"/>
          <p:cNvSpPr txBox="1"/>
          <p:nvPr/>
        </p:nvSpPr>
        <p:spPr>
          <a:xfrm>
            <a:off x="6537960" y="1993392"/>
            <a:ext cx="4754880" cy="274320"/>
          </a:xfrm>
          <a:prstGeom prst="rect">
            <a:avLst/>
          </a:prstGeom>
          <a:noFill/>
        </p:spPr>
        <p:txBody>
          <a:bodyPr wrap="square" lIns="0" rIns="0" tIns="0" bIns="0" anchor="t">
            <a:spAutoFit/>
          </a:bodyPr>
          <a:lstStyle/>
          <a:p>
            <a:pPr algn="l">
              <a:lnSpc>
                <a:spcPct val="100000"/>
              </a:lnSpc>
            </a:pPr>
            <a:r>
              <a:rPr sz="1600" b="1" i="0">
                <a:solidFill>
                  <a:srgbClr val="FFFFFF"/>
                </a:solidFill>
                <a:latin typeface="Calibri"/>
              </a:rPr>
              <a:t>Out of scope</a:t>
            </a:r>
          </a:p>
        </p:txBody>
      </p:sp>
      <p:sp>
        <p:nvSpPr>
          <p:cNvPr id="21" name="d10"/>
          <p:cNvSpPr txBox="1"/>
          <p:nvPr/>
        </p:nvSpPr>
        <p:spPr>
          <a:xfrm>
            <a:off x="6400800" y="2578608"/>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2" name="b10"/>
          <p:cNvSpPr txBox="1"/>
          <p:nvPr/>
        </p:nvSpPr>
        <p:spPr>
          <a:xfrm>
            <a:off x="6693408" y="2560320"/>
            <a:ext cx="4709160" cy="740664"/>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claim about machine consciousness. The terms are introspective accuracy and self-report validity.</a:t>
            </a:r>
          </a:p>
        </p:txBody>
      </p:sp>
      <p:sp>
        <p:nvSpPr>
          <p:cNvPr id="23" name="d11"/>
          <p:cNvSpPr txBox="1"/>
          <p:nvPr/>
        </p:nvSpPr>
        <p:spPr>
          <a:xfrm>
            <a:off x="6400800" y="3465576"/>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4" name="b11"/>
          <p:cNvSpPr txBox="1"/>
          <p:nvPr/>
        </p:nvSpPr>
        <p:spPr>
          <a:xfrm>
            <a:off x="6693408" y="344728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training-time work — every experiment is inference only.</a:t>
            </a:r>
          </a:p>
        </p:txBody>
      </p:sp>
      <p:sp>
        <p:nvSpPr>
          <p:cNvPr id="25" name="d12"/>
          <p:cNvSpPr txBox="1"/>
          <p:nvPr/>
        </p:nvSpPr>
        <p:spPr>
          <a:xfrm>
            <a:off x="6400800" y="4105655"/>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6" name="b12"/>
          <p:cNvSpPr txBox="1"/>
          <p:nvPr/>
        </p:nvSpPr>
        <p:spPr>
          <a:xfrm>
            <a:off x="6693408" y="408736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proprietary or API-only models; results must be reproducible by anyone.</a:t>
            </a:r>
          </a:p>
        </p:txBody>
      </p:sp>
      <p:sp>
        <p:nvSpPr>
          <p:cNvPr id="27" name="d13"/>
          <p:cNvSpPr txBox="1"/>
          <p:nvPr/>
        </p:nvSpPr>
        <p:spPr>
          <a:xfrm>
            <a:off x="6400800" y="4745736"/>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8" name="b13"/>
          <p:cNvSpPr txBox="1"/>
          <p:nvPr/>
        </p:nvSpPr>
        <p:spPr>
          <a:xfrm>
            <a:off x="6693408" y="472744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Not a benchmark leaderboard. We measure error rates, not rankings.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Feasibility study</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n0"/>
          <p:cNvSpPr/>
          <p:nvPr/>
        </p:nvSpPr>
        <p:spPr>
          <a:xfrm>
            <a:off x="777240" y="1947672"/>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t0"/>
          <p:cNvSpPr txBox="1"/>
          <p:nvPr/>
        </p:nvSpPr>
        <p:spPr>
          <a:xfrm>
            <a:off x="777240" y="2029967"/>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1</a:t>
            </a:r>
          </a:p>
        </p:txBody>
      </p:sp>
      <p:sp>
        <p:nvSpPr>
          <p:cNvPr id="11" name="t0"/>
          <p:cNvSpPr txBox="1"/>
          <p:nvPr/>
        </p:nvSpPr>
        <p:spPr>
          <a:xfrm>
            <a:off x="1371600" y="1965960"/>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Model availability</a:t>
            </a:r>
          </a:p>
        </p:txBody>
      </p:sp>
      <p:sp>
        <p:nvSpPr>
          <p:cNvPr id="12" name="b0"/>
          <p:cNvSpPr txBox="1"/>
          <p:nvPr/>
        </p:nvSpPr>
        <p:spPr>
          <a:xfrm>
            <a:off x="1371600" y="2276856"/>
            <a:ext cx="9875520" cy="246888"/>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GPT-2 small, Gemma3-27B-it and Qwen2.5-32B-Instruct are all open-weight and free to obtain.</a:t>
            </a:r>
          </a:p>
        </p:txBody>
      </p:sp>
      <p:sp>
        <p:nvSpPr>
          <p:cNvPr id="13" name="n1"/>
          <p:cNvSpPr/>
          <p:nvPr/>
        </p:nvSpPr>
        <p:spPr>
          <a:xfrm>
            <a:off x="777240" y="2743200"/>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t1"/>
          <p:cNvSpPr txBox="1"/>
          <p:nvPr/>
        </p:nvSpPr>
        <p:spPr>
          <a:xfrm>
            <a:off x="777240" y="2825496"/>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2</a:t>
            </a:r>
          </a:p>
        </p:txBody>
      </p:sp>
      <p:sp>
        <p:nvSpPr>
          <p:cNvPr id="15" name="t1"/>
          <p:cNvSpPr txBox="1"/>
          <p:nvPr/>
        </p:nvSpPr>
        <p:spPr>
          <a:xfrm>
            <a:off x="1371600" y="2761488"/>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Ground truth</a:t>
            </a:r>
          </a:p>
        </p:txBody>
      </p:sp>
      <p:sp>
        <p:nvSpPr>
          <p:cNvPr id="16" name="b1"/>
          <p:cNvSpPr txBox="1"/>
          <p:nvPr/>
        </p:nvSpPr>
        <p:spPr>
          <a:xfrm>
            <a:off x="1371600" y="3072384"/>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Free at the unit level — it is already in the weights. Planted at the trait and self levels using published injection methods.</a:t>
            </a:r>
          </a:p>
        </p:txBody>
      </p:sp>
      <p:sp>
        <p:nvSpPr>
          <p:cNvPr id="17" name="n2"/>
          <p:cNvSpPr/>
          <p:nvPr/>
        </p:nvSpPr>
        <p:spPr>
          <a:xfrm>
            <a:off x="777240" y="3785615"/>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t2"/>
          <p:cNvSpPr txBox="1"/>
          <p:nvPr/>
        </p:nvSpPr>
        <p:spPr>
          <a:xfrm>
            <a:off x="777240" y="3867911"/>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3</a:t>
            </a:r>
          </a:p>
        </p:txBody>
      </p:sp>
      <p:sp>
        <p:nvSpPr>
          <p:cNvPr id="19" name="t2"/>
          <p:cNvSpPr txBox="1"/>
          <p:nvPr/>
        </p:nvSpPr>
        <p:spPr>
          <a:xfrm>
            <a:off x="1371600" y="3803903"/>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Compute</a:t>
            </a:r>
          </a:p>
        </p:txBody>
      </p:sp>
      <p:sp>
        <p:nvSpPr>
          <p:cNvPr id="20" name="b2"/>
          <p:cNvSpPr txBox="1"/>
          <p:nvPr/>
        </p:nvSpPr>
        <p:spPr>
          <a:xfrm>
            <a:off x="1371600" y="4114800"/>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Unit level runs on a laptop CPU. Large-model work runs on Kaggle’s free tier, 2× Tesla T4, 30 GPU-hours per week. The pipeline checkpoints and resumes.</a:t>
            </a:r>
          </a:p>
        </p:txBody>
      </p:sp>
      <p:sp>
        <p:nvSpPr>
          <p:cNvPr id="21" name="n3"/>
          <p:cNvSpPr/>
          <p:nvPr/>
        </p:nvSpPr>
        <p:spPr>
          <a:xfrm>
            <a:off x="777240" y="4828031"/>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nt3"/>
          <p:cNvSpPr txBox="1"/>
          <p:nvPr/>
        </p:nvSpPr>
        <p:spPr>
          <a:xfrm>
            <a:off x="777240" y="4910327"/>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4</a:t>
            </a:r>
          </a:p>
        </p:txBody>
      </p:sp>
      <p:sp>
        <p:nvSpPr>
          <p:cNvPr id="23" name="t3"/>
          <p:cNvSpPr txBox="1"/>
          <p:nvPr/>
        </p:nvSpPr>
        <p:spPr>
          <a:xfrm>
            <a:off x="1371600" y="4846319"/>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Methods</a:t>
            </a:r>
          </a:p>
        </p:txBody>
      </p:sp>
      <p:sp>
        <p:nvSpPr>
          <p:cNvPr id="24" name="b3"/>
          <p:cNvSpPr txBox="1"/>
          <p:nvPr/>
        </p:nvSpPr>
        <p:spPr>
          <a:xfrm>
            <a:off x="1371600" y="5157216"/>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The estimators are decades old and published; the injection and persona methods are public. Nothing needs to be invented before measurement can start.</a:t>
            </a:r>
          </a:p>
        </p:txBody>
      </p:sp>
      <p:sp>
        <p:nvSpPr>
          <p:cNvPr id="25" name="tail"/>
          <p:cNvSpPr txBox="1"/>
          <p:nvPr/>
        </p:nvSpPr>
        <p:spPr>
          <a:xfrm>
            <a:off x="777240" y="5989320"/>
            <a:ext cx="10515600" cy="365760"/>
          </a:xfrm>
          <a:prstGeom prst="rect">
            <a:avLst/>
          </a:prstGeom>
          <a:noFill/>
        </p:spPr>
        <p:txBody>
          <a:bodyPr wrap="square" lIns="0" rIns="0" tIns="0" bIns="0" anchor="t">
            <a:spAutoFit/>
          </a:bodyPr>
          <a:lstStyle/>
          <a:p>
            <a:pPr algn="ctr">
              <a:lnSpc>
                <a:spcPct val="100000"/>
              </a:lnSpc>
            </a:pPr>
            <a:r>
              <a:rPr sz="1600" b="1" i="0">
                <a:solidFill>
                  <a:srgbClr val="BD582B"/>
                </a:solidFill>
                <a:latin typeface="Calibri"/>
              </a:rPr>
              <a:t>No personal data. No proprietary data. No paid compute.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Applications / Use cases</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card0"/>
          <p:cNvSpPr/>
          <p:nvPr/>
        </p:nvSpPr>
        <p:spPr>
          <a:xfrm>
            <a:off x="685800" y="194767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0"/>
          <p:cNvSpPr/>
          <p:nvPr/>
        </p:nvSpPr>
        <p:spPr>
          <a:xfrm>
            <a:off x="685800" y="1947672"/>
            <a:ext cx="68580" cy="12984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t0"/>
          <p:cNvSpPr txBox="1"/>
          <p:nvPr/>
        </p:nvSpPr>
        <p:spPr>
          <a:xfrm>
            <a:off x="960120" y="207568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AI safety audits</a:t>
            </a:r>
          </a:p>
        </p:txBody>
      </p:sp>
      <p:sp>
        <p:nvSpPr>
          <p:cNvPr id="12" name="ub0"/>
          <p:cNvSpPr txBox="1"/>
          <p:nvPr/>
        </p:nvSpPr>
        <p:spPr>
          <a:xfrm>
            <a:off x="960120" y="2377439"/>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Regulators and labs increasingly check for hidden traits — deception, sycophancy, bias — by reading a model’s internals. Every such audit rests on a readout whose error rate nobody has measured.</a:t>
            </a:r>
          </a:p>
        </p:txBody>
      </p:sp>
      <p:sp>
        <p:nvSpPr>
          <p:cNvPr id="13" name="card1"/>
          <p:cNvSpPr/>
          <p:nvPr/>
        </p:nvSpPr>
        <p:spPr>
          <a:xfrm>
            <a:off x="6309360" y="194767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1"/>
          <p:cNvSpPr/>
          <p:nvPr/>
        </p:nvSpPr>
        <p:spPr>
          <a:xfrm>
            <a:off x="6309360" y="1947672"/>
            <a:ext cx="68580" cy="12984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t1"/>
          <p:cNvSpPr txBox="1"/>
          <p:nvPr/>
        </p:nvSpPr>
        <p:spPr>
          <a:xfrm>
            <a:off x="6583680" y="207568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Trusting a model’s self-report</a:t>
            </a:r>
          </a:p>
        </p:txBody>
      </p:sp>
      <p:sp>
        <p:nvSpPr>
          <p:cNvPr id="16" name="ub1"/>
          <p:cNvSpPr txBox="1"/>
          <p:nvPr/>
        </p:nvSpPr>
        <p:spPr>
          <a:xfrm>
            <a:off x="6583680" y="2377439"/>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Models are asked “are you being honest?” and the answer is treated as evidence. Whether that report tracks the model’s actual state has never been tested against a planted state.</a:t>
            </a:r>
          </a:p>
        </p:txBody>
      </p:sp>
      <p:sp>
        <p:nvSpPr>
          <p:cNvPr id="17" name="card2"/>
          <p:cNvSpPr/>
          <p:nvPr/>
        </p:nvSpPr>
        <p:spPr>
          <a:xfrm>
            <a:off x="685800" y="341071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2"/>
          <p:cNvSpPr/>
          <p:nvPr/>
        </p:nvSpPr>
        <p:spPr>
          <a:xfrm>
            <a:off x="685800" y="3410712"/>
            <a:ext cx="68580" cy="12984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t2"/>
          <p:cNvSpPr txBox="1"/>
          <p:nvPr/>
        </p:nvSpPr>
        <p:spPr>
          <a:xfrm>
            <a:off x="960120" y="353872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Model debugging</a:t>
            </a:r>
          </a:p>
        </p:txBody>
      </p:sp>
      <p:sp>
        <p:nvSpPr>
          <p:cNvPr id="20" name="ub2"/>
          <p:cNvSpPr txBox="1"/>
          <p:nvPr/>
        </p:nvSpPr>
        <p:spPr>
          <a:xfrm>
            <a:off x="960120" y="384048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When a model misbehaves, engineers hunt for the responsible direction. A tool that points at the wrong one sends them down the wrong path, and gives no sign it has done so.</a:t>
            </a:r>
          </a:p>
        </p:txBody>
      </p:sp>
      <p:sp>
        <p:nvSpPr>
          <p:cNvPr id="21" name="card3"/>
          <p:cNvSpPr/>
          <p:nvPr/>
        </p:nvSpPr>
        <p:spPr>
          <a:xfrm>
            <a:off x="6309360" y="341071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3"/>
          <p:cNvSpPr/>
          <p:nvPr/>
        </p:nvSpPr>
        <p:spPr>
          <a:xfrm>
            <a:off x="6309360" y="3410712"/>
            <a:ext cx="68580" cy="12984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t3"/>
          <p:cNvSpPr txBox="1"/>
          <p:nvPr/>
        </p:nvSpPr>
        <p:spPr>
          <a:xfrm>
            <a:off x="6583680" y="353872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Persona and character products</a:t>
            </a:r>
          </a:p>
        </p:txBody>
      </p:sp>
      <p:sp>
        <p:nvSpPr>
          <p:cNvPr id="24" name="ub3"/>
          <p:cNvSpPr txBox="1"/>
          <p:nvPr/>
        </p:nvSpPr>
        <p:spPr>
          <a:xfrm>
            <a:off x="6583680" y="384048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Shipped models carry tuned personalities controlled by persona vectors. Whether such a vector captures the trait or a mixture of unrelated things has never been checked against a planted case.</a:t>
            </a:r>
          </a:p>
        </p:txBody>
      </p:sp>
      <p:sp>
        <p:nvSpPr>
          <p:cNvPr id="25" name="card4"/>
          <p:cNvSpPr/>
          <p:nvPr/>
        </p:nvSpPr>
        <p:spPr>
          <a:xfrm>
            <a:off x="685800" y="487375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4"/>
          <p:cNvSpPr/>
          <p:nvPr/>
        </p:nvSpPr>
        <p:spPr>
          <a:xfrm>
            <a:off x="685800" y="4873752"/>
            <a:ext cx="68580" cy="12984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t4"/>
          <p:cNvSpPr txBox="1"/>
          <p:nvPr/>
        </p:nvSpPr>
        <p:spPr>
          <a:xfrm>
            <a:off x="960120" y="500176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Reproducibility for the field</a:t>
            </a:r>
          </a:p>
        </p:txBody>
      </p:sp>
      <p:sp>
        <p:nvSpPr>
          <p:cNvPr id="28" name="ub4"/>
          <p:cNvSpPr txBox="1"/>
          <p:nvPr/>
        </p:nvSpPr>
        <p:spPr>
          <a:xfrm>
            <a:off x="960120" y="530352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Every experiment runs on a free account. Code, data and pre-registration dates are published, so anyone can repeat the measurement.</a:t>
            </a:r>
          </a:p>
        </p:txBody>
      </p:sp>
      <p:sp>
        <p:nvSpPr>
          <p:cNvPr id="29" name="card5"/>
          <p:cNvSpPr/>
          <p:nvPr/>
        </p:nvSpPr>
        <p:spPr>
          <a:xfrm>
            <a:off x="6309360" y="487375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5"/>
          <p:cNvSpPr/>
          <p:nvPr/>
        </p:nvSpPr>
        <p:spPr>
          <a:xfrm>
            <a:off x="6309360" y="4873752"/>
            <a:ext cx="68580" cy="12984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ut5"/>
          <p:cNvSpPr txBox="1"/>
          <p:nvPr/>
        </p:nvSpPr>
        <p:spPr>
          <a:xfrm>
            <a:off x="6583680" y="500176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Foundational</a:t>
            </a:r>
          </a:p>
        </p:txBody>
      </p:sp>
      <p:sp>
        <p:nvSpPr>
          <p:cNvPr id="32" name="ub5"/>
          <p:cNvSpPr txBox="1"/>
          <p:nvPr/>
        </p:nvSpPr>
        <p:spPr>
          <a:xfrm>
            <a:off x="6583680" y="530352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Neuroscience learned the hard way that reading tools need preparations. Transferring that discipline is the intellectual contribution.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Four strands, one shared gap</a:t>
            </a:r>
          </a:p>
        </p:txBody>
      </p:sp>
      <p:pic>
        <p:nvPicPr>
          <p:cNvPr id="10" name="fig" descr="f6_literature.png"/>
          <p:cNvPicPr>
            <a:picLocks noChangeAspect="1"/>
          </p:cNvPicPr>
          <p:nvPr/>
        </p:nvPicPr>
        <p:blipFill>
          <a:blip r:embed="rId3"/>
          <a:stretch>
            <a:fillRect/>
          </a:stretch>
        </p:blipFill>
        <p:spPr>
          <a:xfrm>
            <a:off x="609447" y="2450591"/>
            <a:ext cx="10972800" cy="344057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Unit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Maximally Informative Dimensions</a:t>
            </a:r>
          </a:p>
        </p:txBody>
      </p:sp>
      <p:sp>
        <p:nvSpPr>
          <p:cNvPr id="15" name="c2_0"/>
          <p:cNvSpPr txBox="1"/>
          <p:nvPr/>
        </p:nvSpPr>
        <p:spPr>
          <a:xfrm>
            <a:off x="3931920" y="2478024"/>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Sharpee, Rust &amp; Bialek (2004), Neural Computation 16(2)</a:t>
            </a:r>
          </a:p>
        </p:txBody>
      </p:sp>
      <p:sp>
        <p:nvSpPr>
          <p:cNvPr id="16" name="c3_0"/>
          <p:cNvSpPr txBox="1"/>
          <p:nvPr/>
        </p:nvSpPr>
        <p:spPr>
          <a:xfrm>
            <a:off x="7315200" y="2478024"/>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Introduced the information-theoretic estimator for what a neuron responds to; the method we adapt to language-model units.</a:t>
            </a:r>
          </a:p>
        </p:txBody>
      </p:sp>
      <p:sp>
        <p:nvSpPr>
          <p:cNvPr id="17" name="bg1"/>
          <p:cNvSpPr/>
          <p:nvPr/>
        </p:nvSpPr>
        <p:spPr>
          <a:xfrm>
            <a:off x="502920" y="3090672"/>
            <a:ext cx="1120140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191256"/>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Equivalence of MID and maximum likelihood</a:t>
            </a:r>
          </a:p>
        </p:txBody>
      </p:sp>
      <p:sp>
        <p:nvSpPr>
          <p:cNvPr id="19" name="c2_1"/>
          <p:cNvSpPr txBox="1"/>
          <p:nvPr/>
        </p:nvSpPr>
        <p:spPr>
          <a:xfrm>
            <a:off x="3931920" y="3191256"/>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Williamson, Sahani &amp; Pillow (2015), PLoS Comput Biol 11(4)</a:t>
            </a:r>
          </a:p>
        </p:txBody>
      </p:sp>
      <p:sp>
        <p:nvSpPr>
          <p:cNvPr id="20" name="c3_1"/>
          <p:cNvSpPr txBox="1"/>
          <p:nvPr/>
        </p:nvSpPr>
        <p:spPr>
          <a:xfrm>
            <a:off x="7315200" y="3191256"/>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Showed MID is maximum likelihood for a linear-nonlinear model, which makes it a rank-K bottleneck regression — the form we implement.</a:t>
            </a:r>
          </a:p>
        </p:txBody>
      </p:sp>
      <p:sp>
        <p:nvSpPr>
          <p:cNvPr id="21" name="bg2"/>
          <p:cNvSpPr/>
          <p:nvPr/>
        </p:nvSpPr>
        <p:spPr>
          <a:xfrm>
            <a:off x="502920" y="393192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03250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Zoom In: An Introduction to Circuits</a:t>
            </a:r>
          </a:p>
        </p:txBody>
      </p:sp>
      <p:sp>
        <p:nvSpPr>
          <p:cNvPr id="23" name="c2_2"/>
          <p:cNvSpPr txBox="1"/>
          <p:nvPr/>
        </p:nvSpPr>
        <p:spPr>
          <a:xfrm>
            <a:off x="3931920" y="403250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Olah et al. (2020), Distill</a:t>
            </a:r>
          </a:p>
        </p:txBody>
      </p:sp>
      <p:sp>
        <p:nvSpPr>
          <p:cNvPr id="24" name="c3_2"/>
          <p:cNvSpPr txBox="1"/>
          <p:nvPr/>
        </p:nvSpPr>
        <p:spPr>
          <a:xfrm>
            <a:off x="7315200" y="403250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Established tuning-curve style analysis of individual units in vision models. Prior art we differ from: vision, and no ground-truth check.</a:t>
            </a:r>
          </a:p>
        </p:txBody>
      </p:sp>
      <p:sp>
        <p:nvSpPr>
          <p:cNvPr id="25" name="bg3"/>
          <p:cNvSpPr/>
          <p:nvPr/>
        </p:nvSpPr>
        <p:spPr>
          <a:xfrm>
            <a:off x="502920" y="477316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1_3"/>
          <p:cNvSpPr txBox="1"/>
          <p:nvPr/>
        </p:nvSpPr>
        <p:spPr>
          <a:xfrm>
            <a:off x="685800" y="487375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Sparse coding and population sparseness</a:t>
            </a:r>
          </a:p>
        </p:txBody>
      </p:sp>
      <p:sp>
        <p:nvSpPr>
          <p:cNvPr id="27" name="c2_3"/>
          <p:cNvSpPr txBox="1"/>
          <p:nvPr/>
        </p:nvSpPr>
        <p:spPr>
          <a:xfrm>
            <a:off x="3931920" y="487375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Willmore &amp; Tolhurst (2001), Network 12(3)</a:t>
            </a:r>
          </a:p>
        </p:txBody>
      </p:sp>
      <p:sp>
        <p:nvSpPr>
          <p:cNvPr id="28" name="c3_3"/>
          <p:cNvSpPr txBox="1"/>
          <p:nvPr/>
        </p:nvSpPr>
        <p:spPr>
          <a:xfrm>
            <a:off x="7315200" y="487375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Lifetime kurtosis is not population sparseness — a caution we inherit when characterising unit selectivity.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Trait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Persona vectors</a:t>
            </a:r>
          </a:p>
        </p:txBody>
      </p:sp>
      <p:sp>
        <p:nvSpPr>
          <p:cNvPr id="15" name="c2_0"/>
          <p:cNvSpPr txBox="1"/>
          <p:nvPr/>
        </p:nvSpPr>
        <p:spPr>
          <a:xfrm>
            <a:off x="3931920" y="247802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Chen et al. (2025), arXiv:2507.21509</a:t>
            </a:r>
          </a:p>
        </p:txBody>
      </p:sp>
      <p:sp>
        <p:nvSpPr>
          <p:cNvPr id="16" name="c3_0"/>
          <p:cNvSpPr txBox="1"/>
          <p:nvPr/>
        </p:nvSpPr>
        <p:spPr>
          <a:xfrm>
            <a:off x="7315200" y="247802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Extracts trait directions by difference of means and steers behaviour with them; validated by steering effect, never by recovering a known direction.</a:t>
            </a:r>
          </a:p>
        </p:txBody>
      </p:sp>
      <p:sp>
        <p:nvSpPr>
          <p:cNvPr id="17" name="bg1"/>
          <p:cNvSpPr/>
          <p:nvPr/>
        </p:nvSpPr>
        <p:spPr>
          <a:xfrm>
            <a:off x="502920" y="321868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31927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Steering language models with activation engineering</a:t>
            </a:r>
          </a:p>
        </p:txBody>
      </p:sp>
      <p:sp>
        <p:nvSpPr>
          <p:cNvPr id="19" name="c2_1"/>
          <p:cNvSpPr txBox="1"/>
          <p:nvPr/>
        </p:nvSpPr>
        <p:spPr>
          <a:xfrm>
            <a:off x="3931920" y="331927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Turner et al. (2023), arXiv:2308.10248</a:t>
            </a:r>
          </a:p>
        </p:txBody>
      </p:sp>
      <p:sp>
        <p:nvSpPr>
          <p:cNvPr id="20" name="c3_1"/>
          <p:cNvSpPr txBox="1"/>
          <p:nvPr/>
        </p:nvSpPr>
        <p:spPr>
          <a:xfrm>
            <a:off x="7315200" y="331927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Established activation addition as a control method; the family of readouts our trait level puts under test.</a:t>
            </a:r>
          </a:p>
        </p:txBody>
      </p:sp>
      <p:sp>
        <p:nvSpPr>
          <p:cNvPr id="21" name="bg2"/>
          <p:cNvSpPr/>
          <p:nvPr/>
        </p:nvSpPr>
        <p:spPr>
          <a:xfrm>
            <a:off x="502920" y="393192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03250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Convergent and discriminant validation</a:t>
            </a:r>
          </a:p>
        </p:txBody>
      </p:sp>
      <p:sp>
        <p:nvSpPr>
          <p:cNvPr id="23" name="c2_2"/>
          <p:cNvSpPr txBox="1"/>
          <p:nvPr/>
        </p:nvSpPr>
        <p:spPr>
          <a:xfrm>
            <a:off x="3931920" y="403250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Campbell &amp; Fiske (1959), Psychological Bulletin 56(2)</a:t>
            </a:r>
          </a:p>
        </p:txBody>
      </p:sp>
      <p:sp>
        <p:nvSpPr>
          <p:cNvPr id="24" name="c3_2"/>
          <p:cNvSpPr txBox="1"/>
          <p:nvPr/>
        </p:nvSpPr>
        <p:spPr>
          <a:xfrm>
            <a:off x="7315200" y="403250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The multitrait–multimethod matrix, the psychology standard for validating a trait measure. Level 2 adopts it and adds a truth column.</a:t>
            </a:r>
          </a:p>
        </p:txBody>
      </p:sp>
      <p:sp>
        <p:nvSpPr>
          <p:cNvPr id="25" name="bg3"/>
          <p:cNvSpPr/>
          <p:nvPr/>
        </p:nvSpPr>
        <p:spPr>
          <a:xfrm>
            <a:off x="502920" y="477316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1_3"/>
          <p:cNvSpPr txBox="1"/>
          <p:nvPr/>
        </p:nvSpPr>
        <p:spPr>
          <a:xfrm>
            <a:off x="685800" y="487375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Construct validity in psychological tests</a:t>
            </a:r>
          </a:p>
        </p:txBody>
      </p:sp>
      <p:sp>
        <p:nvSpPr>
          <p:cNvPr id="27" name="c2_3"/>
          <p:cNvSpPr txBox="1"/>
          <p:nvPr/>
        </p:nvSpPr>
        <p:spPr>
          <a:xfrm>
            <a:off x="3931920" y="487375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Cronbach &amp; Meehl (1955), Psychological Bulletin 52(4)</a:t>
            </a:r>
          </a:p>
        </p:txBody>
      </p:sp>
      <p:sp>
        <p:nvSpPr>
          <p:cNvPr id="28" name="c3_3"/>
          <p:cNvSpPr txBox="1"/>
          <p:nvPr/>
        </p:nvSpPr>
        <p:spPr>
          <a:xfrm>
            <a:off x="7315200" y="487375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Defines what it means for an instrument to measure the construct it claims to; the question we ask of persona vectors.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Self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Emergent introspective awareness</a:t>
            </a:r>
          </a:p>
        </p:txBody>
      </p:sp>
      <p:sp>
        <p:nvSpPr>
          <p:cNvPr id="15" name="c2_0"/>
          <p:cNvSpPr txBox="1"/>
          <p:nvPr/>
        </p:nvSpPr>
        <p:spPr>
          <a:xfrm>
            <a:off x="3931920" y="247802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Macar, Yang, Wang, Wallich, Ameisen &amp; Lindsey (2026), Anthropic</a:t>
            </a:r>
          </a:p>
        </p:txBody>
      </p:sp>
      <p:sp>
        <p:nvSpPr>
          <p:cNvPr id="16" name="c3_0"/>
          <p:cNvSpPr txBox="1"/>
          <p:nvPr/>
        </p:nvSpPr>
        <p:spPr>
          <a:xfrm>
            <a:off x="7315200" y="247802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Reports that a model can detect an injected concept in its own activations. Controlled against no injection; the control we add is an injection with no content.</a:t>
            </a:r>
          </a:p>
        </p:txBody>
      </p:sp>
      <p:sp>
        <p:nvSpPr>
          <p:cNvPr id="17" name="bg1"/>
          <p:cNvSpPr/>
          <p:nvPr/>
        </p:nvSpPr>
        <p:spPr>
          <a:xfrm>
            <a:off x="502920" y="3218688"/>
            <a:ext cx="1120140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319272"/>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Telling more than we can know</a:t>
            </a:r>
          </a:p>
        </p:txBody>
      </p:sp>
      <p:sp>
        <p:nvSpPr>
          <p:cNvPr id="19" name="c2_1"/>
          <p:cNvSpPr txBox="1"/>
          <p:nvPr/>
        </p:nvSpPr>
        <p:spPr>
          <a:xfrm>
            <a:off x="3931920" y="3319272"/>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Nisbett &amp; Wilson (1977), Psychological Review 84(3)</a:t>
            </a:r>
          </a:p>
        </p:txBody>
      </p:sp>
      <p:sp>
        <p:nvSpPr>
          <p:cNvPr id="20" name="c3_1"/>
          <p:cNvSpPr txBox="1"/>
          <p:nvPr/>
        </p:nvSpPr>
        <p:spPr>
          <a:xfrm>
            <a:off x="7315200" y="3319272"/>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People confabulate reasons for their own behaviour. The direct parallel for model self-reports, and never measurable against a planted cause.</a:t>
            </a:r>
          </a:p>
        </p:txBody>
      </p:sp>
      <p:sp>
        <p:nvSpPr>
          <p:cNvPr id="21" name="bg2"/>
          <p:cNvSpPr/>
          <p:nvPr/>
        </p:nvSpPr>
        <p:spPr>
          <a:xfrm>
            <a:off x="502920" y="4059936"/>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160520"/>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Consciousness in artificial intelligence</a:t>
            </a:r>
          </a:p>
        </p:txBody>
      </p:sp>
      <p:sp>
        <p:nvSpPr>
          <p:cNvPr id="23" name="c2_2"/>
          <p:cNvSpPr txBox="1"/>
          <p:nvPr/>
        </p:nvSpPr>
        <p:spPr>
          <a:xfrm>
            <a:off x="3931920" y="4160520"/>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Butlin et al. (2023), arXiv:2308.08708</a:t>
            </a:r>
          </a:p>
        </p:txBody>
      </p:sp>
      <p:sp>
        <p:nvSpPr>
          <p:cNvPr id="24" name="c3_2"/>
          <p:cNvSpPr txBox="1"/>
          <p:nvPr/>
        </p:nvSpPr>
        <p:spPr>
          <a:xfrm>
            <a:off x="7315200" y="4160520"/>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Fourteen indicator properties; introspective accuracy is the only one where the internal state can be constructed and the report scored.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Neuroscience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Spike-triggered average and covariance</a:t>
            </a:r>
          </a:p>
        </p:txBody>
      </p:sp>
      <p:sp>
        <p:nvSpPr>
          <p:cNvPr id="15" name="c2_0"/>
          <p:cNvSpPr txBox="1"/>
          <p:nvPr/>
        </p:nvSpPr>
        <p:spPr>
          <a:xfrm>
            <a:off x="3931920" y="2478024"/>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Schwartz, Pillow, Rust &amp; Simoncelli (2006), J Vision 6(4)</a:t>
            </a:r>
          </a:p>
        </p:txBody>
      </p:sp>
      <p:sp>
        <p:nvSpPr>
          <p:cNvPr id="16" name="c3_0"/>
          <p:cNvSpPr txBox="1"/>
          <p:nvPr/>
        </p:nvSpPr>
        <p:spPr>
          <a:xfrm>
            <a:off x="7315200" y="2478024"/>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The classical closed-form estimators. We run them as baselines to show which assumptions fail on a residual stream.</a:t>
            </a:r>
          </a:p>
        </p:txBody>
      </p:sp>
      <p:sp>
        <p:nvSpPr>
          <p:cNvPr id="17" name="bg1"/>
          <p:cNvSpPr/>
          <p:nvPr/>
        </p:nvSpPr>
        <p:spPr>
          <a:xfrm>
            <a:off x="502920" y="3090672"/>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191256"/>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Bussgang’s theorem and linear recovery</a:t>
            </a:r>
          </a:p>
        </p:txBody>
      </p:sp>
      <p:sp>
        <p:nvSpPr>
          <p:cNvPr id="19" name="c2_1"/>
          <p:cNvSpPr txBox="1"/>
          <p:nvPr/>
        </p:nvSpPr>
        <p:spPr>
          <a:xfrm>
            <a:off x="3931920" y="3191256"/>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Bussgang (1952), MIT RLE Technical Report 216</a:t>
            </a:r>
          </a:p>
        </p:txBody>
      </p:sp>
      <p:sp>
        <p:nvSpPr>
          <p:cNvPr id="20" name="c3_1"/>
          <p:cNvSpPr txBox="1"/>
          <p:nvPr/>
        </p:nvSpPr>
        <p:spPr>
          <a:xfrm>
            <a:off x="7315200" y="3191256"/>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Guarantees that ridge regression recovers a direction under Gaussian stimuli — an assumption the residual stream violates.</a:t>
            </a:r>
          </a:p>
        </p:txBody>
      </p:sp>
      <p:sp>
        <p:nvSpPr>
          <p:cNvPr id="21" name="bg2"/>
          <p:cNvSpPr/>
          <p:nvPr/>
        </p:nvSpPr>
        <p:spPr>
          <a:xfrm>
            <a:off x="502920" y="3803904"/>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3904488"/>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Calibration before trust</a:t>
            </a:r>
          </a:p>
        </p:txBody>
      </p:sp>
      <p:sp>
        <p:nvSpPr>
          <p:cNvPr id="23" name="c2_2"/>
          <p:cNvSpPr txBox="1"/>
          <p:nvPr/>
        </p:nvSpPr>
        <p:spPr>
          <a:xfrm>
            <a:off x="3931920" y="3904488"/>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Systems-neuroscience practice, 1939–present</a:t>
            </a:r>
          </a:p>
        </p:txBody>
      </p:sp>
      <p:sp>
        <p:nvSpPr>
          <p:cNvPr id="24" name="c3_2"/>
          <p:cNvSpPr txBox="1"/>
          <p:nvPr/>
        </p:nvSpPr>
        <p:spPr>
          <a:xfrm>
            <a:off x="7315200" y="3904488"/>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Null models, required sample size, and instrument validation on a preparation. The package we transfer wholesale.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Where we differ from prior work</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g0"/>
          <p:cNvSpPr/>
          <p:nvPr/>
        </p:nvSpPr>
        <p:spPr>
          <a:xfrm>
            <a:off x="548640" y="1901952"/>
            <a:ext cx="11109960" cy="8412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0"/>
          <p:cNvSpPr/>
          <p:nvPr/>
        </p:nvSpPr>
        <p:spPr>
          <a:xfrm>
            <a:off x="548640" y="1901952"/>
            <a:ext cx="64008"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0"/>
          <p:cNvSpPr txBox="1"/>
          <p:nvPr/>
        </p:nvSpPr>
        <p:spPr>
          <a:xfrm>
            <a:off x="777240" y="1993392"/>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Tuning curves on vision models</a:t>
            </a:r>
          </a:p>
        </p:txBody>
      </p:sp>
      <p:sp>
        <p:nvSpPr>
          <p:cNvPr id="12" name="w0"/>
          <p:cNvSpPr txBox="1"/>
          <p:nvPr/>
        </p:nvSpPr>
        <p:spPr>
          <a:xfrm>
            <a:off x="4160520" y="1993392"/>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Distill Circuits (2020–21)</a:t>
            </a:r>
          </a:p>
        </p:txBody>
      </p:sp>
      <p:sp>
        <p:nvSpPr>
          <p:cNvPr id="13" name="h0"/>
          <p:cNvSpPr txBox="1"/>
          <p:nvPr/>
        </p:nvSpPr>
        <p:spPr>
          <a:xfrm>
            <a:off x="6309360" y="19751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They characterise units in vision networks. We work on language models and, unlike them, score every reading against a known direction.</a:t>
            </a:r>
          </a:p>
        </p:txBody>
      </p:sp>
      <p:sp>
        <p:nvSpPr>
          <p:cNvPr id="14" name="bg1"/>
          <p:cNvSpPr/>
          <p:nvPr/>
        </p:nvSpPr>
        <p:spPr>
          <a:xfrm>
            <a:off x="548640" y="2816352"/>
            <a:ext cx="11109960" cy="8412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1"/>
          <p:cNvSpPr/>
          <p:nvPr/>
        </p:nvSpPr>
        <p:spPr>
          <a:xfrm>
            <a:off x="548640" y="2816352"/>
            <a:ext cx="64008" cy="8412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1"/>
          <p:cNvSpPr txBox="1"/>
          <p:nvPr/>
        </p:nvSpPr>
        <p:spPr>
          <a:xfrm>
            <a:off x="777240" y="2907792"/>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Number representation tuning</a:t>
            </a:r>
          </a:p>
        </p:txBody>
      </p:sp>
      <p:sp>
        <p:nvSpPr>
          <p:cNvPr id="17" name="w1"/>
          <p:cNvSpPr txBox="1"/>
          <p:nvPr/>
        </p:nvSpPr>
        <p:spPr>
          <a:xfrm>
            <a:off x="4160520" y="2907792"/>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Cacioli (2026)</a:t>
            </a:r>
          </a:p>
        </p:txBody>
      </p:sp>
      <p:sp>
        <p:nvSpPr>
          <p:cNvPr id="18" name="h1"/>
          <p:cNvSpPr txBox="1"/>
          <p:nvPr/>
        </p:nvSpPr>
        <p:spPr>
          <a:xfrm>
            <a:off x="6309360" y="28895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Overlapping method, different target. Their question is what a unit encodes; ours is whether the instrument that answers that question is correct.</a:t>
            </a:r>
          </a:p>
        </p:txBody>
      </p:sp>
      <p:sp>
        <p:nvSpPr>
          <p:cNvPr id="19" name="bg2"/>
          <p:cNvSpPr/>
          <p:nvPr/>
        </p:nvSpPr>
        <p:spPr>
          <a:xfrm>
            <a:off x="548640" y="3730752"/>
            <a:ext cx="11109960" cy="8412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2"/>
          <p:cNvSpPr/>
          <p:nvPr/>
        </p:nvSpPr>
        <p:spPr>
          <a:xfrm>
            <a:off x="548640" y="3730752"/>
            <a:ext cx="64008" cy="8412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2"/>
          <p:cNvSpPr txBox="1"/>
          <p:nvPr/>
        </p:nvSpPr>
        <p:spPr>
          <a:xfrm>
            <a:off x="777240" y="3822191"/>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Introspection with a no-injection control</a:t>
            </a:r>
          </a:p>
        </p:txBody>
      </p:sp>
      <p:sp>
        <p:nvSpPr>
          <p:cNvPr id="22" name="w2"/>
          <p:cNvSpPr txBox="1"/>
          <p:nvPr/>
        </p:nvSpPr>
        <p:spPr>
          <a:xfrm>
            <a:off x="4160520" y="3822191"/>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Macar et al. (2026)</a:t>
            </a:r>
          </a:p>
        </p:txBody>
      </p:sp>
      <p:sp>
        <p:nvSpPr>
          <p:cNvPr id="23" name="h2"/>
          <p:cNvSpPr txBox="1"/>
          <p:nvPr/>
        </p:nvSpPr>
        <p:spPr>
          <a:xfrm>
            <a:off x="6309360" y="38039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Same model, same layer, same prompt. They control against no injection; we control against an injection carrying no content.</a:t>
            </a:r>
          </a:p>
        </p:txBody>
      </p:sp>
      <p:sp>
        <p:nvSpPr>
          <p:cNvPr id="24" name="nhd"/>
          <p:cNvSpPr txBox="1"/>
          <p:nvPr/>
        </p:nvSpPr>
        <p:spPr>
          <a:xfrm>
            <a:off x="777240" y="4791456"/>
            <a:ext cx="10515600" cy="292608"/>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What is new, precisely:</a:t>
            </a:r>
          </a:p>
        </p:txBody>
      </p:sp>
      <p:sp>
        <p:nvSpPr>
          <p:cNvPr id="25" name="nd0"/>
          <p:cNvSpPr txBox="1"/>
          <p:nvPr/>
        </p:nvSpPr>
        <p:spPr>
          <a:xfrm>
            <a:off x="868680" y="5148072"/>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26" name="nb0"/>
          <p:cNvSpPr txBox="1"/>
          <p:nvPr/>
        </p:nvSpPr>
        <p:spPr>
          <a:xfrm>
            <a:off x="1143000" y="5138928"/>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Free ground truth at the unit level — an MLP neuron’s true direction is its own weight column, so a real model can serve as its own preparation.</a:t>
            </a:r>
          </a:p>
        </p:txBody>
      </p:sp>
      <p:sp>
        <p:nvSpPr>
          <p:cNvPr id="27" name="nd1"/>
          <p:cNvSpPr txBox="1"/>
          <p:nvPr/>
        </p:nvSpPr>
        <p:spPr>
          <a:xfrm>
            <a:off x="868680" y="5440680"/>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28" name="nb1"/>
          <p:cNvSpPr txBox="1"/>
          <p:nvPr/>
        </p:nvSpPr>
        <p:spPr>
          <a:xfrm>
            <a:off x="1143000" y="5431536"/>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The content-free control at the self level — controlling against an injection with no content, rather than against no injection.</a:t>
            </a:r>
          </a:p>
        </p:txBody>
      </p:sp>
      <p:sp>
        <p:nvSpPr>
          <p:cNvPr id="29" name="nd2"/>
          <p:cNvSpPr txBox="1"/>
          <p:nvPr/>
        </p:nvSpPr>
        <p:spPr>
          <a:xfrm>
            <a:off x="868680" y="5733288"/>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30" name="nb2"/>
          <p:cNvSpPr txBox="1"/>
          <p:nvPr/>
        </p:nvSpPr>
        <p:spPr>
          <a:xfrm>
            <a:off x="1143000" y="5724144"/>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The transfer of the calibration discipline — null, required sample size, pre-registered interval and disagreement flag as one package.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What we do not claim</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x0"/>
          <p:cNvSpPr txBox="1"/>
          <p:nvPr/>
        </p:nvSpPr>
        <p:spPr>
          <a:xfrm>
            <a:off x="731520" y="2011680"/>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0" name="t0"/>
          <p:cNvSpPr txBox="1"/>
          <p:nvPr/>
        </p:nvSpPr>
        <p:spPr>
          <a:xfrm>
            <a:off x="1188720" y="1993392"/>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say the neuroscience methods “don’t work.”</a:t>
            </a:r>
          </a:p>
        </p:txBody>
      </p:sp>
      <p:sp>
        <p:nvSpPr>
          <p:cNvPr id="11" name="b0"/>
          <p:cNvSpPr txBox="1"/>
          <p:nvPr/>
        </p:nvSpPr>
        <p:spPr>
          <a:xfrm>
            <a:off x="1188720" y="2304288"/>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They do not transfer here, and we name the two assumptions that break.</a:t>
            </a:r>
          </a:p>
        </p:txBody>
      </p:sp>
      <p:sp>
        <p:nvSpPr>
          <p:cNvPr id="12" name="x1"/>
          <p:cNvSpPr txBox="1"/>
          <p:nvPr/>
        </p:nvSpPr>
        <p:spPr>
          <a:xfrm>
            <a:off x="731520" y="2889504"/>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3" name="t1"/>
          <p:cNvSpPr txBox="1"/>
          <p:nvPr/>
        </p:nvSpPr>
        <p:spPr>
          <a:xfrm>
            <a:off x="1188720" y="2871216"/>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say persona vectors are wrong.</a:t>
            </a:r>
          </a:p>
        </p:txBody>
      </p:sp>
      <p:sp>
        <p:nvSpPr>
          <p:cNvPr id="14" name="b1"/>
          <p:cNvSpPr txBox="1"/>
          <p:nvPr/>
        </p:nvSpPr>
        <p:spPr>
          <a:xfrm>
            <a:off x="1188720" y="3182112"/>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We have not tested them yet. Same family of method, never checked.</a:t>
            </a:r>
          </a:p>
        </p:txBody>
      </p:sp>
      <p:sp>
        <p:nvSpPr>
          <p:cNvPr id="15" name="x2"/>
          <p:cNvSpPr txBox="1"/>
          <p:nvPr/>
        </p:nvSpPr>
        <p:spPr>
          <a:xfrm>
            <a:off x="731520" y="3767327"/>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6" name="t2"/>
          <p:cNvSpPr txBox="1"/>
          <p:nvPr/>
        </p:nvSpPr>
        <p:spPr>
          <a:xfrm>
            <a:off x="1188720" y="3749039"/>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claim the validity framing is new.</a:t>
            </a:r>
          </a:p>
        </p:txBody>
      </p:sp>
      <p:sp>
        <p:nvSpPr>
          <p:cNvPr id="17" name="b2"/>
          <p:cNvSpPr txBox="1"/>
          <p:nvPr/>
        </p:nvSpPr>
        <p:spPr>
          <a:xfrm>
            <a:off x="1188720" y="4059935"/>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About twelve 2026 papers already use it. The preparation is what we add.</a:t>
            </a:r>
          </a:p>
        </p:txBody>
      </p:sp>
      <p:sp>
        <p:nvSpPr>
          <p:cNvPr id="18" name="x3"/>
          <p:cNvSpPr txBox="1"/>
          <p:nvPr/>
        </p:nvSpPr>
        <p:spPr>
          <a:xfrm>
            <a:off x="731520" y="4645151"/>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9" name="t3"/>
          <p:cNvSpPr txBox="1"/>
          <p:nvPr/>
        </p:nvSpPr>
        <p:spPr>
          <a:xfrm>
            <a:off x="1188720" y="4626864"/>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claim a model can or cannot introspect.</a:t>
            </a:r>
          </a:p>
        </p:txBody>
      </p:sp>
      <p:sp>
        <p:nvSpPr>
          <p:cNvPr id="20" name="b3"/>
          <p:cNvSpPr txBox="1"/>
          <p:nvPr/>
        </p:nvSpPr>
        <p:spPr>
          <a:xfrm>
            <a:off x="1188720" y="4937759"/>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We claim the published protocol cannot distinguish introspection from noticing a disturbance.</a:t>
            </a:r>
          </a:p>
        </p:txBody>
      </p:sp>
      <p:sp>
        <p:nvSpPr>
          <p:cNvPr id="21" name="Rectangle 20"/>
          <p:cNvSpPr/>
          <p:nvPr/>
        </p:nvSpPr>
        <p:spPr>
          <a:xfrm>
            <a:off x="731520" y="5632703"/>
            <a:ext cx="10698480" cy="731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il"/>
          <p:cNvSpPr txBox="1"/>
          <p:nvPr/>
        </p:nvSpPr>
        <p:spPr>
          <a:xfrm>
            <a:off x="731520" y="5815583"/>
            <a:ext cx="10698480" cy="640080"/>
          </a:xfrm>
          <a:prstGeom prst="rect">
            <a:avLst/>
          </a:prstGeom>
          <a:noFill/>
        </p:spPr>
        <p:txBody>
          <a:bodyPr wrap="square" lIns="0" rIns="0" tIns="0" bIns="0" anchor="t">
            <a:spAutoFit/>
          </a:bodyPr>
          <a:lstStyle/>
          <a:p>
            <a:pPr algn="l">
              <a:lnSpc>
                <a:spcPct val="120000"/>
              </a:lnSpc>
            </a:pPr>
            <a:r>
              <a:rPr sz="1400" b="0" i="0">
                <a:solidFill>
                  <a:srgbClr val="BD582B"/>
                </a:solidFill>
                <a:latin typeface="Calibri"/>
              </a:rPr>
              <a:t>Tuning curves have been done on vision models. The neuroscience estimators are decades old. Persona vectors and concept injection are published methods. We are testing them, not inventing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Project Timeline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pic>
        <p:nvPicPr>
          <p:cNvPr id="9" name="fig" descr="f7_gantt.png"/>
          <p:cNvPicPr>
            <a:picLocks noChangeAspect="1"/>
          </p:cNvPicPr>
          <p:nvPr/>
        </p:nvPicPr>
        <p:blipFill>
          <a:blip r:embed="rId3"/>
          <a:stretch>
            <a:fillRect/>
          </a:stretch>
        </p:blipFill>
        <p:spPr>
          <a:xfrm>
            <a:off x="685800" y="1883664"/>
            <a:ext cx="10835640" cy="3556847"/>
          </a:xfrm>
          <a:prstGeom prst="rect">
            <a:avLst/>
          </a:prstGeom>
        </p:spPr>
      </p:pic>
      <p:sp>
        <p:nvSpPr>
          <p:cNvPr id="10" name="hd"/>
          <p:cNvSpPr txBox="1"/>
          <p:nvPr/>
        </p:nvSpPr>
        <p:spPr>
          <a:xfrm>
            <a:off x="685800" y="4983480"/>
            <a:ext cx="10789920" cy="274320"/>
          </a:xfrm>
          <a:prstGeom prst="rect">
            <a:avLst/>
          </a:prstGeom>
          <a:noFill/>
        </p:spPr>
        <p:txBody>
          <a:bodyPr wrap="square" lIns="0" rIns="0" tIns="0" bIns="0" anchor="t">
            <a:spAutoFit/>
          </a:bodyPr>
          <a:lstStyle/>
          <a:p>
            <a:pPr algn="l">
              <a:lnSpc>
                <a:spcPct val="100000"/>
              </a:lnSpc>
            </a:pPr>
            <a:r>
              <a:rPr sz="1450" b="1" i="0">
                <a:solidFill>
                  <a:srgbClr val="BD582B"/>
                </a:solidFill>
                <a:latin typeface="Calibri"/>
              </a:rPr>
              <a:t>Semester 5 · four reviews</a:t>
            </a:r>
          </a:p>
        </p:txBody>
      </p:sp>
      <p:sp>
        <p:nvSpPr>
          <p:cNvPr id="11" name="rb0"/>
          <p:cNvSpPr/>
          <p:nvPr/>
        </p:nvSpPr>
        <p:spPr>
          <a:xfrm>
            <a:off x="685800" y="5367528"/>
            <a:ext cx="2606040" cy="786384"/>
          </a:xfrm>
          <a:prstGeom prst="rect">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s0"/>
          <p:cNvSpPr/>
          <p:nvPr/>
        </p:nvSpPr>
        <p:spPr>
          <a:xfrm>
            <a:off x="685800" y="5367528"/>
            <a:ext cx="2606040" cy="50292"/>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t0"/>
          <p:cNvSpPr txBox="1"/>
          <p:nvPr/>
        </p:nvSpPr>
        <p:spPr>
          <a:xfrm>
            <a:off x="850392" y="5495544"/>
            <a:ext cx="2286000" cy="237744"/>
          </a:xfrm>
          <a:prstGeom prst="rect">
            <a:avLst/>
          </a:prstGeom>
          <a:noFill/>
        </p:spPr>
        <p:txBody>
          <a:bodyPr wrap="square" lIns="0" rIns="0" tIns="0" bIns="0" anchor="t">
            <a:spAutoFit/>
          </a:bodyPr>
          <a:lstStyle/>
          <a:p>
            <a:pPr algn="l">
              <a:lnSpc>
                <a:spcPct val="100000"/>
              </a:lnSpc>
            </a:pPr>
            <a:r>
              <a:rPr sz="1300" b="1" i="0">
                <a:solidFill>
                  <a:srgbClr val="BD582B"/>
                </a:solidFill>
                <a:latin typeface="Calibri"/>
              </a:rPr>
              <a:t>Review 1</a:t>
            </a:r>
          </a:p>
        </p:txBody>
      </p:sp>
      <p:sp>
        <p:nvSpPr>
          <p:cNvPr id="14" name="rw0"/>
          <p:cNvSpPr txBox="1"/>
          <p:nvPr/>
        </p:nvSpPr>
        <p:spPr>
          <a:xfrm>
            <a:off x="850392"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Early Sep</a:t>
            </a:r>
          </a:p>
        </p:txBody>
      </p:sp>
      <p:sp>
        <p:nvSpPr>
          <p:cNvPr id="15" name="rd0"/>
          <p:cNvSpPr txBox="1"/>
          <p:nvPr/>
        </p:nvSpPr>
        <p:spPr>
          <a:xfrm>
            <a:off x="850392"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Problem, team, literature survey</a:t>
            </a:r>
          </a:p>
        </p:txBody>
      </p:sp>
      <p:sp>
        <p:nvSpPr>
          <p:cNvPr id="16" name="rb1"/>
          <p:cNvSpPr/>
          <p:nvPr/>
        </p:nvSpPr>
        <p:spPr>
          <a:xfrm>
            <a:off x="3447288"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s1"/>
          <p:cNvSpPr/>
          <p:nvPr/>
        </p:nvSpPr>
        <p:spPr>
          <a:xfrm>
            <a:off x="3447288"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t1"/>
          <p:cNvSpPr txBox="1"/>
          <p:nvPr/>
        </p:nvSpPr>
        <p:spPr>
          <a:xfrm>
            <a:off x="3611880"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2</a:t>
            </a:r>
          </a:p>
        </p:txBody>
      </p:sp>
      <p:sp>
        <p:nvSpPr>
          <p:cNvPr id="19" name="rw1"/>
          <p:cNvSpPr txBox="1"/>
          <p:nvPr/>
        </p:nvSpPr>
        <p:spPr>
          <a:xfrm>
            <a:off x="3611880"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Late Sep</a:t>
            </a:r>
          </a:p>
        </p:txBody>
      </p:sp>
      <p:sp>
        <p:nvSpPr>
          <p:cNvPr id="20" name="rd1"/>
          <p:cNvSpPr txBox="1"/>
          <p:nvPr/>
        </p:nvSpPr>
        <p:spPr>
          <a:xfrm>
            <a:off x="3611880"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Requirements and system design</a:t>
            </a:r>
          </a:p>
        </p:txBody>
      </p:sp>
      <p:sp>
        <p:nvSpPr>
          <p:cNvPr id="21" name="rb2"/>
          <p:cNvSpPr/>
          <p:nvPr/>
        </p:nvSpPr>
        <p:spPr>
          <a:xfrm>
            <a:off x="6208776"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s2"/>
          <p:cNvSpPr/>
          <p:nvPr/>
        </p:nvSpPr>
        <p:spPr>
          <a:xfrm>
            <a:off x="6208776"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t2"/>
          <p:cNvSpPr txBox="1"/>
          <p:nvPr/>
        </p:nvSpPr>
        <p:spPr>
          <a:xfrm>
            <a:off x="6373368"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3</a:t>
            </a:r>
          </a:p>
        </p:txBody>
      </p:sp>
      <p:sp>
        <p:nvSpPr>
          <p:cNvPr id="24" name="rw2"/>
          <p:cNvSpPr txBox="1"/>
          <p:nvPr/>
        </p:nvSpPr>
        <p:spPr>
          <a:xfrm>
            <a:off x="6373368"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Late Oct</a:t>
            </a:r>
          </a:p>
        </p:txBody>
      </p:sp>
      <p:sp>
        <p:nvSpPr>
          <p:cNvPr id="25" name="rd2"/>
          <p:cNvSpPr txBox="1"/>
          <p:nvPr/>
        </p:nvSpPr>
        <p:spPr>
          <a:xfrm>
            <a:off x="6373368"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Initial prototype, unit level</a:t>
            </a:r>
          </a:p>
        </p:txBody>
      </p:sp>
      <p:sp>
        <p:nvSpPr>
          <p:cNvPr id="26" name="rb3"/>
          <p:cNvSpPr/>
          <p:nvPr/>
        </p:nvSpPr>
        <p:spPr>
          <a:xfrm>
            <a:off x="8970264"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s3"/>
          <p:cNvSpPr/>
          <p:nvPr/>
        </p:nvSpPr>
        <p:spPr>
          <a:xfrm>
            <a:off x="8970264"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t3"/>
          <p:cNvSpPr txBox="1"/>
          <p:nvPr/>
        </p:nvSpPr>
        <p:spPr>
          <a:xfrm>
            <a:off x="9134856"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4</a:t>
            </a:r>
          </a:p>
        </p:txBody>
      </p:sp>
      <p:sp>
        <p:nvSpPr>
          <p:cNvPr id="29" name="rw3"/>
          <p:cNvSpPr txBox="1"/>
          <p:nvPr/>
        </p:nvSpPr>
        <p:spPr>
          <a:xfrm>
            <a:off x="9134856"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Mid Nov</a:t>
            </a:r>
          </a:p>
        </p:txBody>
      </p:sp>
      <p:sp>
        <p:nvSpPr>
          <p:cNvPr id="30" name="rd3"/>
          <p:cNvSpPr txBox="1"/>
          <p:nvPr/>
        </p:nvSpPr>
        <p:spPr>
          <a:xfrm>
            <a:off x="9134856"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Prototype on a real question; sem 6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Team Effort Plan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
          <p:cNvSpPr txBox="1"/>
          <p:nvPr/>
        </p:nvSpPr>
        <p:spPr>
          <a:xfrm>
            <a:off x="685800" y="1901952"/>
            <a:ext cx="5486400" cy="292608"/>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Four separable tracks</a:t>
            </a:r>
          </a:p>
        </p:txBody>
      </p:sp>
      <p:sp>
        <p:nvSpPr>
          <p:cNvPr id="10" name="bg0"/>
          <p:cNvSpPr/>
          <p:nvPr/>
        </p:nvSpPr>
        <p:spPr>
          <a:xfrm>
            <a:off x="685800" y="2322576"/>
            <a:ext cx="690372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0"/>
          <p:cNvSpPr/>
          <p:nvPr/>
        </p:nvSpPr>
        <p:spPr>
          <a:xfrm>
            <a:off x="685800" y="2322576"/>
            <a:ext cx="64008" cy="7863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0"/>
          <p:cNvSpPr txBox="1"/>
          <p:nvPr/>
        </p:nvSpPr>
        <p:spPr>
          <a:xfrm>
            <a:off x="914400" y="2395728"/>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Estimator and integration</a:t>
            </a:r>
          </a:p>
        </p:txBody>
      </p:sp>
      <p:sp>
        <p:nvSpPr>
          <p:cNvPr id="13" name="o0"/>
          <p:cNvSpPr txBox="1"/>
          <p:nvPr/>
        </p:nvSpPr>
        <p:spPr>
          <a:xfrm>
            <a:off x="4617720" y="2395728"/>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SANTOSH CHEETHIRALA</a:t>
            </a:r>
          </a:p>
        </p:txBody>
      </p:sp>
      <p:sp>
        <p:nvSpPr>
          <p:cNvPr id="14" name="d0"/>
          <p:cNvSpPr txBox="1"/>
          <p:nvPr/>
        </p:nvSpPr>
        <p:spPr>
          <a:xfrm>
            <a:off x="914400" y="2688336"/>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Readout implementation, the measurement pipeline, cross-level integration</a:t>
            </a:r>
          </a:p>
        </p:txBody>
      </p:sp>
      <p:sp>
        <p:nvSpPr>
          <p:cNvPr id="15" name="bg1"/>
          <p:cNvSpPr/>
          <p:nvPr/>
        </p:nvSpPr>
        <p:spPr>
          <a:xfrm>
            <a:off x="685800" y="3182112"/>
            <a:ext cx="69037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1"/>
          <p:cNvSpPr/>
          <p:nvPr/>
        </p:nvSpPr>
        <p:spPr>
          <a:xfrm>
            <a:off x="685800" y="3182112"/>
            <a:ext cx="64008" cy="786384"/>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1"/>
          <p:cNvSpPr txBox="1"/>
          <p:nvPr/>
        </p:nvSpPr>
        <p:spPr>
          <a:xfrm>
            <a:off x="914400" y="3255264"/>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Literature and framing</a:t>
            </a:r>
          </a:p>
        </p:txBody>
      </p:sp>
      <p:sp>
        <p:nvSpPr>
          <p:cNvPr id="18" name="o1"/>
          <p:cNvSpPr txBox="1"/>
          <p:nvPr/>
        </p:nvSpPr>
        <p:spPr>
          <a:xfrm>
            <a:off x="4617720" y="3255264"/>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B]</a:t>
            </a:r>
          </a:p>
        </p:txBody>
      </p:sp>
      <p:sp>
        <p:nvSpPr>
          <p:cNvPr id="19" name="d1"/>
          <p:cNvSpPr txBox="1"/>
          <p:nvPr/>
        </p:nvSpPr>
        <p:spPr>
          <a:xfrm>
            <a:off x="914400" y="3547872"/>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The paper matrix, the neuroscience method map, related-work sections</a:t>
            </a:r>
          </a:p>
        </p:txBody>
      </p:sp>
      <p:sp>
        <p:nvSpPr>
          <p:cNvPr id="20" name="bg2"/>
          <p:cNvSpPr/>
          <p:nvPr/>
        </p:nvSpPr>
        <p:spPr>
          <a:xfrm>
            <a:off x="685800" y="4041648"/>
            <a:ext cx="690372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t2"/>
          <p:cNvSpPr/>
          <p:nvPr/>
        </p:nvSpPr>
        <p:spPr>
          <a:xfrm>
            <a:off x="685800" y="4041648"/>
            <a:ext cx="64008" cy="7863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2"/>
          <p:cNvSpPr txBox="1"/>
          <p:nvPr/>
        </p:nvSpPr>
        <p:spPr>
          <a:xfrm>
            <a:off x="914400" y="4114800"/>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Second-model replication</a:t>
            </a:r>
          </a:p>
        </p:txBody>
      </p:sp>
      <p:sp>
        <p:nvSpPr>
          <p:cNvPr id="23" name="o2"/>
          <p:cNvSpPr txBox="1"/>
          <p:nvPr/>
        </p:nvSpPr>
        <p:spPr>
          <a:xfrm>
            <a:off x="4617720" y="4114800"/>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C]</a:t>
            </a:r>
          </a:p>
        </p:txBody>
      </p:sp>
      <p:sp>
        <p:nvSpPr>
          <p:cNvPr id="24" name="d2"/>
          <p:cNvSpPr txBox="1"/>
          <p:nvPr/>
        </p:nvSpPr>
        <p:spPr>
          <a:xfrm>
            <a:off x="914400" y="4407408"/>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Independent replication of every self-level result on a second open model</a:t>
            </a:r>
          </a:p>
        </p:txBody>
      </p:sp>
      <p:sp>
        <p:nvSpPr>
          <p:cNvPr id="25" name="bg3"/>
          <p:cNvSpPr/>
          <p:nvPr/>
        </p:nvSpPr>
        <p:spPr>
          <a:xfrm>
            <a:off x="685800" y="4901183"/>
            <a:ext cx="69037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3"/>
          <p:cNvSpPr/>
          <p:nvPr/>
        </p:nvSpPr>
        <p:spPr>
          <a:xfrm>
            <a:off x="685800" y="4901183"/>
            <a:ext cx="64008" cy="786384"/>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3"/>
          <p:cNvSpPr txBox="1"/>
          <p:nvPr/>
        </p:nvSpPr>
        <p:spPr>
          <a:xfrm>
            <a:off x="914400" y="4974336"/>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Calibration and benchmarking</a:t>
            </a:r>
          </a:p>
        </p:txBody>
      </p:sp>
      <p:sp>
        <p:nvSpPr>
          <p:cNvPr id="28" name="o3"/>
          <p:cNvSpPr txBox="1"/>
          <p:nvPr/>
        </p:nvSpPr>
        <p:spPr>
          <a:xfrm>
            <a:off x="4617720" y="4974336"/>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D]</a:t>
            </a:r>
          </a:p>
        </p:txBody>
      </p:sp>
      <p:sp>
        <p:nvSpPr>
          <p:cNvPr id="29" name="d3"/>
          <p:cNvSpPr txBox="1"/>
          <p:nvPr/>
        </p:nvSpPr>
        <p:spPr>
          <a:xfrm>
            <a:off x="914400" y="5266944"/>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Planted-latent networks, false-discovery rates, statistics. CPU only</a:t>
            </a:r>
          </a:p>
        </p:txBody>
      </p:sp>
      <p:sp>
        <p:nvSpPr>
          <p:cNvPr id="30" name="hd2"/>
          <p:cNvSpPr txBox="1"/>
          <p:nvPr/>
        </p:nvSpPr>
        <p:spPr>
          <a:xfrm>
            <a:off x="7955279" y="1901952"/>
            <a:ext cx="3657600" cy="292608"/>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Stage-wise tasks</a:t>
            </a:r>
          </a:p>
        </p:txBody>
      </p:sp>
      <p:sp>
        <p:nvSpPr>
          <p:cNvPr id="31" name="w0"/>
          <p:cNvSpPr txBox="1"/>
          <p:nvPr/>
        </p:nvSpPr>
        <p:spPr>
          <a:xfrm>
            <a:off x="7955279" y="2322576"/>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1–4</a:t>
            </a:r>
          </a:p>
        </p:txBody>
      </p:sp>
      <p:sp>
        <p:nvSpPr>
          <p:cNvPr id="32" name="s0"/>
          <p:cNvSpPr txBox="1"/>
          <p:nvPr/>
        </p:nvSpPr>
        <p:spPr>
          <a:xfrm>
            <a:off x="7955279" y="2578608"/>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Problem definition, proposal audit, mentor selection</a:t>
            </a:r>
          </a:p>
        </p:txBody>
      </p:sp>
      <p:sp>
        <p:nvSpPr>
          <p:cNvPr id="33" name="w1"/>
          <p:cNvSpPr txBox="1"/>
          <p:nvPr/>
        </p:nvSpPr>
        <p:spPr>
          <a:xfrm>
            <a:off x="7955279" y="3182112"/>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5–10</a:t>
            </a:r>
          </a:p>
        </p:txBody>
      </p:sp>
      <p:sp>
        <p:nvSpPr>
          <p:cNvPr id="34" name="s1"/>
          <p:cNvSpPr txBox="1"/>
          <p:nvPr/>
        </p:nvSpPr>
        <p:spPr>
          <a:xfrm>
            <a:off x="7955279" y="3438144"/>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Literature survey across four strands</a:t>
            </a:r>
          </a:p>
        </p:txBody>
      </p:sp>
      <p:sp>
        <p:nvSpPr>
          <p:cNvPr id="35" name="w2"/>
          <p:cNvSpPr txBox="1"/>
          <p:nvPr/>
        </p:nvSpPr>
        <p:spPr>
          <a:xfrm>
            <a:off x="7955279" y="4041648"/>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11–14</a:t>
            </a:r>
          </a:p>
        </p:txBody>
      </p:sp>
      <p:sp>
        <p:nvSpPr>
          <p:cNvPr id="36" name="s2"/>
          <p:cNvSpPr txBox="1"/>
          <p:nvPr/>
        </p:nvSpPr>
        <p:spPr>
          <a:xfrm>
            <a:off x="7955279" y="4297680"/>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Requirements, system design, calibration protocol</a:t>
            </a:r>
          </a:p>
        </p:txBody>
      </p:sp>
      <p:sp>
        <p:nvSpPr>
          <p:cNvPr id="37" name="w3"/>
          <p:cNvSpPr txBox="1"/>
          <p:nvPr/>
        </p:nvSpPr>
        <p:spPr>
          <a:xfrm>
            <a:off x="7955279" y="4901183"/>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15–17</a:t>
            </a:r>
          </a:p>
        </p:txBody>
      </p:sp>
      <p:sp>
        <p:nvSpPr>
          <p:cNvPr id="38" name="s3"/>
          <p:cNvSpPr txBox="1"/>
          <p:nvPr/>
        </p:nvSpPr>
        <p:spPr>
          <a:xfrm>
            <a:off x="7955279" y="5157216"/>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Initial prototype and review preparation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Any other information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The problem was selected on 18 August 2026 from a set of seven candidate proposals. The mentor chose this one for its neuroscience framing.</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1" name="bul1"/>
          <p:cNvSpPr txBox="1"/>
          <p:nvPr/>
        </p:nvSpPr>
        <p:spPr>
          <a:xfrm>
            <a:off x="1115568" y="254203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One earlier framing was audited and killed before any work was committed to it — a published theorem and two prior papers made the claim untenable. Reporting that is part of the method.</a:t>
            </a:r>
          </a:p>
        </p:txBody>
      </p:sp>
      <p:sp>
        <p:nvSpPr>
          <p:cNvPr id="12" name="dot1"/>
          <p:cNvSpPr txBox="1"/>
          <p:nvPr/>
        </p:nvSpPr>
        <p:spPr>
          <a:xfrm>
            <a:off x="822960" y="256032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3" name="bul2"/>
          <p:cNvSpPr txBox="1"/>
          <p:nvPr/>
        </p:nvSpPr>
        <p:spPr>
          <a:xfrm>
            <a:off x="1115568" y="318211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Every experiment is pre-registered: the criterion is written down and committed before the run, so a result cannot be tuned after the fact.</a:t>
            </a:r>
          </a:p>
        </p:txBody>
      </p:sp>
      <p:sp>
        <p:nvSpPr>
          <p:cNvPr id="14" name="dot2"/>
          <p:cNvSpPr txBox="1"/>
          <p:nvPr/>
        </p:nvSpPr>
        <p:spPr>
          <a:xfrm>
            <a:off x="822960" y="320040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5" name="bul3"/>
          <p:cNvSpPr txBox="1"/>
          <p:nvPr/>
        </p:nvSpPr>
        <p:spPr>
          <a:xfrm>
            <a:off x="1115568" y="3822192"/>
            <a:ext cx="10222992" cy="27432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No personal data. No proprietary data. No paid compute.</a:t>
            </a:r>
          </a:p>
        </p:txBody>
      </p:sp>
      <p:sp>
        <p:nvSpPr>
          <p:cNvPr id="16" name="dot3"/>
          <p:cNvSpPr txBox="1"/>
          <p:nvPr/>
        </p:nvSpPr>
        <p:spPr>
          <a:xfrm>
            <a:off x="822960" y="384048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References</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TextBox 8"/>
          <p:cNvSpPr txBox="1"/>
          <p:nvPr/>
        </p:nvSpPr>
        <p:spPr>
          <a:xfrm>
            <a:off x="731520" y="1892807"/>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a:t>
            </a:r>
          </a:p>
        </p:txBody>
      </p:sp>
      <p:sp>
        <p:nvSpPr>
          <p:cNvPr id="10" name="TextBox 9"/>
          <p:cNvSpPr txBox="1"/>
          <p:nvPr/>
        </p:nvSpPr>
        <p:spPr>
          <a:xfrm>
            <a:off x="1143000" y="1883664"/>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Sharpee, T., Rust, N. C., &amp; Bialek, W. (2004). Analyzing neural responses to natural signals: maximally informative dimensions. Neural Computation, 16(2), 223–250.</a:t>
            </a:r>
          </a:p>
        </p:txBody>
      </p:sp>
      <p:sp>
        <p:nvSpPr>
          <p:cNvPr id="11" name="TextBox 10"/>
          <p:cNvSpPr txBox="1"/>
          <p:nvPr/>
        </p:nvSpPr>
        <p:spPr>
          <a:xfrm>
            <a:off x="731520" y="2363724"/>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[2]</a:t>
            </a:r>
          </a:p>
        </p:txBody>
      </p:sp>
      <p:sp>
        <p:nvSpPr>
          <p:cNvPr id="12" name="TextBox 11"/>
          <p:cNvSpPr txBox="1"/>
          <p:nvPr/>
        </p:nvSpPr>
        <p:spPr>
          <a:xfrm>
            <a:off x="1143000" y="2354580"/>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Williamson, R. S., Sahani, M., &amp; Pillow, J. W. (2015). The equivalence of information-theoretic and likelihood-based methods for neural dimensionality reduction. PLoS Computational Biology, 11(4), e1004141.</a:t>
            </a:r>
          </a:p>
        </p:txBody>
      </p:sp>
      <p:sp>
        <p:nvSpPr>
          <p:cNvPr id="13" name="TextBox 12"/>
          <p:cNvSpPr txBox="1"/>
          <p:nvPr/>
        </p:nvSpPr>
        <p:spPr>
          <a:xfrm>
            <a:off x="731520" y="2834640"/>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[3]</a:t>
            </a:r>
          </a:p>
        </p:txBody>
      </p:sp>
      <p:sp>
        <p:nvSpPr>
          <p:cNvPr id="14" name="TextBox 13"/>
          <p:cNvSpPr txBox="1"/>
          <p:nvPr/>
        </p:nvSpPr>
        <p:spPr>
          <a:xfrm>
            <a:off x="1143000" y="2825496"/>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Olah, C., Cammarata, N., Schubert, L., Goh, G., Petrov, M., &amp; Carter, S. (2020). Zoom In: An Introduction to Circuits. Distill, 5(3).</a:t>
            </a:r>
          </a:p>
        </p:txBody>
      </p:sp>
      <p:sp>
        <p:nvSpPr>
          <p:cNvPr id="15" name="TextBox 14"/>
          <p:cNvSpPr txBox="1"/>
          <p:nvPr/>
        </p:nvSpPr>
        <p:spPr>
          <a:xfrm>
            <a:off x="731520" y="3305556"/>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[4]</a:t>
            </a:r>
          </a:p>
        </p:txBody>
      </p:sp>
      <p:sp>
        <p:nvSpPr>
          <p:cNvPr id="16" name="TextBox 15"/>
          <p:cNvSpPr txBox="1"/>
          <p:nvPr/>
        </p:nvSpPr>
        <p:spPr>
          <a:xfrm>
            <a:off x="1143000" y="3296412"/>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Willmore, B., &amp; Tolhurst, D. J. (2001). Characterizing the sparseness of neural codes. Network: Computation in Neural Systems, 12(3), 255–270.</a:t>
            </a:r>
          </a:p>
        </p:txBody>
      </p:sp>
      <p:sp>
        <p:nvSpPr>
          <p:cNvPr id="17" name="TextBox 16"/>
          <p:cNvSpPr txBox="1"/>
          <p:nvPr/>
        </p:nvSpPr>
        <p:spPr>
          <a:xfrm>
            <a:off x="731520" y="3776472"/>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[5]</a:t>
            </a:r>
          </a:p>
        </p:txBody>
      </p:sp>
      <p:sp>
        <p:nvSpPr>
          <p:cNvPr id="18" name="TextBox 17"/>
          <p:cNvSpPr txBox="1"/>
          <p:nvPr/>
        </p:nvSpPr>
        <p:spPr>
          <a:xfrm>
            <a:off x="1143000" y="3767328"/>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Chen, R., et al. (2025). Persona vectors: monitoring and controlling character traits in language models. arXiv preprint arXiv:2507.21509.</a:t>
            </a:r>
          </a:p>
        </p:txBody>
      </p:sp>
      <p:sp>
        <p:nvSpPr>
          <p:cNvPr id="19" name="TextBox 18"/>
          <p:cNvSpPr txBox="1"/>
          <p:nvPr/>
        </p:nvSpPr>
        <p:spPr>
          <a:xfrm>
            <a:off x="731520" y="4247388"/>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[6]</a:t>
            </a:r>
          </a:p>
        </p:txBody>
      </p:sp>
      <p:sp>
        <p:nvSpPr>
          <p:cNvPr id="20" name="TextBox 19"/>
          <p:cNvSpPr txBox="1"/>
          <p:nvPr/>
        </p:nvSpPr>
        <p:spPr>
          <a:xfrm>
            <a:off x="1143000" y="4238244"/>
            <a:ext cx="10332720" cy="20116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Turner, A. M., et al. (2023). Steering language models with activation engineering. arXiv preprint arXiv:2308.10248.</a:t>
            </a:r>
          </a:p>
        </p:txBody>
      </p:sp>
      <p:sp>
        <p:nvSpPr>
          <p:cNvPr id="21" name="TextBox 20"/>
          <p:cNvSpPr txBox="1"/>
          <p:nvPr/>
        </p:nvSpPr>
        <p:spPr>
          <a:xfrm>
            <a:off x="731520" y="4517136"/>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[7]</a:t>
            </a:r>
          </a:p>
        </p:txBody>
      </p:sp>
      <p:sp>
        <p:nvSpPr>
          <p:cNvPr id="22" name="TextBox 21"/>
          <p:cNvSpPr txBox="1"/>
          <p:nvPr/>
        </p:nvSpPr>
        <p:spPr>
          <a:xfrm>
            <a:off x="1143000" y="4507992"/>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Campbell, D. T., &amp; Fiske, D. W. (1959). Convergent and discriminant validation by the multitrait–multimethod matrix. Psychological Bulletin, 56(2), 81–105.</a:t>
            </a:r>
          </a:p>
        </p:txBody>
      </p:sp>
      <p:sp>
        <p:nvSpPr>
          <p:cNvPr id="23" name="TextBox 22"/>
          <p:cNvSpPr txBox="1"/>
          <p:nvPr/>
        </p:nvSpPr>
        <p:spPr>
          <a:xfrm>
            <a:off x="731520" y="4988051"/>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[8]</a:t>
            </a:r>
          </a:p>
        </p:txBody>
      </p:sp>
      <p:sp>
        <p:nvSpPr>
          <p:cNvPr id="24" name="TextBox 23"/>
          <p:cNvSpPr txBox="1"/>
          <p:nvPr/>
        </p:nvSpPr>
        <p:spPr>
          <a:xfrm>
            <a:off x="1143000" y="4978907"/>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Cronbach, L. J., &amp; Meehl, P. E. (1955). Construct validity in psychological tests. Psychological Bulletin, 52(4), 281–302.</a:t>
            </a:r>
          </a:p>
        </p:txBody>
      </p:sp>
      <p:sp>
        <p:nvSpPr>
          <p:cNvPr id="25" name="TextBox 24"/>
          <p:cNvSpPr txBox="1"/>
          <p:nvPr/>
        </p:nvSpPr>
        <p:spPr>
          <a:xfrm>
            <a:off x="731520" y="5458967"/>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[9]</a:t>
            </a:r>
          </a:p>
        </p:txBody>
      </p:sp>
      <p:sp>
        <p:nvSpPr>
          <p:cNvPr id="26" name="TextBox 25"/>
          <p:cNvSpPr txBox="1"/>
          <p:nvPr/>
        </p:nvSpPr>
        <p:spPr>
          <a:xfrm>
            <a:off x="1143000" y="5449823"/>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Nisbett, R. E., &amp; Wilson, T. D. (1977). Telling more than we can know: verbal reports on mental processes. Psychological Review, 84(3), 231–259.</a:t>
            </a:r>
          </a:p>
        </p:txBody>
      </p:sp>
      <p:sp>
        <p:nvSpPr>
          <p:cNvPr id="27" name="TextBox 26"/>
          <p:cNvSpPr txBox="1"/>
          <p:nvPr/>
        </p:nvSpPr>
        <p:spPr>
          <a:xfrm>
            <a:off x="731520" y="5929883"/>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[10]</a:t>
            </a:r>
          </a:p>
        </p:txBody>
      </p:sp>
      <p:sp>
        <p:nvSpPr>
          <p:cNvPr id="28" name="TextBox 27"/>
          <p:cNvSpPr txBox="1"/>
          <p:nvPr/>
        </p:nvSpPr>
        <p:spPr>
          <a:xfrm>
            <a:off x="1143000" y="5920739"/>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Butlin, P., et al. (2023). Consciousness in artificial intelligence: insights from the science of consciousness. arXiv:2308.08708.</a:t>
            </a:r>
          </a:p>
        </p:txBody>
      </p:sp>
      <p:sp>
        <p:nvSpPr>
          <p:cNvPr id="29" name="TextBox 28"/>
          <p:cNvSpPr txBox="1"/>
          <p:nvPr/>
        </p:nvSpPr>
        <p:spPr>
          <a:xfrm>
            <a:off x="731520" y="6400799"/>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[11]</a:t>
            </a:r>
          </a:p>
        </p:txBody>
      </p:sp>
      <p:sp>
        <p:nvSpPr>
          <p:cNvPr id="30" name="TextBox 29"/>
          <p:cNvSpPr txBox="1"/>
          <p:nvPr/>
        </p:nvSpPr>
        <p:spPr>
          <a:xfrm>
            <a:off x="1143000" y="6391655"/>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Schwartz, O., Pillow, J. W., Rust, N. C., &amp; Simoncelli, E. P. (2006). Spike-triggered neural characterization. Journal of Vision, 6(4), 484–507.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ectangle 2"/>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y"/>
          <p:cNvSpPr txBox="1"/>
          <p:nvPr/>
        </p:nvSpPr>
        <p:spPr>
          <a:xfrm>
            <a:off x="0" y="2880360"/>
            <a:ext cx="12191695" cy="822960"/>
          </a:xfrm>
          <a:prstGeom prst="rect">
            <a:avLst/>
          </a:prstGeom>
          <a:noFill/>
        </p:spPr>
        <p:txBody>
          <a:bodyPr wrap="square" lIns="0" rIns="0" tIns="0" bIns="0" anchor="t">
            <a:spAutoFit/>
          </a:bodyPr>
          <a:lstStyle/>
          <a:p>
            <a:pPr algn="ctr">
              <a:lnSpc>
                <a:spcPct val="100000"/>
              </a:lnSpc>
            </a:pPr>
            <a:r>
              <a:rPr sz="4400" b="0" i="0">
                <a:solidFill>
                  <a:srgbClr val="1A1A1A"/>
                </a:solidFill>
                <a:latin typeface="Calibri"/>
              </a:rPr>
              <a:t>Thank You</a:t>
            </a:r>
          </a:p>
        </p:txBody>
      </p:sp>
      <p:sp>
        <p:nvSpPr>
          <p:cNvPr id="5" name="q"/>
          <p:cNvSpPr txBox="1"/>
          <p:nvPr/>
        </p:nvSpPr>
        <p:spPr>
          <a:xfrm>
            <a:off x="0" y="3886200"/>
            <a:ext cx="12191695" cy="457200"/>
          </a:xfrm>
          <a:prstGeom prst="rect">
            <a:avLst/>
          </a:prstGeom>
          <a:noFill/>
        </p:spPr>
        <p:txBody>
          <a:bodyPr wrap="square" lIns="0" rIns="0" tIns="0" bIns="0" anchor="t">
            <a:spAutoFit/>
          </a:bodyPr>
          <a:lstStyle/>
          <a:p>
            <a:pPr algn="ctr">
              <a:lnSpc>
                <a:spcPct val="100000"/>
              </a:lnSpc>
            </a:pPr>
            <a:r>
              <a:rPr sz="1700" b="0" i="1">
                <a:solidFill>
                  <a:srgbClr val="BD582B"/>
                </a:solidFill>
                <a:latin typeface="Calibri"/>
              </a:rPr>
              <a:t>Does the mind-reading kit work? Building preparations for language models.</a:t>
            </a:r>
          </a:p>
        </p:txBody>
      </p:sp>
      <p:sp>
        <p:nvSpPr>
          <p:cNvPr id="6" name="Rectangle 5"/>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